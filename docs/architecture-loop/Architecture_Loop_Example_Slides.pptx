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worked example about the loop itself. The objective is a defensible decision, not a promise that more agent steps automatically improve quality. I recommend a bounded pilot before broader adoption.</a:t>
            </a:r>
          </a:p>
          <a:p/>
          <a:p>
            <a:r>
              <a:t>Paper section: recommendation</a:t>
            </a:r>
          </a:p>
          <a:p>
            <a:r>
              <a:t>Sources:</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changed vendor capability claim after a deck has been drafted. This is a design scenario, not an observed incident rate. If the old claim survives on a slide, attractive presentation cannot repair the decision.</a:t>
            </a:r>
          </a:p>
          <a:p/>
          <a:p>
            <a:r>
              <a:t>Paper section: recommendation</a:t>
            </a:r>
          </a:p>
          <a:p>
            <a:r>
              <a:t>Sources:</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invariant is a condition that should hold throughout the work. For this loop, no invented evidence, honest uncertainty, valid diagram nesting and consistent outputs determine the needed records and checks.</a:t>
            </a:r>
          </a:p>
          <a:p/>
          <a:p>
            <a:r>
              <a:t>Paper section: context</a:t>
            </a:r>
          </a:p>
          <a:p>
            <a:r>
              <a:t>Sources:</a:t>
            </a:r>
          </a:p>
          <a:p>
            <a:r>
              <a:t>S8: Demystifying evals for AI agents — https://www.anthropic.com/engineering/demystifying-evals-for-ai-agents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compare a one-prompt baseline, a human checklist, the file-based loop and a managed service. Portability and traceability favor the file loop for substantial recurring work; short tasks may not justify the overhead.</a:t>
            </a:r>
          </a:p>
          <a:p/>
          <a:p>
            <a:r>
              <a:t>Paper section: choices</a:t>
            </a:r>
          </a:p>
          <a:p>
            <a:r>
              <a:t>Sources:</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challenges remain distinct. Mechanical failures can be injected locally. Publication effectiveness needs reader evaluation. Real host portability requires actual Claude Code and Copilot sessions, which were not performed for this kit.</a:t>
            </a:r>
          </a:p>
          <a:p/>
          <a:p>
            <a:r>
              <a:t>Paper section: choices</a:t>
            </a:r>
          </a:p>
          <a:p>
            <a:r>
              <a:t>Sources:</a:t>
            </a:r>
          </a:p>
          <a:p>
            <a:r>
              <a:t>S11: Architecture Loop local implementation — ../../loop.py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this at the system-context level. The external host retrieves sources and creates artifacts. The kit supplies durable coordination. The author remains responsible for using and approving the recommendation. Source definitions: original C4 documentation.</a:t>
            </a:r>
          </a:p>
          <a:p/>
          <a:p>
            <a:r>
              <a:t>Paper section: architecture</a:t>
            </a:r>
          </a:p>
          <a:p>
            <a:r>
              <a:t>Sources:</a:t>
            </a:r>
          </a:p>
          <a:p>
            <a:r>
              <a:t>S1: C4 model: diagrams — https://c4model.com/diagrams</a:t>
            </a:r>
          </a:p>
          <a:p>
            <a:r>
              <a:t>S11: Architecture Loop local implementation — ../../loop.py</a:t>
            </a:r>
          </a:p>
          <a:p>
            <a:r>
              <a:t>S2: C4 model: system context — https://c4model.com/diagrams/system-context</a:t>
            </a:r>
          </a:p>
          <a:p>
            <a:r>
              <a:t>S3: C4 model: containers — https://c4model.com/diagrams/container</a:t>
            </a:r>
          </a:p>
          <a:p>
            <a:r>
              <a:t>S4: C4 model: components — https://c4model.com/diagrams/component</a:t>
            </a:r>
          </a:p>
          <a:p>
            <a:r>
              <a:t>S5: C4 model: code — https://c4model.com/diagrams/code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C4 container means an application or data store. Here the runner and renderer are separate programs and the folder is a data store. These are local containers in the C4 sense, not Docker or distributed services. The host starts the programs.</a:t>
            </a:r>
          </a:p>
          <a:p/>
          <a:p>
            <a:r>
              <a:t>Paper section: architecture</a:t>
            </a:r>
          </a:p>
          <a:p>
            <a:r>
              <a:t>Sources:</a:t>
            </a:r>
          </a:p>
          <a:p>
            <a:r>
              <a:t>S1: C4 model: diagrams — https://c4model.com/diagrams</a:t>
            </a:r>
          </a:p>
          <a:p>
            <a:r>
              <a:t>S11: Architecture Loop local implementation — ../../loop.py</a:t>
            </a:r>
          </a:p>
          <a:p>
            <a:r>
              <a:t>S2: C4 model: system context — https://c4model.com/diagrams/system-context</a:t>
            </a:r>
          </a:p>
          <a:p>
            <a:r>
              <a:t>S3: C4 model: containers — https://c4model.com/diagrams/container</a:t>
            </a:r>
          </a:p>
          <a:p>
            <a:r>
              <a:t>S4: C4 model: components — https://c4model.com/diagrams/component</a:t>
            </a:r>
          </a:p>
          <a:p>
            <a:r>
              <a:t>S5: C4 model: code — https://c4model.com/diagrams/code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stages are frame, research, challenge, design, story, draft, review and export. The host acts inside a stage. The coordinator checks records before transition. Defaults are three revisions and 24 prompt issuances; time and cost remain host responsibilities.</a:t>
            </a:r>
          </a:p>
          <a:p/>
          <a:p>
            <a:r>
              <a:t>Paper section: mechanisms</a:t>
            </a:r>
          </a:p>
          <a:p>
            <a:r>
              <a:t>Sources:</a:t>
            </a:r>
          </a:p>
          <a:p>
            <a:r>
              <a:t>S11: Architecture Loop local implementation — ../../loop.py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running example, the source correction changes evidence.json. The host reopens research, updates dependent content, and performs a new review. Hashes catch stale records; they do not prove semantic consistency or protect against a writer who edits the validator.</a:t>
            </a:r>
          </a:p>
          <a:p/>
          <a:p>
            <a:r>
              <a:t>Paper section: mechanisms</a:t>
            </a:r>
          </a:p>
          <a:p>
            <a:r>
              <a:t>Sources:</a:t>
            </a:r>
          </a:p>
          <a:p>
            <a:r>
              <a:t>S11: Architecture Loop local implementation — ../../loop.py</a:t>
            </a:r>
          </a:p>
          <a:p>
            <a:r>
              <a:t>S8: Demystifying evals for AI agents — https://www.anthropic.com/engineering/demystifying-evals-for-ai-agents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story map links each beat to claims, decisions, paper sections, slide IDs and diagrams. First-person authorial statements explain recommendations. Factual observations do not need an I-prefix. Speaker notes supply detail without hiding decision-changing limitations.</a:t>
            </a:r>
          </a:p>
          <a:p/>
          <a:p>
            <a:r>
              <a:t>Paper section: story</a:t>
            </a:r>
          </a:p>
          <a:p>
            <a:r>
              <a:t>Sources:</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adapters follow documented CLAUDE.md and .github/copilot-instructions.md conventions. They have not been exercised in real host sessions here. A generic prompt is the fallback. Without research or rendering, return a conditional or incomplete draft.</a:t>
            </a:r>
          </a:p>
          <a:p/>
          <a:p>
            <a:r>
              <a:t>Paper section: evidence</a:t>
            </a:r>
          </a:p>
          <a:p>
            <a:r>
              <a:t>Sources:</a:t>
            </a:r>
          </a:p>
          <a:p>
            <a:r>
              <a:t>S10: Adding repository instructions in an IDE — https://docs.github.com/en/copilot/how-tos/copilot-in-your-ide/customize-copilot/configure-custom-instructions/add-repository-instructions-in-your-ide</a:t>
            </a:r>
          </a:p>
          <a:p>
            <a:r>
              <a:t>S11: Architecture Loop local implementation — ../../loop.py</a:t>
            </a:r>
          </a:p>
          <a:p>
            <a:r>
              <a:t>S9: How Claude remembers your project — https://code.claude.com/docs/en/memory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comparative study is a proposed next step, not an experiment already performed. A sponsor should set material-defect definitions and acceptable effort before starting. Use separate readers where possible and include failure cases.</a:t>
            </a:r>
          </a:p>
          <a:p/>
          <a:p>
            <a:r>
              <a:t>Paper section: delivery</a:t>
            </a:r>
          </a:p>
          <a:p>
            <a:r>
              <a:t>Sources:</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Decision ask: choose one recurring architecture problem, a checklist baseline and acceptance criteria. The local kit is not a security boundary, a source-truth oracle or an independently benchmarked system. Preserve a simpler path when it is enough.</a:t>
            </a:r>
          </a:p>
          <a:p/>
          <a:p>
            <a:r>
              <a:t>Paper section: limits</a:t>
            </a:r>
          </a:p>
          <a:p>
            <a:r>
              <a:t>Sources:</a:t>
            </a:r>
          </a:p>
          <a:p>
            <a:r>
              <a:t>S11: Architecture Loop local implementation — ../../loop.py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In the supplied source, loop.py implements the coordinator and prompt assembly, while gates.py implements checks. The diagram renderer is a separate utility; it is not incorrectly shown as invoked by the coordinator.</a:t>
            </a:r>
          </a:p>
          <a:p/>
          <a:p>
            <a:r>
              <a:t>Paper section: architecture</a:t>
            </a:r>
          </a:p>
          <a:p>
            <a:r>
              <a:t>Sources:</a:t>
            </a:r>
          </a:p>
          <a:p>
            <a:r>
              <a:t>S1: C4 model: diagrams — https://c4model.com/diagrams</a:t>
            </a:r>
          </a:p>
          <a:p>
            <a:r>
              <a:t>S11: Architecture Loop local implementation — ../../loop.py</a:t>
            </a:r>
          </a:p>
          <a:p>
            <a:r>
              <a:t>S2: C4 model: system context — https://c4model.com/diagrams/system-context</a:t>
            </a:r>
          </a:p>
          <a:p>
            <a:r>
              <a:t>S3: C4 model: containers — https://c4model.com/diagrams/container</a:t>
            </a:r>
          </a:p>
          <a:p>
            <a:r>
              <a:t>S4: C4 model: components — https://c4model.com/diagrams/component</a:t>
            </a:r>
          </a:p>
          <a:p>
            <a:r>
              <a:t>S5: C4 model: code — https://c4model.com/diagrams/code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GateEngine creates Finding records, reads through ArtifactStore and compares a ReviewStamp with the current fingerprint. These classes exist in the shipped code. Their structural success does not establish the truth of a publication.</a:t>
            </a:r>
          </a:p>
          <a:p/>
          <a:p>
            <a:r>
              <a:t>Paper section: architecture</a:t>
            </a:r>
          </a:p>
          <a:p>
            <a:r>
              <a:t>Sources:</a:t>
            </a:r>
          </a:p>
          <a:p>
            <a:r>
              <a:t>S1: C4 model: diagrams — https://c4model.com/diagrams</a:t>
            </a:r>
          </a:p>
          <a:p>
            <a:r>
              <a:t>S11: Architecture Loop local implementation — ../../loop.py</a:t>
            </a:r>
          </a:p>
          <a:p>
            <a:r>
              <a:t>S2: C4 model: system context — https://c4model.com/diagrams/system-context</a:t>
            </a:r>
          </a:p>
          <a:p>
            <a:r>
              <a:t>S3: C4 model: containers — https://c4model.com/diagrams/container</a:t>
            </a:r>
          </a:p>
          <a:p>
            <a:r>
              <a:t>S4: C4 model: components — https://c4model.com/diagrams/component</a:t>
            </a:r>
          </a:p>
          <a:p>
            <a:r>
              <a:t>S5: C4 model: code — https://c4model.com/diagrams/code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88900"/>
          </a:xfrm>
          <a:prstGeom prst="rect">
            <a:avLst/>
          </a:prstGeom>
          <a:solidFill>
            <a:srgbClr val="08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92100"/>
            <a:ext cx="3405354" cy="255015"/>
          </a:xfrm>
          <a:prstGeom prst="rect">
            <a:avLst/>
          </a:prstGeom>
          <a:noFill/>
        </p:spPr>
        <p:txBody>
          <a:bodyPr wrap="none" lIns="0" rIns="0" tIns="0" bIns="0">
            <a:spAutoFit/>
          </a:bodyPr>
          <a:lstStyle/>
          <a:p>
            <a:pPr>
              <a:defRPr sz="1100" b="1">
                <a:solidFill>
                  <a:srgbClr val="087F82"/>
                </a:solidFill>
                <a:latin typeface="DejaVu Sans"/>
              </a:defRPr>
            </a:pPr>
            <a:r>
              <a:t>ARCHITECTURE LOOP / WORKED EXAMPLE</a:t>
            </a:r>
          </a:p>
        </p:txBody>
      </p:sp>
      <p:sp>
        <p:nvSpPr>
          <p:cNvPr id="5" name="TextBox 4"/>
          <p:cNvSpPr txBox="1"/>
          <p:nvPr/>
        </p:nvSpPr>
        <p:spPr>
          <a:xfrm>
            <a:off x="457200" y="558800"/>
            <a:ext cx="8957704" cy="547624"/>
          </a:xfrm>
          <a:prstGeom prst="rect">
            <a:avLst/>
          </a:prstGeom>
          <a:noFill/>
        </p:spPr>
        <p:txBody>
          <a:bodyPr wrap="none" lIns="0" rIns="0" tIns="0" bIns="0">
            <a:spAutoFit/>
          </a:bodyPr>
          <a:lstStyle/>
          <a:p>
            <a:pPr>
              <a:defRPr sz="2900" b="1">
                <a:solidFill>
                  <a:srgbClr val="15354C"/>
                </a:solidFill>
                <a:latin typeface="DejaVu Sans"/>
              </a:defRPr>
            </a:pPr>
            <a:r>
              <a:t>Make the architecture decision reviewable</a:t>
            </a:r>
          </a:p>
        </p:txBody>
      </p:sp>
      <p:sp>
        <p:nvSpPr>
          <p:cNvPr id="6" name="TextBox 5"/>
          <p:cNvSpPr txBox="1"/>
          <p:nvPr/>
        </p:nvSpPr>
        <p:spPr>
          <a:xfrm>
            <a:off x="457200" y="1447800"/>
            <a:ext cx="8753226" cy="401320"/>
          </a:xfrm>
          <a:prstGeom prst="rect">
            <a:avLst/>
          </a:prstGeom>
          <a:noFill/>
        </p:spPr>
        <p:txBody>
          <a:bodyPr wrap="none" lIns="0" rIns="0" tIns="0" bIns="0">
            <a:spAutoFit/>
          </a:bodyPr>
          <a:lstStyle/>
          <a:p>
            <a:pPr>
              <a:defRPr sz="2000" b="0">
                <a:solidFill>
                  <a:srgbClr val="52677A"/>
                </a:solidFill>
                <a:latin typeface="DejaVu Sans"/>
              </a:defRPr>
            </a:pPr>
            <a:r>
              <a:t>I propose one shared record behind the paper, slides and diagrams.</a:t>
            </a:r>
          </a:p>
        </p:txBody>
      </p:sp>
      <p:sp>
        <p:nvSpPr>
          <p:cNvPr id="7" name="Rounded Rectangle 6"/>
          <p:cNvSpPr/>
          <p:nvPr/>
        </p:nvSpPr>
        <p:spPr>
          <a:xfrm>
            <a:off x="457200" y="2476500"/>
            <a:ext cx="3606800" cy="2844800"/>
          </a:xfrm>
          <a:prstGeom prst="roundRect">
            <a:avLst>
              <a:gd name="adj" fmla="val 6000"/>
            </a:avLst>
          </a:prstGeom>
          <a:solidFill>
            <a:srgbClr val="F3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2476500"/>
            <a:ext cx="63500" cy="2844800"/>
          </a:xfrm>
          <a:prstGeom prst="rect">
            <a:avLst/>
          </a:prstGeom>
          <a:solidFill>
            <a:srgbClr val="08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1200" y="2692400"/>
            <a:ext cx="1385490" cy="401320"/>
          </a:xfrm>
          <a:prstGeom prst="rect">
            <a:avLst/>
          </a:prstGeom>
          <a:noFill/>
        </p:spPr>
        <p:txBody>
          <a:bodyPr wrap="none" lIns="0" rIns="0" tIns="0" bIns="0">
            <a:spAutoFit/>
          </a:bodyPr>
          <a:lstStyle/>
          <a:p>
            <a:pPr>
              <a:defRPr sz="2000" b="1">
                <a:solidFill>
                  <a:srgbClr val="15354C"/>
                </a:solidFill>
                <a:latin typeface="DejaVu Sans"/>
              </a:defRPr>
            </a:pPr>
            <a:r>
              <a:t>Evidence</a:t>
            </a:r>
          </a:p>
        </p:txBody>
      </p:sp>
      <p:sp>
        <p:nvSpPr>
          <p:cNvPr id="10" name="TextBox 9"/>
          <p:cNvSpPr txBox="1"/>
          <p:nvPr/>
        </p:nvSpPr>
        <p:spPr>
          <a:xfrm>
            <a:off x="711200" y="3416300"/>
            <a:ext cx="2967862" cy="352552"/>
          </a:xfrm>
          <a:prstGeom prst="rect">
            <a:avLst/>
          </a:prstGeom>
          <a:noFill/>
        </p:spPr>
        <p:txBody>
          <a:bodyPr wrap="none" lIns="0" rIns="0" tIns="0" bIns="0">
            <a:spAutoFit/>
          </a:bodyPr>
          <a:lstStyle/>
          <a:p>
            <a:pPr>
              <a:defRPr sz="1700" b="0">
                <a:solidFill>
                  <a:srgbClr val="52677A"/>
                </a:solidFill>
                <a:latin typeface="DejaVu Sans"/>
              </a:defRPr>
            </a:pPr>
            <a:r>
              <a:t>Show what is known, what</a:t>
            </a:r>
          </a:p>
        </p:txBody>
      </p:sp>
      <p:sp>
        <p:nvSpPr>
          <p:cNvPr id="11" name="TextBox 10"/>
          <p:cNvSpPr txBox="1"/>
          <p:nvPr/>
        </p:nvSpPr>
        <p:spPr>
          <a:xfrm>
            <a:off x="711200" y="3692652"/>
            <a:ext cx="2269560" cy="352552"/>
          </a:xfrm>
          <a:prstGeom prst="rect">
            <a:avLst/>
          </a:prstGeom>
          <a:noFill/>
        </p:spPr>
        <p:txBody>
          <a:bodyPr wrap="none" lIns="0" rIns="0" tIns="0" bIns="0">
            <a:spAutoFit/>
          </a:bodyPr>
          <a:lstStyle/>
          <a:p>
            <a:pPr>
              <a:defRPr sz="1700" b="0">
                <a:solidFill>
                  <a:srgbClr val="52677A"/>
                </a:solidFill>
                <a:latin typeface="DejaVu Sans"/>
              </a:defRPr>
            </a:pPr>
            <a:r>
              <a:t>is inferred and what</a:t>
            </a:r>
          </a:p>
        </p:txBody>
      </p:sp>
      <p:sp>
        <p:nvSpPr>
          <p:cNvPr id="12" name="TextBox 11"/>
          <p:cNvSpPr txBox="1"/>
          <p:nvPr/>
        </p:nvSpPr>
        <p:spPr>
          <a:xfrm>
            <a:off x="711200" y="3969004"/>
            <a:ext cx="2140105" cy="352552"/>
          </a:xfrm>
          <a:prstGeom prst="rect">
            <a:avLst/>
          </a:prstGeom>
          <a:noFill/>
        </p:spPr>
        <p:txBody>
          <a:bodyPr wrap="none" lIns="0" rIns="0" tIns="0" bIns="0">
            <a:spAutoFit/>
          </a:bodyPr>
          <a:lstStyle/>
          <a:p>
            <a:pPr>
              <a:defRPr sz="1700" b="0">
                <a:solidFill>
                  <a:srgbClr val="52677A"/>
                </a:solidFill>
                <a:latin typeface="DejaVu Sans"/>
              </a:defRPr>
            </a:pPr>
            <a:r>
              <a:t>remains uncertain.</a:t>
            </a:r>
          </a:p>
        </p:txBody>
      </p:sp>
      <p:sp>
        <p:nvSpPr>
          <p:cNvPr id="13" name="Rounded Rectangle 12"/>
          <p:cNvSpPr/>
          <p:nvPr/>
        </p:nvSpPr>
        <p:spPr>
          <a:xfrm>
            <a:off x="4292600" y="2476500"/>
            <a:ext cx="3606800" cy="2844800"/>
          </a:xfrm>
          <a:prstGeom prst="roundRect">
            <a:avLst>
              <a:gd name="adj" fmla="val 6000"/>
            </a:avLst>
          </a:prstGeom>
          <a:solidFill>
            <a:srgbClr val="F3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92600" y="2476500"/>
            <a:ext cx="63500" cy="2844800"/>
          </a:xfrm>
          <a:prstGeom prst="rect">
            <a:avLst/>
          </a:prstGeom>
          <a:solidFill>
            <a:srgbClr val="08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46600" y="2692400"/>
            <a:ext cx="1315913" cy="401320"/>
          </a:xfrm>
          <a:prstGeom prst="rect">
            <a:avLst/>
          </a:prstGeom>
          <a:noFill/>
        </p:spPr>
        <p:txBody>
          <a:bodyPr wrap="none" lIns="0" rIns="0" tIns="0" bIns="0">
            <a:spAutoFit/>
          </a:bodyPr>
          <a:lstStyle/>
          <a:p>
            <a:pPr>
              <a:defRPr sz="2000" b="1">
                <a:solidFill>
                  <a:srgbClr val="15354C"/>
                </a:solidFill>
                <a:latin typeface="DejaVu Sans"/>
              </a:defRPr>
            </a:pPr>
            <a:r>
              <a:t>Decision</a:t>
            </a:r>
          </a:p>
        </p:txBody>
      </p:sp>
      <p:sp>
        <p:nvSpPr>
          <p:cNvPr id="16" name="TextBox 15"/>
          <p:cNvSpPr txBox="1"/>
          <p:nvPr/>
        </p:nvSpPr>
        <p:spPr>
          <a:xfrm>
            <a:off x="4546600" y="3416300"/>
            <a:ext cx="2258175" cy="352552"/>
          </a:xfrm>
          <a:prstGeom prst="rect">
            <a:avLst/>
          </a:prstGeom>
          <a:noFill/>
        </p:spPr>
        <p:txBody>
          <a:bodyPr wrap="none" lIns="0" rIns="0" tIns="0" bIns="0">
            <a:spAutoFit/>
          </a:bodyPr>
          <a:lstStyle/>
          <a:p>
            <a:pPr>
              <a:defRPr sz="1700" b="0">
                <a:solidFill>
                  <a:srgbClr val="52677A"/>
                </a:solidFill>
                <a:latin typeface="DejaVu Sans"/>
              </a:defRPr>
            </a:pPr>
            <a:r>
              <a:t>State the choice, its</a:t>
            </a:r>
          </a:p>
        </p:txBody>
      </p:sp>
      <p:sp>
        <p:nvSpPr>
          <p:cNvPr id="17" name="TextBox 16"/>
          <p:cNvSpPr txBox="1"/>
          <p:nvPr/>
        </p:nvSpPr>
        <p:spPr>
          <a:xfrm>
            <a:off x="4546600" y="3692652"/>
            <a:ext cx="2734673" cy="352552"/>
          </a:xfrm>
          <a:prstGeom prst="rect">
            <a:avLst/>
          </a:prstGeom>
          <a:noFill/>
        </p:spPr>
        <p:txBody>
          <a:bodyPr wrap="none" lIns="0" rIns="0" tIns="0" bIns="0">
            <a:spAutoFit/>
          </a:bodyPr>
          <a:lstStyle/>
          <a:p>
            <a:pPr>
              <a:defRPr sz="1700" b="0">
                <a:solidFill>
                  <a:srgbClr val="52677A"/>
                </a:solidFill>
                <a:latin typeface="DejaVu Sans"/>
              </a:defRPr>
            </a:pPr>
            <a:r>
              <a:t>strongest rival and what</a:t>
            </a:r>
          </a:p>
        </p:txBody>
      </p:sp>
      <p:sp>
        <p:nvSpPr>
          <p:cNvPr id="18" name="TextBox 17"/>
          <p:cNvSpPr txBox="1"/>
          <p:nvPr/>
        </p:nvSpPr>
        <p:spPr>
          <a:xfrm>
            <a:off x="4546600" y="3969004"/>
            <a:ext cx="1910922" cy="352552"/>
          </a:xfrm>
          <a:prstGeom prst="rect">
            <a:avLst/>
          </a:prstGeom>
          <a:noFill/>
        </p:spPr>
        <p:txBody>
          <a:bodyPr wrap="none" lIns="0" rIns="0" tIns="0" bIns="0">
            <a:spAutoFit/>
          </a:bodyPr>
          <a:lstStyle/>
          <a:p>
            <a:pPr>
              <a:defRPr sz="1700" b="0">
                <a:solidFill>
                  <a:srgbClr val="52677A"/>
                </a:solidFill>
                <a:latin typeface="DejaVu Sans"/>
              </a:defRPr>
            </a:pPr>
            <a:r>
              <a:t>would reverse it.</a:t>
            </a:r>
          </a:p>
        </p:txBody>
      </p:sp>
      <p:sp>
        <p:nvSpPr>
          <p:cNvPr id="19" name="Rounded Rectangle 18"/>
          <p:cNvSpPr/>
          <p:nvPr/>
        </p:nvSpPr>
        <p:spPr>
          <a:xfrm>
            <a:off x="8128000" y="2476500"/>
            <a:ext cx="3606800" cy="2844800"/>
          </a:xfrm>
          <a:prstGeom prst="roundRect">
            <a:avLst>
              <a:gd name="adj" fmla="val 6000"/>
            </a:avLst>
          </a:prstGeom>
          <a:solidFill>
            <a:srgbClr val="F3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28000" y="2476500"/>
            <a:ext cx="63500" cy="2844800"/>
          </a:xfrm>
          <a:prstGeom prst="rect">
            <a:avLst/>
          </a:prstGeom>
          <a:solidFill>
            <a:srgbClr val="08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82000" y="2692400"/>
            <a:ext cx="871289" cy="401320"/>
          </a:xfrm>
          <a:prstGeom prst="rect">
            <a:avLst/>
          </a:prstGeom>
          <a:noFill/>
        </p:spPr>
        <p:txBody>
          <a:bodyPr wrap="none" lIns="0" rIns="0" tIns="0" bIns="0">
            <a:spAutoFit/>
          </a:bodyPr>
          <a:lstStyle/>
          <a:p>
            <a:pPr>
              <a:defRPr sz="2000" b="1">
                <a:solidFill>
                  <a:srgbClr val="15354C"/>
                </a:solidFill>
                <a:latin typeface="DejaVu Sans"/>
              </a:defRPr>
            </a:pPr>
            <a:r>
              <a:t>Story</a:t>
            </a:r>
          </a:p>
        </p:txBody>
      </p:sp>
      <p:sp>
        <p:nvSpPr>
          <p:cNvPr id="22" name="TextBox 21"/>
          <p:cNvSpPr txBox="1"/>
          <p:nvPr/>
        </p:nvSpPr>
        <p:spPr>
          <a:xfrm>
            <a:off x="8382000" y="3416300"/>
            <a:ext cx="1971433" cy="352552"/>
          </a:xfrm>
          <a:prstGeom prst="rect">
            <a:avLst/>
          </a:prstGeom>
          <a:noFill/>
        </p:spPr>
        <p:txBody>
          <a:bodyPr wrap="none" lIns="0" rIns="0" tIns="0" bIns="0">
            <a:spAutoFit/>
          </a:bodyPr>
          <a:lstStyle/>
          <a:p>
            <a:pPr>
              <a:defRPr sz="1700" b="0">
                <a:solidFill>
                  <a:srgbClr val="52677A"/>
                </a:solidFill>
                <a:latin typeface="DejaVu Sans"/>
              </a:defRPr>
            </a:pPr>
            <a:r>
              <a:t>Explain the same</a:t>
            </a:r>
          </a:p>
        </p:txBody>
      </p:sp>
      <p:sp>
        <p:nvSpPr>
          <p:cNvPr id="23" name="TextBox 22"/>
          <p:cNvSpPr txBox="1"/>
          <p:nvPr/>
        </p:nvSpPr>
        <p:spPr>
          <a:xfrm>
            <a:off x="8382000" y="3692652"/>
            <a:ext cx="2674584" cy="352552"/>
          </a:xfrm>
          <a:prstGeom prst="rect">
            <a:avLst/>
          </a:prstGeom>
          <a:noFill/>
        </p:spPr>
        <p:txBody>
          <a:bodyPr wrap="none" lIns="0" rIns="0" tIns="0" bIns="0">
            <a:spAutoFit/>
          </a:bodyPr>
          <a:lstStyle/>
          <a:p>
            <a:pPr>
              <a:defRPr sz="1700" b="0">
                <a:solidFill>
                  <a:srgbClr val="52677A"/>
                </a:solidFill>
                <a:latin typeface="DejaVu Sans"/>
              </a:defRPr>
            </a:pPr>
            <a:r>
              <a:t>recommendation in two</a:t>
            </a:r>
          </a:p>
        </p:txBody>
      </p:sp>
      <p:sp>
        <p:nvSpPr>
          <p:cNvPr id="24" name="TextBox 23"/>
          <p:cNvSpPr txBox="1"/>
          <p:nvPr/>
        </p:nvSpPr>
        <p:spPr>
          <a:xfrm>
            <a:off x="8382000" y="3969004"/>
            <a:ext cx="1513489" cy="352552"/>
          </a:xfrm>
          <a:prstGeom prst="rect">
            <a:avLst/>
          </a:prstGeom>
          <a:noFill/>
        </p:spPr>
        <p:txBody>
          <a:bodyPr wrap="none" lIns="0" rIns="0" tIns="0" bIns="0">
            <a:spAutoFit/>
          </a:bodyPr>
          <a:lstStyle/>
          <a:p>
            <a:pPr>
              <a:defRPr sz="1700" b="0">
                <a:solidFill>
                  <a:srgbClr val="52677A"/>
                </a:solidFill>
                <a:latin typeface="DejaVu Sans"/>
              </a:defRPr>
            </a:pPr>
            <a:r>
              <a:t>useful forms.</a:t>
            </a:r>
          </a:p>
        </p:txBody>
      </p:sp>
      <p:cxnSp>
        <p:nvCxnSpPr>
          <p:cNvPr id="25" name="Connector 24"/>
          <p:cNvCxnSpPr/>
          <p:nvPr/>
        </p:nvCxnSpPr>
        <p:spPr>
          <a:xfrm>
            <a:off x="457200" y="6477000"/>
            <a:ext cx="11277600" cy="0"/>
          </a:xfrm>
          <a:prstGeom prst="line">
            <a:avLst/>
          </a:prstGeom>
          <a:ln w="8890">
            <a:solidFill>
              <a:srgbClr val="D6E1E5"/>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457200" y="6578600"/>
            <a:ext cx="2266751" cy="206248"/>
          </a:xfrm>
          <a:prstGeom prst="rect">
            <a:avLst/>
          </a:prstGeom>
          <a:noFill/>
        </p:spPr>
        <p:txBody>
          <a:bodyPr wrap="none" lIns="0" rIns="0" tIns="0" bIns="0">
            <a:spAutoFit/>
          </a:bodyPr>
          <a:lstStyle/>
          <a:p>
            <a:pPr>
              <a:defRPr sz="800" b="0">
                <a:solidFill>
                  <a:srgbClr val="52677A"/>
                </a:solidFill>
                <a:latin typeface="DejaVu Sans"/>
              </a:defRPr>
            </a:pPr>
            <a:r>
              <a:t>P1 • recommendation • Claims: CL7, CL11</a:t>
            </a:r>
          </a:p>
        </p:txBody>
      </p:sp>
      <p:sp>
        <p:nvSpPr>
          <p:cNvPr id="27" name="TextBox 26"/>
          <p:cNvSpPr txBox="1"/>
          <p:nvPr/>
        </p:nvSpPr>
        <p:spPr>
          <a:xfrm>
            <a:off x="11377414" y="6578600"/>
            <a:ext cx="458985" cy="206248"/>
          </a:xfrm>
          <a:prstGeom prst="rect">
            <a:avLst/>
          </a:prstGeom>
          <a:noFill/>
        </p:spPr>
        <p:txBody>
          <a:bodyPr wrap="none" lIns="0" rIns="0" tIns="0" bIns="0">
            <a:spAutoFit/>
          </a:bodyPr>
          <a:lstStyle/>
          <a:p>
            <a:pPr>
              <a:defRPr sz="800" b="0">
                <a:solidFill>
                  <a:srgbClr val="52677A"/>
                </a:solidFill>
                <a:latin typeface="DejaVu Sans"/>
              </a:defRPr>
            </a:pPr>
            <a:r>
              <a:t>01 / 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88900"/>
          </a:xfrm>
          <a:prstGeom prst="rect">
            <a:avLst/>
          </a:prstGeom>
          <a:solidFill>
            <a:srgbClr val="08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92100"/>
            <a:ext cx="1771246" cy="255015"/>
          </a:xfrm>
          <a:prstGeom prst="rect">
            <a:avLst/>
          </a:prstGeom>
          <a:noFill/>
        </p:spPr>
        <p:txBody>
          <a:bodyPr wrap="none" lIns="0" rIns="0" tIns="0" bIns="0">
            <a:spAutoFit/>
          </a:bodyPr>
          <a:lstStyle/>
          <a:p>
            <a:pPr>
              <a:defRPr sz="1100" b="1">
                <a:solidFill>
                  <a:srgbClr val="087F82"/>
                </a:solidFill>
                <a:latin typeface="DejaVu Sans"/>
              </a:defRPr>
            </a:pPr>
            <a:r>
              <a:t>ARCHITECTURE LOOP</a:t>
            </a:r>
          </a:p>
        </p:txBody>
      </p:sp>
      <p:sp>
        <p:nvSpPr>
          <p:cNvPr id="5" name="TextBox 4"/>
          <p:cNvSpPr txBox="1"/>
          <p:nvPr/>
        </p:nvSpPr>
        <p:spPr>
          <a:xfrm>
            <a:off x="457200" y="558800"/>
            <a:ext cx="9314135" cy="547624"/>
          </a:xfrm>
          <a:prstGeom prst="rect">
            <a:avLst/>
          </a:prstGeom>
          <a:noFill/>
        </p:spPr>
        <p:txBody>
          <a:bodyPr wrap="none" lIns="0" rIns="0" tIns="0" bIns="0">
            <a:spAutoFit/>
          </a:bodyPr>
          <a:lstStyle/>
          <a:p>
            <a:pPr>
              <a:defRPr sz="2900" b="1">
                <a:solidFill>
                  <a:srgbClr val="15354C"/>
                </a:solidFill>
                <a:latin typeface="DejaVu Sans"/>
              </a:defRPr>
            </a:pPr>
            <a:r>
              <a:t>Polish alone does not explain why to choose</a:t>
            </a:r>
          </a:p>
        </p:txBody>
      </p:sp>
      <p:sp>
        <p:nvSpPr>
          <p:cNvPr id="6" name="TextBox 5"/>
          <p:cNvSpPr txBox="1"/>
          <p:nvPr/>
        </p:nvSpPr>
        <p:spPr>
          <a:xfrm>
            <a:off x="457200" y="1447800"/>
            <a:ext cx="8188672" cy="401320"/>
          </a:xfrm>
          <a:prstGeom prst="rect">
            <a:avLst/>
          </a:prstGeom>
          <a:noFill/>
        </p:spPr>
        <p:txBody>
          <a:bodyPr wrap="none" lIns="0" rIns="0" tIns="0" bIns="0">
            <a:spAutoFit/>
          </a:bodyPr>
          <a:lstStyle/>
          <a:p>
            <a:pPr>
              <a:defRPr sz="2000" b="0">
                <a:solidFill>
                  <a:srgbClr val="52677A"/>
                </a:solidFill>
                <a:latin typeface="DejaVu Sans"/>
              </a:defRPr>
            </a:pPr>
            <a:r>
              <a:t>The failure I target is lost reasoning and drift between artifacts.</a:t>
            </a:r>
          </a:p>
        </p:txBody>
      </p:sp>
      <p:sp>
        <p:nvSpPr>
          <p:cNvPr id="7" name="Rounded Rectangle 6"/>
          <p:cNvSpPr/>
          <p:nvPr/>
        </p:nvSpPr>
        <p:spPr>
          <a:xfrm>
            <a:off x="457200" y="2476500"/>
            <a:ext cx="3606800" cy="2844800"/>
          </a:xfrm>
          <a:prstGeom prst="roundRect">
            <a:avLst>
              <a:gd name="adj" fmla="val 6000"/>
            </a:avLst>
          </a:prstGeom>
          <a:solidFill>
            <a:srgbClr val="F3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2476500"/>
            <a:ext cx="63500" cy="2844800"/>
          </a:xfrm>
          <a:prstGeom prst="rect">
            <a:avLst/>
          </a:prstGeom>
          <a:solidFill>
            <a:srgbClr val="08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1200" y="2692400"/>
            <a:ext cx="2424683" cy="401320"/>
          </a:xfrm>
          <a:prstGeom prst="rect">
            <a:avLst/>
          </a:prstGeom>
          <a:noFill/>
        </p:spPr>
        <p:txBody>
          <a:bodyPr wrap="none" lIns="0" rIns="0" tIns="0" bIns="0">
            <a:spAutoFit/>
          </a:bodyPr>
          <a:lstStyle/>
          <a:p>
            <a:pPr>
              <a:defRPr sz="2000" b="1">
                <a:solidFill>
                  <a:srgbClr val="15354C"/>
                </a:solidFill>
                <a:latin typeface="DejaVu Sans"/>
              </a:defRPr>
            </a:pPr>
            <a:r>
              <a:t>A claim changes</a:t>
            </a:r>
          </a:p>
        </p:txBody>
      </p:sp>
      <p:sp>
        <p:nvSpPr>
          <p:cNvPr id="10" name="TextBox 9"/>
          <p:cNvSpPr txBox="1"/>
          <p:nvPr/>
        </p:nvSpPr>
        <p:spPr>
          <a:xfrm>
            <a:off x="711200" y="3416300"/>
            <a:ext cx="2387209" cy="352552"/>
          </a:xfrm>
          <a:prstGeom prst="rect">
            <a:avLst/>
          </a:prstGeom>
          <a:noFill/>
        </p:spPr>
        <p:txBody>
          <a:bodyPr wrap="none" lIns="0" rIns="0" tIns="0" bIns="0">
            <a:spAutoFit/>
          </a:bodyPr>
          <a:lstStyle/>
          <a:p>
            <a:pPr>
              <a:defRPr sz="1700" b="0">
                <a:solidFill>
                  <a:srgbClr val="52677A"/>
                </a:solidFill>
                <a:latin typeface="DejaVu Sans"/>
              </a:defRPr>
            </a:pPr>
            <a:r>
              <a:t>The source no longer</a:t>
            </a:r>
          </a:p>
        </p:txBody>
      </p:sp>
      <p:sp>
        <p:nvSpPr>
          <p:cNvPr id="11" name="TextBox 10"/>
          <p:cNvSpPr txBox="1"/>
          <p:nvPr/>
        </p:nvSpPr>
        <p:spPr>
          <a:xfrm>
            <a:off x="711200" y="3692652"/>
            <a:ext cx="2046386" cy="352552"/>
          </a:xfrm>
          <a:prstGeom prst="rect">
            <a:avLst/>
          </a:prstGeom>
          <a:noFill/>
        </p:spPr>
        <p:txBody>
          <a:bodyPr wrap="none" lIns="0" rIns="0" tIns="0" bIns="0">
            <a:spAutoFit/>
          </a:bodyPr>
          <a:lstStyle/>
          <a:p>
            <a:pPr>
              <a:defRPr sz="1700" b="0">
                <a:solidFill>
                  <a:srgbClr val="52677A"/>
                </a:solidFill>
                <a:latin typeface="DejaVu Sans"/>
              </a:defRPr>
            </a:pPr>
            <a:r>
              <a:t>supports a pivotal</a:t>
            </a:r>
          </a:p>
        </p:txBody>
      </p:sp>
      <p:sp>
        <p:nvSpPr>
          <p:cNvPr id="12" name="TextBox 11"/>
          <p:cNvSpPr txBox="1"/>
          <p:nvPr/>
        </p:nvSpPr>
        <p:spPr>
          <a:xfrm>
            <a:off x="711200" y="3969004"/>
            <a:ext cx="1219999" cy="352552"/>
          </a:xfrm>
          <a:prstGeom prst="rect">
            <a:avLst/>
          </a:prstGeom>
          <a:noFill/>
        </p:spPr>
        <p:txBody>
          <a:bodyPr wrap="none" lIns="0" rIns="0" tIns="0" bIns="0">
            <a:spAutoFit/>
          </a:bodyPr>
          <a:lstStyle/>
          <a:p>
            <a:pPr>
              <a:defRPr sz="1700" b="0">
                <a:solidFill>
                  <a:srgbClr val="52677A"/>
                </a:solidFill>
                <a:latin typeface="DejaVu Sans"/>
              </a:defRPr>
            </a:pPr>
            <a:r>
              <a:t>capability.</a:t>
            </a:r>
          </a:p>
        </p:txBody>
      </p:sp>
      <p:sp>
        <p:nvSpPr>
          <p:cNvPr id="13" name="Rounded Rectangle 12"/>
          <p:cNvSpPr/>
          <p:nvPr/>
        </p:nvSpPr>
        <p:spPr>
          <a:xfrm>
            <a:off x="4292600" y="2476500"/>
            <a:ext cx="3606800" cy="2844800"/>
          </a:xfrm>
          <a:prstGeom prst="roundRect">
            <a:avLst>
              <a:gd name="adj" fmla="val 6000"/>
            </a:avLst>
          </a:prstGeom>
          <a:solidFill>
            <a:srgbClr val="F3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92600" y="2476500"/>
            <a:ext cx="63500" cy="2844800"/>
          </a:xfrm>
          <a:prstGeom prst="rect">
            <a:avLst/>
          </a:prstGeom>
          <a:solidFill>
            <a:srgbClr val="08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46600" y="2692400"/>
            <a:ext cx="2882329" cy="401320"/>
          </a:xfrm>
          <a:prstGeom prst="rect">
            <a:avLst/>
          </a:prstGeom>
          <a:noFill/>
        </p:spPr>
        <p:txBody>
          <a:bodyPr wrap="none" lIns="0" rIns="0" tIns="0" bIns="0">
            <a:spAutoFit/>
          </a:bodyPr>
          <a:lstStyle/>
          <a:p>
            <a:pPr>
              <a:defRPr sz="2000" b="1">
                <a:solidFill>
                  <a:srgbClr val="15354C"/>
                </a:solidFill>
                <a:latin typeface="DejaVu Sans"/>
              </a:defRPr>
            </a:pPr>
            <a:r>
              <a:t>A decision depends</a:t>
            </a:r>
          </a:p>
        </p:txBody>
      </p:sp>
      <p:sp>
        <p:nvSpPr>
          <p:cNvPr id="16" name="TextBox 15"/>
          <p:cNvSpPr txBox="1"/>
          <p:nvPr/>
        </p:nvSpPr>
        <p:spPr>
          <a:xfrm>
            <a:off x="4546600" y="3017520"/>
            <a:ext cx="753839" cy="401320"/>
          </a:xfrm>
          <a:prstGeom prst="rect">
            <a:avLst/>
          </a:prstGeom>
          <a:noFill/>
        </p:spPr>
        <p:txBody>
          <a:bodyPr wrap="none" lIns="0" rIns="0" tIns="0" bIns="0">
            <a:spAutoFit/>
          </a:bodyPr>
          <a:lstStyle/>
          <a:p>
            <a:pPr>
              <a:defRPr sz="2000" b="1">
                <a:solidFill>
                  <a:srgbClr val="15354C"/>
                </a:solidFill>
                <a:latin typeface="DejaVu Sans"/>
              </a:defRPr>
            </a:pPr>
            <a:r>
              <a:t>on it</a:t>
            </a:r>
          </a:p>
        </p:txBody>
      </p:sp>
      <p:sp>
        <p:nvSpPr>
          <p:cNvPr id="17" name="TextBox 16"/>
          <p:cNvSpPr txBox="1"/>
          <p:nvPr/>
        </p:nvSpPr>
        <p:spPr>
          <a:xfrm>
            <a:off x="4546600" y="3416300"/>
            <a:ext cx="3179545" cy="352552"/>
          </a:xfrm>
          <a:prstGeom prst="rect">
            <a:avLst/>
          </a:prstGeom>
          <a:noFill/>
        </p:spPr>
        <p:txBody>
          <a:bodyPr wrap="none" lIns="0" rIns="0" tIns="0" bIns="0">
            <a:spAutoFit/>
          </a:bodyPr>
          <a:lstStyle/>
          <a:p>
            <a:pPr>
              <a:defRPr sz="1700" b="0">
                <a:solidFill>
                  <a:srgbClr val="52677A"/>
                </a:solidFill>
                <a:latin typeface="DejaVu Sans"/>
              </a:defRPr>
            </a:pPr>
            <a:r>
              <a:t>The chosen design may now</a:t>
            </a:r>
          </a:p>
        </p:txBody>
      </p:sp>
      <p:sp>
        <p:nvSpPr>
          <p:cNvPr id="18" name="TextBox 17"/>
          <p:cNvSpPr txBox="1"/>
          <p:nvPr/>
        </p:nvSpPr>
        <p:spPr>
          <a:xfrm>
            <a:off x="4546600" y="3692652"/>
            <a:ext cx="2073163" cy="352552"/>
          </a:xfrm>
          <a:prstGeom prst="rect">
            <a:avLst/>
          </a:prstGeom>
          <a:noFill/>
        </p:spPr>
        <p:txBody>
          <a:bodyPr wrap="none" lIns="0" rIns="0" tIns="0" bIns="0">
            <a:spAutoFit/>
          </a:bodyPr>
          <a:lstStyle/>
          <a:p>
            <a:pPr>
              <a:defRPr sz="1700" b="0">
                <a:solidFill>
                  <a:srgbClr val="52677A"/>
                </a:solidFill>
                <a:latin typeface="DejaVu Sans"/>
              </a:defRPr>
            </a:pPr>
            <a:r>
              <a:t>require a different</a:t>
            </a:r>
          </a:p>
        </p:txBody>
      </p:sp>
      <p:sp>
        <p:nvSpPr>
          <p:cNvPr id="19" name="TextBox 18"/>
          <p:cNvSpPr txBox="1"/>
          <p:nvPr/>
        </p:nvSpPr>
        <p:spPr>
          <a:xfrm>
            <a:off x="4546600" y="3969004"/>
            <a:ext cx="1420824" cy="352552"/>
          </a:xfrm>
          <a:prstGeom prst="rect">
            <a:avLst/>
          </a:prstGeom>
          <a:noFill/>
        </p:spPr>
        <p:txBody>
          <a:bodyPr wrap="none" lIns="0" rIns="0" tIns="0" bIns="0">
            <a:spAutoFit/>
          </a:bodyPr>
          <a:lstStyle/>
          <a:p>
            <a:pPr>
              <a:defRPr sz="1700" b="0">
                <a:solidFill>
                  <a:srgbClr val="52677A"/>
                </a:solidFill>
                <a:latin typeface="DejaVu Sans"/>
              </a:defRPr>
            </a:pPr>
            <a:r>
              <a:t>mechanism.</a:t>
            </a:r>
          </a:p>
        </p:txBody>
      </p:sp>
      <p:sp>
        <p:nvSpPr>
          <p:cNvPr id="20" name="Rounded Rectangle 19"/>
          <p:cNvSpPr/>
          <p:nvPr/>
        </p:nvSpPr>
        <p:spPr>
          <a:xfrm>
            <a:off x="8128000" y="2476500"/>
            <a:ext cx="3606800" cy="2844800"/>
          </a:xfrm>
          <a:prstGeom prst="roundRect">
            <a:avLst>
              <a:gd name="adj" fmla="val 6000"/>
            </a:avLst>
          </a:prstGeom>
          <a:solidFill>
            <a:srgbClr val="F3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28000" y="2476500"/>
            <a:ext cx="63500" cy="2844800"/>
          </a:xfrm>
          <a:prstGeom prst="rect">
            <a:avLst/>
          </a:prstGeom>
          <a:solidFill>
            <a:srgbClr val="08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82000" y="2692400"/>
            <a:ext cx="2778893" cy="401320"/>
          </a:xfrm>
          <a:prstGeom prst="rect">
            <a:avLst/>
          </a:prstGeom>
          <a:noFill/>
        </p:spPr>
        <p:txBody>
          <a:bodyPr wrap="none" lIns="0" rIns="0" tIns="0" bIns="0">
            <a:spAutoFit/>
          </a:bodyPr>
          <a:lstStyle/>
          <a:p>
            <a:pPr>
              <a:defRPr sz="2000" b="1">
                <a:solidFill>
                  <a:srgbClr val="15354C"/>
                </a:solidFill>
                <a:latin typeface="DejaVu Sans"/>
              </a:defRPr>
            </a:pPr>
            <a:r>
              <a:t>Both outputs must</a:t>
            </a:r>
          </a:p>
        </p:txBody>
      </p:sp>
      <p:sp>
        <p:nvSpPr>
          <p:cNvPr id="23" name="TextBox 22"/>
          <p:cNvSpPr txBox="1"/>
          <p:nvPr/>
        </p:nvSpPr>
        <p:spPr>
          <a:xfrm>
            <a:off x="8382000" y="3017520"/>
            <a:ext cx="1139304" cy="401320"/>
          </a:xfrm>
          <a:prstGeom prst="rect">
            <a:avLst/>
          </a:prstGeom>
          <a:noFill/>
        </p:spPr>
        <p:txBody>
          <a:bodyPr wrap="none" lIns="0" rIns="0" tIns="0" bIns="0">
            <a:spAutoFit/>
          </a:bodyPr>
          <a:lstStyle/>
          <a:p>
            <a:pPr>
              <a:defRPr sz="2000" b="1">
                <a:solidFill>
                  <a:srgbClr val="15354C"/>
                </a:solidFill>
                <a:latin typeface="DejaVu Sans"/>
              </a:defRPr>
            </a:pPr>
            <a:r>
              <a:t>change</a:t>
            </a:r>
          </a:p>
        </p:txBody>
      </p:sp>
      <p:sp>
        <p:nvSpPr>
          <p:cNvPr id="24" name="TextBox 23"/>
          <p:cNvSpPr txBox="1"/>
          <p:nvPr/>
        </p:nvSpPr>
        <p:spPr>
          <a:xfrm>
            <a:off x="8382000" y="3416300"/>
            <a:ext cx="3114501" cy="352552"/>
          </a:xfrm>
          <a:prstGeom prst="rect">
            <a:avLst/>
          </a:prstGeom>
          <a:noFill/>
        </p:spPr>
        <p:txBody>
          <a:bodyPr wrap="none" lIns="0" rIns="0" tIns="0" bIns="0">
            <a:spAutoFit/>
          </a:bodyPr>
          <a:lstStyle/>
          <a:p>
            <a:pPr>
              <a:defRPr sz="1700" b="0">
                <a:solidFill>
                  <a:srgbClr val="52677A"/>
                </a:solidFill>
                <a:latin typeface="DejaVu Sans"/>
              </a:defRPr>
            </a:pPr>
            <a:r>
              <a:t>The paper and presentation</a:t>
            </a:r>
          </a:p>
        </p:txBody>
      </p:sp>
      <p:sp>
        <p:nvSpPr>
          <p:cNvPr id="25" name="TextBox 24"/>
          <p:cNvSpPr txBox="1"/>
          <p:nvPr/>
        </p:nvSpPr>
        <p:spPr>
          <a:xfrm>
            <a:off x="8382000" y="3692652"/>
            <a:ext cx="2951311" cy="352552"/>
          </a:xfrm>
          <a:prstGeom prst="rect">
            <a:avLst/>
          </a:prstGeom>
          <a:noFill/>
        </p:spPr>
        <p:txBody>
          <a:bodyPr wrap="none" lIns="0" rIns="0" tIns="0" bIns="0">
            <a:spAutoFit/>
          </a:bodyPr>
          <a:lstStyle/>
          <a:p>
            <a:pPr>
              <a:defRPr sz="1700" b="0">
                <a:solidFill>
                  <a:srgbClr val="52677A"/>
                </a:solidFill>
                <a:latin typeface="DejaVu Sans"/>
              </a:defRPr>
            </a:pPr>
            <a:r>
              <a:t>need the same correction.</a:t>
            </a:r>
          </a:p>
        </p:txBody>
      </p:sp>
      <p:cxnSp>
        <p:nvCxnSpPr>
          <p:cNvPr id="26" name="Connector 25"/>
          <p:cNvCxnSpPr/>
          <p:nvPr/>
        </p:nvCxnSpPr>
        <p:spPr>
          <a:xfrm>
            <a:off x="457200" y="6477000"/>
            <a:ext cx="11277600" cy="0"/>
          </a:xfrm>
          <a:prstGeom prst="line">
            <a:avLst/>
          </a:prstGeom>
          <a:ln w="8890">
            <a:solidFill>
              <a:srgbClr val="D6E1E5"/>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57200" y="6578600"/>
            <a:ext cx="1945332" cy="206248"/>
          </a:xfrm>
          <a:prstGeom prst="rect">
            <a:avLst/>
          </a:prstGeom>
          <a:noFill/>
        </p:spPr>
        <p:txBody>
          <a:bodyPr wrap="none" lIns="0" rIns="0" tIns="0" bIns="0">
            <a:spAutoFit/>
          </a:bodyPr>
          <a:lstStyle/>
          <a:p>
            <a:pPr>
              <a:defRPr sz="800" b="0">
                <a:solidFill>
                  <a:srgbClr val="52677A"/>
                </a:solidFill>
                <a:latin typeface="DejaVu Sans"/>
              </a:defRPr>
            </a:pPr>
            <a:r>
              <a:t>P2 • recommendation • Claims: CL7</a:t>
            </a:r>
          </a:p>
        </p:txBody>
      </p:sp>
      <p:sp>
        <p:nvSpPr>
          <p:cNvPr id="28" name="TextBox 27"/>
          <p:cNvSpPr txBox="1"/>
          <p:nvPr/>
        </p:nvSpPr>
        <p:spPr>
          <a:xfrm>
            <a:off x="11377414" y="6578600"/>
            <a:ext cx="458985" cy="206248"/>
          </a:xfrm>
          <a:prstGeom prst="rect">
            <a:avLst/>
          </a:prstGeom>
          <a:noFill/>
        </p:spPr>
        <p:txBody>
          <a:bodyPr wrap="none" lIns="0" rIns="0" tIns="0" bIns="0">
            <a:spAutoFit/>
          </a:bodyPr>
          <a:lstStyle/>
          <a:p>
            <a:pPr>
              <a:defRPr sz="800" b="0">
                <a:solidFill>
                  <a:srgbClr val="52677A"/>
                </a:solidFill>
                <a:latin typeface="DejaVu Sans"/>
              </a:defRPr>
            </a:pPr>
            <a:r>
              <a:t>02 / 15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88900"/>
          </a:xfrm>
          <a:prstGeom prst="rect">
            <a:avLst/>
          </a:prstGeom>
          <a:solidFill>
            <a:srgbClr val="08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92100"/>
            <a:ext cx="1771246" cy="255015"/>
          </a:xfrm>
          <a:prstGeom prst="rect">
            <a:avLst/>
          </a:prstGeom>
          <a:noFill/>
        </p:spPr>
        <p:txBody>
          <a:bodyPr wrap="none" lIns="0" rIns="0" tIns="0" bIns="0">
            <a:spAutoFit/>
          </a:bodyPr>
          <a:lstStyle/>
          <a:p>
            <a:pPr>
              <a:defRPr sz="1100" b="1">
                <a:solidFill>
                  <a:srgbClr val="087F82"/>
                </a:solidFill>
                <a:latin typeface="DejaVu Sans"/>
              </a:defRPr>
            </a:pPr>
            <a:r>
              <a:t>ARCHITECTURE LOOP</a:t>
            </a:r>
          </a:p>
        </p:txBody>
      </p:sp>
      <p:sp>
        <p:nvSpPr>
          <p:cNvPr id="5" name="TextBox 4"/>
          <p:cNvSpPr txBox="1"/>
          <p:nvPr/>
        </p:nvSpPr>
        <p:spPr>
          <a:xfrm>
            <a:off x="457200" y="558800"/>
            <a:ext cx="9608343" cy="547624"/>
          </a:xfrm>
          <a:prstGeom prst="rect">
            <a:avLst/>
          </a:prstGeom>
          <a:noFill/>
        </p:spPr>
        <p:txBody>
          <a:bodyPr wrap="none" lIns="0" rIns="0" tIns="0" bIns="0">
            <a:spAutoFit/>
          </a:bodyPr>
          <a:lstStyle/>
          <a:p>
            <a:pPr>
              <a:defRPr sz="2900" b="1">
                <a:solidFill>
                  <a:srgbClr val="15354C"/>
                </a:solidFill>
                <a:latin typeface="DejaVu Sans"/>
              </a:defRPr>
            </a:pPr>
            <a:r>
              <a:t>Start with invariants, then derive the process</a:t>
            </a:r>
          </a:p>
        </p:txBody>
      </p:sp>
      <p:sp>
        <p:nvSpPr>
          <p:cNvPr id="6" name="TextBox 5"/>
          <p:cNvSpPr txBox="1"/>
          <p:nvPr/>
        </p:nvSpPr>
        <p:spPr>
          <a:xfrm>
            <a:off x="457200" y="1447800"/>
            <a:ext cx="7828880" cy="401320"/>
          </a:xfrm>
          <a:prstGeom prst="rect">
            <a:avLst/>
          </a:prstGeom>
          <a:noFill/>
        </p:spPr>
        <p:txBody>
          <a:bodyPr wrap="none" lIns="0" rIns="0" tIns="0" bIns="0">
            <a:spAutoFit/>
          </a:bodyPr>
          <a:lstStyle/>
          <a:p>
            <a:pPr>
              <a:defRPr sz="2000" b="0">
                <a:solidFill>
                  <a:srgbClr val="52677A"/>
                </a:solidFill>
                <a:latin typeface="DejaVu Sans"/>
              </a:defRPr>
            </a:pPr>
            <a:r>
              <a:t>I ask what must remain true before I select a tool or pattern.</a:t>
            </a:r>
          </a:p>
        </p:txBody>
      </p:sp>
      <p:sp>
        <p:nvSpPr>
          <p:cNvPr id="7" name="Rectangle 6"/>
          <p:cNvSpPr/>
          <p:nvPr/>
        </p:nvSpPr>
        <p:spPr>
          <a:xfrm>
            <a:off x="508000" y="2616200"/>
            <a:ext cx="76200" cy="76200"/>
          </a:xfrm>
          <a:prstGeom prst="rect">
            <a:avLst/>
          </a:prstGeom>
          <a:solidFill>
            <a:srgbClr val="08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4700" y="2489200"/>
            <a:ext cx="6034242" cy="417575"/>
          </a:xfrm>
          <a:prstGeom prst="rect">
            <a:avLst/>
          </a:prstGeom>
          <a:noFill/>
        </p:spPr>
        <p:txBody>
          <a:bodyPr wrap="none" lIns="0" rIns="0" tIns="0" bIns="0">
            <a:spAutoFit/>
          </a:bodyPr>
          <a:lstStyle/>
          <a:p>
            <a:pPr>
              <a:defRPr sz="2100" b="0">
                <a:solidFill>
                  <a:srgbClr val="15354C"/>
                </a:solidFill>
                <a:latin typeface="DejaVu Sans"/>
              </a:defRPr>
            </a:pPr>
            <a:r>
              <a:t>Every factual claim has inspectable support.</a:t>
            </a:r>
          </a:p>
        </p:txBody>
      </p:sp>
      <p:sp>
        <p:nvSpPr>
          <p:cNvPr id="9" name="Rectangle 8"/>
          <p:cNvSpPr/>
          <p:nvPr/>
        </p:nvSpPr>
        <p:spPr>
          <a:xfrm>
            <a:off x="508000" y="3327400"/>
            <a:ext cx="76200" cy="76200"/>
          </a:xfrm>
          <a:prstGeom prst="rect">
            <a:avLst/>
          </a:prstGeom>
          <a:solidFill>
            <a:srgbClr val="08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4700" y="3200400"/>
            <a:ext cx="9116528" cy="417575"/>
          </a:xfrm>
          <a:prstGeom prst="rect">
            <a:avLst/>
          </a:prstGeom>
          <a:noFill/>
        </p:spPr>
        <p:txBody>
          <a:bodyPr wrap="none" lIns="0" rIns="0" tIns="0" bIns="0">
            <a:spAutoFit/>
          </a:bodyPr>
          <a:lstStyle/>
          <a:p>
            <a:pPr>
              <a:defRPr sz="2100" b="0">
                <a:solidFill>
                  <a:srgbClr val="15354C"/>
                </a:solidFill>
                <a:latin typeface="DejaVu Sans"/>
              </a:defRPr>
            </a:pPr>
            <a:r>
              <a:t>Every pivotal choice has a credible alternative and reversal trigger.</a:t>
            </a:r>
          </a:p>
        </p:txBody>
      </p:sp>
      <p:sp>
        <p:nvSpPr>
          <p:cNvPr id="11" name="Rectangle 10"/>
          <p:cNvSpPr/>
          <p:nvPr/>
        </p:nvSpPr>
        <p:spPr>
          <a:xfrm>
            <a:off x="508000" y="4038600"/>
            <a:ext cx="76200" cy="76200"/>
          </a:xfrm>
          <a:prstGeom prst="rect">
            <a:avLst/>
          </a:prstGeom>
          <a:solidFill>
            <a:srgbClr val="08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4700" y="3911600"/>
            <a:ext cx="9918321" cy="417575"/>
          </a:xfrm>
          <a:prstGeom prst="rect">
            <a:avLst/>
          </a:prstGeom>
          <a:noFill/>
        </p:spPr>
        <p:txBody>
          <a:bodyPr wrap="none" lIns="0" rIns="0" tIns="0" bIns="0">
            <a:spAutoFit/>
          </a:bodyPr>
          <a:lstStyle/>
          <a:p>
            <a:pPr>
              <a:defRPr sz="2100" b="0">
                <a:solidFill>
                  <a:srgbClr val="15354C"/>
                </a:solidFill>
                <a:latin typeface="DejaVu Sans"/>
              </a:defRPr>
            </a:pPr>
            <a:r>
              <a:t>Every diagram and slide preserves the same architecture and conditions.</a:t>
            </a:r>
          </a:p>
        </p:txBody>
      </p:sp>
      <p:sp>
        <p:nvSpPr>
          <p:cNvPr id="13" name="Rectangle 12"/>
          <p:cNvSpPr/>
          <p:nvPr/>
        </p:nvSpPr>
        <p:spPr>
          <a:xfrm>
            <a:off x="508000" y="4749800"/>
            <a:ext cx="76200" cy="76200"/>
          </a:xfrm>
          <a:prstGeom prst="rect">
            <a:avLst/>
          </a:prstGeom>
          <a:solidFill>
            <a:srgbClr val="08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4700" y="4622800"/>
            <a:ext cx="7120966" cy="417575"/>
          </a:xfrm>
          <a:prstGeom prst="rect">
            <a:avLst/>
          </a:prstGeom>
          <a:noFill/>
        </p:spPr>
        <p:txBody>
          <a:bodyPr wrap="none" lIns="0" rIns="0" tIns="0" bIns="0">
            <a:spAutoFit/>
          </a:bodyPr>
          <a:lstStyle/>
          <a:p>
            <a:pPr>
              <a:defRPr sz="2100" b="0">
                <a:solidFill>
                  <a:srgbClr val="15354C"/>
                </a:solidFill>
                <a:latin typeface="DejaVu Sans"/>
              </a:defRPr>
            </a:pPr>
            <a:r>
              <a:t>Changed canonical content requires another review.</a:t>
            </a:r>
          </a:p>
        </p:txBody>
      </p:sp>
      <p:cxnSp>
        <p:nvCxnSpPr>
          <p:cNvPr id="15" name="Connector 14"/>
          <p:cNvCxnSpPr/>
          <p:nvPr/>
        </p:nvCxnSpPr>
        <p:spPr>
          <a:xfrm>
            <a:off x="457200" y="6477000"/>
            <a:ext cx="11277600" cy="0"/>
          </a:xfrm>
          <a:prstGeom prst="line">
            <a:avLst/>
          </a:prstGeom>
          <a:ln w="8890">
            <a:solidFill>
              <a:srgbClr val="D6E1E5"/>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57200" y="6578600"/>
            <a:ext cx="1718319" cy="206248"/>
          </a:xfrm>
          <a:prstGeom prst="rect">
            <a:avLst/>
          </a:prstGeom>
          <a:noFill/>
        </p:spPr>
        <p:txBody>
          <a:bodyPr wrap="none" lIns="0" rIns="0" tIns="0" bIns="0">
            <a:spAutoFit/>
          </a:bodyPr>
          <a:lstStyle/>
          <a:p>
            <a:pPr>
              <a:defRPr sz="800" b="0">
                <a:solidFill>
                  <a:srgbClr val="52677A"/>
                </a:solidFill>
                <a:latin typeface="DejaVu Sans"/>
              </a:defRPr>
            </a:pPr>
            <a:r>
              <a:t>P3 • context • Claims: CL3, CL7</a:t>
            </a:r>
          </a:p>
        </p:txBody>
      </p:sp>
      <p:sp>
        <p:nvSpPr>
          <p:cNvPr id="17" name="TextBox 16"/>
          <p:cNvSpPr txBox="1"/>
          <p:nvPr/>
        </p:nvSpPr>
        <p:spPr>
          <a:xfrm>
            <a:off x="11377414" y="6578600"/>
            <a:ext cx="458985" cy="206248"/>
          </a:xfrm>
          <a:prstGeom prst="rect">
            <a:avLst/>
          </a:prstGeom>
          <a:noFill/>
        </p:spPr>
        <p:txBody>
          <a:bodyPr wrap="none" lIns="0" rIns="0" tIns="0" bIns="0">
            <a:spAutoFit/>
          </a:bodyPr>
          <a:lstStyle/>
          <a:p>
            <a:pPr>
              <a:defRPr sz="800" b="0">
                <a:solidFill>
                  <a:srgbClr val="52677A"/>
                </a:solidFill>
                <a:latin typeface="DejaVu Sans"/>
              </a:defRPr>
            </a:pPr>
            <a:r>
              <a:t>03 / 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88900"/>
          </a:xfrm>
          <a:prstGeom prst="rect">
            <a:avLst/>
          </a:prstGeom>
          <a:solidFill>
            <a:srgbClr val="08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92100"/>
            <a:ext cx="1771246" cy="255015"/>
          </a:xfrm>
          <a:prstGeom prst="rect">
            <a:avLst/>
          </a:prstGeom>
          <a:noFill/>
        </p:spPr>
        <p:txBody>
          <a:bodyPr wrap="none" lIns="0" rIns="0" tIns="0" bIns="0">
            <a:spAutoFit/>
          </a:bodyPr>
          <a:lstStyle/>
          <a:p>
            <a:pPr>
              <a:defRPr sz="1100" b="1">
                <a:solidFill>
                  <a:srgbClr val="087F82"/>
                </a:solidFill>
                <a:latin typeface="DejaVu Sans"/>
              </a:defRPr>
            </a:pPr>
            <a:r>
              <a:t>ARCHITECTURE LOOP</a:t>
            </a:r>
          </a:p>
        </p:txBody>
      </p:sp>
      <p:sp>
        <p:nvSpPr>
          <p:cNvPr id="5" name="TextBox 4"/>
          <p:cNvSpPr txBox="1"/>
          <p:nvPr/>
        </p:nvSpPr>
        <p:spPr>
          <a:xfrm>
            <a:off x="457200" y="558800"/>
            <a:ext cx="8989175" cy="547624"/>
          </a:xfrm>
          <a:prstGeom prst="rect">
            <a:avLst/>
          </a:prstGeom>
          <a:noFill/>
        </p:spPr>
        <p:txBody>
          <a:bodyPr wrap="none" lIns="0" rIns="0" tIns="0" bIns="0">
            <a:spAutoFit/>
          </a:bodyPr>
          <a:lstStyle/>
          <a:p>
            <a:pPr>
              <a:defRPr sz="2900" b="1">
                <a:solidFill>
                  <a:srgbClr val="15354C"/>
                </a:solidFill>
                <a:latin typeface="DejaVu Sans"/>
              </a:defRPr>
            </a:pPr>
            <a:r>
              <a:t>A structured loop must earn its extra work</a:t>
            </a:r>
          </a:p>
        </p:txBody>
      </p:sp>
      <p:sp>
        <p:nvSpPr>
          <p:cNvPr id="6" name="TextBox 5"/>
          <p:cNvSpPr txBox="1"/>
          <p:nvPr/>
        </p:nvSpPr>
        <p:spPr>
          <a:xfrm>
            <a:off x="457200" y="1447800"/>
            <a:ext cx="7942485" cy="401320"/>
          </a:xfrm>
          <a:prstGeom prst="rect">
            <a:avLst/>
          </a:prstGeom>
          <a:noFill/>
        </p:spPr>
        <p:txBody>
          <a:bodyPr wrap="none" lIns="0" rIns="0" tIns="0" bIns="0">
            <a:spAutoFit/>
          </a:bodyPr>
          <a:lstStyle/>
          <a:p>
            <a:pPr>
              <a:defRPr sz="2000" b="0">
                <a:solidFill>
                  <a:srgbClr val="52677A"/>
                </a:solidFill>
                <a:latin typeface="DejaVu Sans"/>
              </a:defRPr>
            </a:pPr>
            <a:r>
              <a:t>For a small task, a simple checklist may be the better design.</a:t>
            </a:r>
          </a:p>
        </p:txBody>
      </p:sp>
      <p:sp>
        <p:nvSpPr>
          <p:cNvPr id="7" name="Rounded Rectangle 6"/>
          <p:cNvSpPr/>
          <p:nvPr/>
        </p:nvSpPr>
        <p:spPr>
          <a:xfrm>
            <a:off x="457200" y="2476500"/>
            <a:ext cx="3606800" cy="2844800"/>
          </a:xfrm>
          <a:prstGeom prst="roundRect">
            <a:avLst>
              <a:gd name="adj" fmla="val 6000"/>
            </a:avLst>
          </a:prstGeom>
          <a:solidFill>
            <a:srgbClr val="F3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2476500"/>
            <a:ext cx="63500" cy="2844800"/>
          </a:xfrm>
          <a:prstGeom prst="rect">
            <a:avLst/>
          </a:prstGeom>
          <a:solidFill>
            <a:srgbClr val="08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1200" y="2692400"/>
            <a:ext cx="1989732" cy="401320"/>
          </a:xfrm>
          <a:prstGeom prst="rect">
            <a:avLst/>
          </a:prstGeom>
          <a:noFill/>
        </p:spPr>
        <p:txBody>
          <a:bodyPr wrap="none" lIns="0" rIns="0" tIns="0" bIns="0">
            <a:spAutoFit/>
          </a:bodyPr>
          <a:lstStyle/>
          <a:p>
            <a:pPr>
              <a:defRPr sz="2000" b="1">
                <a:solidFill>
                  <a:srgbClr val="15354C"/>
                </a:solidFill>
                <a:latin typeface="DejaVu Sans"/>
              </a:defRPr>
            </a:pPr>
            <a:r>
              <a:t>One prompt /</a:t>
            </a:r>
          </a:p>
        </p:txBody>
      </p:sp>
      <p:sp>
        <p:nvSpPr>
          <p:cNvPr id="10" name="TextBox 9"/>
          <p:cNvSpPr txBox="1"/>
          <p:nvPr/>
        </p:nvSpPr>
        <p:spPr>
          <a:xfrm>
            <a:off x="711200" y="3017520"/>
            <a:ext cx="1371475" cy="401320"/>
          </a:xfrm>
          <a:prstGeom prst="rect">
            <a:avLst/>
          </a:prstGeom>
          <a:noFill/>
        </p:spPr>
        <p:txBody>
          <a:bodyPr wrap="none" lIns="0" rIns="0" tIns="0" bIns="0">
            <a:spAutoFit/>
          </a:bodyPr>
          <a:lstStyle/>
          <a:p>
            <a:pPr>
              <a:defRPr sz="2000" b="1">
                <a:solidFill>
                  <a:srgbClr val="15354C"/>
                </a:solidFill>
                <a:latin typeface="DejaVu Sans"/>
              </a:defRPr>
            </a:pPr>
            <a:r>
              <a:t>checklist</a:t>
            </a:r>
          </a:p>
        </p:txBody>
      </p:sp>
      <p:sp>
        <p:nvSpPr>
          <p:cNvPr id="11" name="TextBox 10"/>
          <p:cNvSpPr txBox="1"/>
          <p:nvPr/>
        </p:nvSpPr>
        <p:spPr>
          <a:xfrm>
            <a:off x="711200" y="3416300"/>
            <a:ext cx="2765034" cy="352552"/>
          </a:xfrm>
          <a:prstGeom prst="rect">
            <a:avLst/>
          </a:prstGeom>
          <a:noFill/>
        </p:spPr>
        <p:txBody>
          <a:bodyPr wrap="none" lIns="0" rIns="0" tIns="0" bIns="0">
            <a:spAutoFit/>
          </a:bodyPr>
          <a:lstStyle/>
          <a:p>
            <a:pPr>
              <a:defRPr sz="1700" b="0">
                <a:solidFill>
                  <a:srgbClr val="52677A"/>
                </a:solidFill>
                <a:latin typeface="DejaVu Sans"/>
              </a:defRPr>
            </a:pPr>
            <a:r>
              <a:t>Low setup cost. A strong</a:t>
            </a:r>
          </a:p>
        </p:txBody>
      </p:sp>
      <p:sp>
        <p:nvSpPr>
          <p:cNvPr id="12" name="TextBox 11"/>
          <p:cNvSpPr txBox="1"/>
          <p:nvPr/>
        </p:nvSpPr>
        <p:spPr>
          <a:xfrm>
            <a:off x="711200" y="3692652"/>
            <a:ext cx="3198942" cy="352552"/>
          </a:xfrm>
          <a:prstGeom prst="rect">
            <a:avLst/>
          </a:prstGeom>
          <a:noFill/>
        </p:spPr>
        <p:txBody>
          <a:bodyPr wrap="none" lIns="0" rIns="0" tIns="0" bIns="0">
            <a:spAutoFit/>
          </a:bodyPr>
          <a:lstStyle/>
          <a:p>
            <a:pPr>
              <a:defRPr sz="1700" b="0">
                <a:solidFill>
                  <a:srgbClr val="52677A"/>
                </a:solidFill>
                <a:latin typeface="DejaVu Sans"/>
              </a:defRPr>
            </a:pPr>
            <a:r>
              <a:t>baseline for occasional short</a:t>
            </a:r>
          </a:p>
        </p:txBody>
      </p:sp>
      <p:sp>
        <p:nvSpPr>
          <p:cNvPr id="13" name="TextBox 12"/>
          <p:cNvSpPr txBox="1"/>
          <p:nvPr/>
        </p:nvSpPr>
        <p:spPr>
          <a:xfrm>
            <a:off x="711200" y="3969004"/>
            <a:ext cx="692689" cy="352552"/>
          </a:xfrm>
          <a:prstGeom prst="rect">
            <a:avLst/>
          </a:prstGeom>
          <a:noFill/>
        </p:spPr>
        <p:txBody>
          <a:bodyPr wrap="none" lIns="0" rIns="0" tIns="0" bIns="0">
            <a:spAutoFit/>
          </a:bodyPr>
          <a:lstStyle/>
          <a:p>
            <a:pPr>
              <a:defRPr sz="1700" b="0">
                <a:solidFill>
                  <a:srgbClr val="52677A"/>
                </a:solidFill>
                <a:latin typeface="DejaVu Sans"/>
              </a:defRPr>
            </a:pPr>
            <a:r>
              <a:t>work.</a:t>
            </a:r>
          </a:p>
        </p:txBody>
      </p:sp>
      <p:sp>
        <p:nvSpPr>
          <p:cNvPr id="14" name="Rounded Rectangle 13"/>
          <p:cNvSpPr/>
          <p:nvPr/>
        </p:nvSpPr>
        <p:spPr>
          <a:xfrm>
            <a:off x="4292600" y="2476500"/>
            <a:ext cx="3606800" cy="2844800"/>
          </a:xfrm>
          <a:prstGeom prst="roundRect">
            <a:avLst>
              <a:gd name="adj" fmla="val 6000"/>
            </a:avLst>
          </a:prstGeom>
          <a:solidFill>
            <a:srgbClr val="F3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92600" y="2476500"/>
            <a:ext cx="63500" cy="2844800"/>
          </a:xfrm>
          <a:prstGeom prst="rect">
            <a:avLst/>
          </a:prstGeom>
          <a:solidFill>
            <a:srgbClr val="08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46600" y="2692400"/>
            <a:ext cx="2291729" cy="401320"/>
          </a:xfrm>
          <a:prstGeom prst="rect">
            <a:avLst/>
          </a:prstGeom>
          <a:noFill/>
        </p:spPr>
        <p:txBody>
          <a:bodyPr wrap="none" lIns="0" rIns="0" tIns="0" bIns="0">
            <a:spAutoFit/>
          </a:bodyPr>
          <a:lstStyle/>
          <a:p>
            <a:pPr>
              <a:defRPr sz="2000" b="1">
                <a:solidFill>
                  <a:srgbClr val="15354C"/>
                </a:solidFill>
                <a:latin typeface="DejaVu Sans"/>
              </a:defRPr>
            </a:pPr>
            <a:r>
              <a:t>File-based loop</a:t>
            </a:r>
          </a:p>
        </p:txBody>
      </p:sp>
      <p:sp>
        <p:nvSpPr>
          <p:cNvPr id="17" name="TextBox 16"/>
          <p:cNvSpPr txBox="1"/>
          <p:nvPr/>
        </p:nvSpPr>
        <p:spPr>
          <a:xfrm>
            <a:off x="4546600" y="3416300"/>
            <a:ext cx="2477870" cy="352552"/>
          </a:xfrm>
          <a:prstGeom prst="rect">
            <a:avLst/>
          </a:prstGeom>
          <a:noFill/>
        </p:spPr>
        <p:txBody>
          <a:bodyPr wrap="none" lIns="0" rIns="0" tIns="0" bIns="0">
            <a:spAutoFit/>
          </a:bodyPr>
          <a:lstStyle/>
          <a:p>
            <a:pPr>
              <a:defRPr sz="1700" b="0">
                <a:solidFill>
                  <a:srgbClr val="52677A"/>
                </a:solidFill>
                <a:latin typeface="DejaVu Sans"/>
              </a:defRPr>
            </a:pPr>
            <a:r>
              <a:t>Durable evidence and</a:t>
            </a:r>
          </a:p>
        </p:txBody>
      </p:sp>
      <p:sp>
        <p:nvSpPr>
          <p:cNvPr id="18" name="TextBox 17"/>
          <p:cNvSpPr txBox="1"/>
          <p:nvPr/>
        </p:nvSpPr>
        <p:spPr>
          <a:xfrm>
            <a:off x="4546600" y="3692652"/>
            <a:ext cx="2570323" cy="352552"/>
          </a:xfrm>
          <a:prstGeom prst="rect">
            <a:avLst/>
          </a:prstGeom>
          <a:noFill/>
        </p:spPr>
        <p:txBody>
          <a:bodyPr wrap="none" lIns="0" rIns="0" tIns="0" bIns="0">
            <a:spAutoFit/>
          </a:bodyPr>
          <a:lstStyle/>
          <a:p>
            <a:pPr>
              <a:defRPr sz="1700" b="0">
                <a:solidFill>
                  <a:srgbClr val="52677A"/>
                </a:solidFill>
                <a:latin typeface="DejaVu Sans"/>
              </a:defRPr>
            </a:pPr>
            <a:r>
              <a:t>repeated checks. More</a:t>
            </a:r>
          </a:p>
        </p:txBody>
      </p:sp>
      <p:sp>
        <p:nvSpPr>
          <p:cNvPr id="19" name="TextBox 18"/>
          <p:cNvSpPr txBox="1"/>
          <p:nvPr/>
        </p:nvSpPr>
        <p:spPr>
          <a:xfrm>
            <a:off x="4546600" y="3969004"/>
            <a:ext cx="2288114" cy="352552"/>
          </a:xfrm>
          <a:prstGeom prst="rect">
            <a:avLst/>
          </a:prstGeom>
          <a:noFill/>
        </p:spPr>
        <p:txBody>
          <a:bodyPr wrap="none" lIns="0" rIns="0" tIns="0" bIns="0">
            <a:spAutoFit/>
          </a:bodyPr>
          <a:lstStyle/>
          <a:p>
            <a:pPr>
              <a:defRPr sz="1700" b="0">
                <a:solidFill>
                  <a:srgbClr val="52677A"/>
                </a:solidFill>
                <a:latin typeface="DejaVu Sans"/>
              </a:defRPr>
            </a:pPr>
            <a:r>
              <a:t>records to maintain.</a:t>
            </a:r>
          </a:p>
        </p:txBody>
      </p:sp>
      <p:sp>
        <p:nvSpPr>
          <p:cNvPr id="20" name="Rounded Rectangle 19"/>
          <p:cNvSpPr/>
          <p:nvPr/>
        </p:nvSpPr>
        <p:spPr>
          <a:xfrm>
            <a:off x="8128000" y="2476500"/>
            <a:ext cx="3606800" cy="2844800"/>
          </a:xfrm>
          <a:prstGeom prst="roundRect">
            <a:avLst>
              <a:gd name="adj" fmla="val 6000"/>
            </a:avLst>
          </a:prstGeom>
          <a:solidFill>
            <a:srgbClr val="F3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28000" y="2476500"/>
            <a:ext cx="63500" cy="2844800"/>
          </a:xfrm>
          <a:prstGeom prst="rect">
            <a:avLst/>
          </a:prstGeom>
          <a:solidFill>
            <a:srgbClr val="08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82000" y="2692400"/>
            <a:ext cx="2526506" cy="401320"/>
          </a:xfrm>
          <a:prstGeom prst="rect">
            <a:avLst/>
          </a:prstGeom>
          <a:noFill/>
        </p:spPr>
        <p:txBody>
          <a:bodyPr wrap="none" lIns="0" rIns="0" tIns="0" bIns="0">
            <a:spAutoFit/>
          </a:bodyPr>
          <a:lstStyle/>
          <a:p>
            <a:pPr>
              <a:defRPr sz="2000" b="1">
                <a:solidFill>
                  <a:srgbClr val="15354C"/>
                </a:solidFill>
                <a:latin typeface="DejaVu Sans"/>
              </a:defRPr>
            </a:pPr>
            <a:r>
              <a:t>Managed service</a:t>
            </a:r>
          </a:p>
        </p:txBody>
      </p:sp>
      <p:sp>
        <p:nvSpPr>
          <p:cNvPr id="23" name="TextBox 22"/>
          <p:cNvSpPr txBox="1"/>
          <p:nvPr/>
        </p:nvSpPr>
        <p:spPr>
          <a:xfrm>
            <a:off x="8382000" y="3416300"/>
            <a:ext cx="3109546" cy="352552"/>
          </a:xfrm>
          <a:prstGeom prst="rect">
            <a:avLst/>
          </a:prstGeom>
          <a:noFill/>
        </p:spPr>
        <p:txBody>
          <a:bodyPr wrap="none" lIns="0" rIns="0" tIns="0" bIns="0">
            <a:spAutoFit/>
          </a:bodyPr>
          <a:lstStyle/>
          <a:p>
            <a:pPr>
              <a:defRPr sz="1700" b="0">
                <a:solidFill>
                  <a:srgbClr val="52677A"/>
                </a:solidFill>
                <a:latin typeface="DejaVu Sans"/>
              </a:defRPr>
            </a:pPr>
            <a:r>
              <a:t>Consider when concurrency</a:t>
            </a:r>
          </a:p>
        </p:txBody>
      </p:sp>
      <p:sp>
        <p:nvSpPr>
          <p:cNvPr id="24" name="TextBox 23"/>
          <p:cNvSpPr txBox="1"/>
          <p:nvPr/>
        </p:nvSpPr>
        <p:spPr>
          <a:xfrm>
            <a:off x="8382000" y="3692652"/>
            <a:ext cx="2771781" cy="352552"/>
          </a:xfrm>
          <a:prstGeom prst="rect">
            <a:avLst/>
          </a:prstGeom>
          <a:noFill/>
        </p:spPr>
        <p:txBody>
          <a:bodyPr wrap="none" lIns="0" rIns="0" tIns="0" bIns="0">
            <a:spAutoFit/>
          </a:bodyPr>
          <a:lstStyle/>
          <a:p>
            <a:pPr>
              <a:defRPr sz="1700" b="0">
                <a:solidFill>
                  <a:srgbClr val="52677A"/>
                </a:solidFill>
                <a:latin typeface="DejaVu Sans"/>
              </a:defRPr>
            </a:pPr>
            <a:r>
              <a:t>or independent approval</a:t>
            </a:r>
          </a:p>
        </p:txBody>
      </p:sp>
      <p:sp>
        <p:nvSpPr>
          <p:cNvPr id="25" name="TextBox 24"/>
          <p:cNvSpPr txBox="1"/>
          <p:nvPr/>
        </p:nvSpPr>
        <p:spPr>
          <a:xfrm>
            <a:off x="8382000" y="3969004"/>
            <a:ext cx="1382346" cy="352552"/>
          </a:xfrm>
          <a:prstGeom prst="rect">
            <a:avLst/>
          </a:prstGeom>
          <a:noFill/>
        </p:spPr>
        <p:txBody>
          <a:bodyPr wrap="none" lIns="0" rIns="0" tIns="0" bIns="0">
            <a:spAutoFit/>
          </a:bodyPr>
          <a:lstStyle/>
          <a:p>
            <a:pPr>
              <a:defRPr sz="1700" b="0">
                <a:solidFill>
                  <a:srgbClr val="52677A"/>
                </a:solidFill>
                <a:latin typeface="DejaVu Sans"/>
              </a:defRPr>
            </a:pPr>
            <a:r>
              <a:t>demands it.</a:t>
            </a:r>
          </a:p>
        </p:txBody>
      </p:sp>
      <p:cxnSp>
        <p:nvCxnSpPr>
          <p:cNvPr id="26" name="Connector 25"/>
          <p:cNvCxnSpPr/>
          <p:nvPr/>
        </p:nvCxnSpPr>
        <p:spPr>
          <a:xfrm>
            <a:off x="457200" y="6477000"/>
            <a:ext cx="11277600" cy="0"/>
          </a:xfrm>
          <a:prstGeom prst="line">
            <a:avLst/>
          </a:prstGeom>
          <a:ln w="8890">
            <a:solidFill>
              <a:srgbClr val="D6E1E5"/>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57200" y="6578600"/>
            <a:ext cx="1780182" cy="206248"/>
          </a:xfrm>
          <a:prstGeom prst="rect">
            <a:avLst/>
          </a:prstGeom>
          <a:noFill/>
        </p:spPr>
        <p:txBody>
          <a:bodyPr wrap="none" lIns="0" rIns="0" tIns="0" bIns="0">
            <a:spAutoFit/>
          </a:bodyPr>
          <a:lstStyle/>
          <a:p>
            <a:pPr>
              <a:defRPr sz="800" b="0">
                <a:solidFill>
                  <a:srgbClr val="52677A"/>
                </a:solidFill>
                <a:latin typeface="DejaVu Sans"/>
              </a:defRPr>
            </a:pPr>
            <a:r>
              <a:t>P4 • choices • Claims: CL7, CL11</a:t>
            </a:r>
          </a:p>
        </p:txBody>
      </p:sp>
      <p:sp>
        <p:nvSpPr>
          <p:cNvPr id="28" name="TextBox 27"/>
          <p:cNvSpPr txBox="1"/>
          <p:nvPr/>
        </p:nvSpPr>
        <p:spPr>
          <a:xfrm>
            <a:off x="11377414" y="6578600"/>
            <a:ext cx="458985" cy="206248"/>
          </a:xfrm>
          <a:prstGeom prst="rect">
            <a:avLst/>
          </a:prstGeom>
          <a:noFill/>
        </p:spPr>
        <p:txBody>
          <a:bodyPr wrap="none" lIns="0" rIns="0" tIns="0" bIns="0">
            <a:spAutoFit/>
          </a:bodyPr>
          <a:lstStyle/>
          <a:p>
            <a:pPr>
              <a:defRPr sz="800" b="0">
                <a:solidFill>
                  <a:srgbClr val="52677A"/>
                </a:solidFill>
                <a:latin typeface="DejaVu Sans"/>
              </a:defRPr>
            </a:pPr>
            <a:r>
              <a:t>04 / 15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88900"/>
          </a:xfrm>
          <a:prstGeom prst="rect">
            <a:avLst/>
          </a:prstGeom>
          <a:solidFill>
            <a:srgbClr val="08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92100"/>
            <a:ext cx="1771246" cy="255015"/>
          </a:xfrm>
          <a:prstGeom prst="rect">
            <a:avLst/>
          </a:prstGeom>
          <a:noFill/>
        </p:spPr>
        <p:txBody>
          <a:bodyPr wrap="none" lIns="0" rIns="0" tIns="0" bIns="0">
            <a:spAutoFit/>
          </a:bodyPr>
          <a:lstStyle/>
          <a:p>
            <a:pPr>
              <a:defRPr sz="1100" b="1">
                <a:solidFill>
                  <a:srgbClr val="087F82"/>
                </a:solidFill>
                <a:latin typeface="DejaVu Sans"/>
              </a:defRPr>
            </a:pPr>
            <a:r>
              <a:t>ARCHITECTURE LOOP</a:t>
            </a:r>
          </a:p>
        </p:txBody>
      </p:sp>
      <p:sp>
        <p:nvSpPr>
          <p:cNvPr id="5" name="TextBox 4"/>
          <p:cNvSpPr txBox="1"/>
          <p:nvPr/>
        </p:nvSpPr>
        <p:spPr>
          <a:xfrm>
            <a:off x="457200" y="558800"/>
            <a:ext cx="7723144" cy="547624"/>
          </a:xfrm>
          <a:prstGeom prst="rect">
            <a:avLst/>
          </a:prstGeom>
          <a:noFill/>
        </p:spPr>
        <p:txBody>
          <a:bodyPr wrap="none" lIns="0" rIns="0" tIns="0" bIns="0">
            <a:spAutoFit/>
          </a:bodyPr>
          <a:lstStyle/>
          <a:p>
            <a:pPr>
              <a:defRPr sz="2900" b="1">
                <a:solidFill>
                  <a:srgbClr val="15354C"/>
                </a:solidFill>
                <a:latin typeface="DejaVu Sans"/>
              </a:defRPr>
            </a:pPr>
            <a:r>
              <a:t>Try to overturn the recommendation</a:t>
            </a:r>
          </a:p>
        </p:txBody>
      </p:sp>
      <p:sp>
        <p:nvSpPr>
          <p:cNvPr id="6" name="TextBox 5"/>
          <p:cNvSpPr txBox="1"/>
          <p:nvPr/>
        </p:nvSpPr>
        <p:spPr>
          <a:xfrm>
            <a:off x="457200" y="1447800"/>
            <a:ext cx="8232204" cy="401320"/>
          </a:xfrm>
          <a:prstGeom prst="rect">
            <a:avLst/>
          </a:prstGeom>
          <a:noFill/>
        </p:spPr>
        <p:txBody>
          <a:bodyPr wrap="none" lIns="0" rIns="0" tIns="0" bIns="0">
            <a:spAutoFit/>
          </a:bodyPr>
          <a:lstStyle/>
          <a:p>
            <a:pPr>
              <a:defRPr sz="2000" b="0">
                <a:solidFill>
                  <a:srgbClr val="52677A"/>
                </a:solidFill>
                <a:latin typeface="DejaVu Sans"/>
              </a:defRPr>
            </a:pPr>
            <a:r>
              <a:t>I define what would change my mind before declaring a winner.</a:t>
            </a:r>
          </a:p>
        </p:txBody>
      </p:sp>
      <p:sp>
        <p:nvSpPr>
          <p:cNvPr id="7" name="Rounded Rectangle 6"/>
          <p:cNvSpPr/>
          <p:nvPr/>
        </p:nvSpPr>
        <p:spPr>
          <a:xfrm>
            <a:off x="457200" y="2476500"/>
            <a:ext cx="3606800" cy="2844800"/>
          </a:xfrm>
          <a:prstGeom prst="roundRect">
            <a:avLst>
              <a:gd name="adj" fmla="val 6000"/>
            </a:avLst>
          </a:prstGeom>
          <a:solidFill>
            <a:srgbClr val="F3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2476500"/>
            <a:ext cx="63500" cy="2844800"/>
          </a:xfrm>
          <a:prstGeom prst="rect">
            <a:avLst/>
          </a:prstGeom>
          <a:solidFill>
            <a:srgbClr val="08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1200" y="2692400"/>
            <a:ext cx="2382266" cy="401320"/>
          </a:xfrm>
          <a:prstGeom prst="rect">
            <a:avLst/>
          </a:prstGeom>
          <a:noFill/>
        </p:spPr>
        <p:txBody>
          <a:bodyPr wrap="none" lIns="0" rIns="0" tIns="0" bIns="0">
            <a:spAutoFit/>
          </a:bodyPr>
          <a:lstStyle/>
          <a:p>
            <a:pPr>
              <a:defRPr sz="2000" b="1">
                <a:solidFill>
                  <a:srgbClr val="15354C"/>
                </a:solidFill>
                <a:latin typeface="DejaVu Sans"/>
              </a:defRPr>
            </a:pPr>
            <a:r>
              <a:t>Value challenge</a:t>
            </a:r>
          </a:p>
        </p:txBody>
      </p:sp>
      <p:sp>
        <p:nvSpPr>
          <p:cNvPr id="10" name="TextBox 9"/>
          <p:cNvSpPr txBox="1"/>
          <p:nvPr/>
        </p:nvSpPr>
        <p:spPr>
          <a:xfrm>
            <a:off x="711200" y="3416300"/>
            <a:ext cx="2821855" cy="352552"/>
          </a:xfrm>
          <a:prstGeom prst="rect">
            <a:avLst/>
          </a:prstGeom>
          <a:noFill/>
        </p:spPr>
        <p:txBody>
          <a:bodyPr wrap="none" lIns="0" rIns="0" tIns="0" bIns="0">
            <a:spAutoFit/>
          </a:bodyPr>
          <a:lstStyle/>
          <a:p>
            <a:pPr>
              <a:defRPr sz="1700" b="0">
                <a:solidFill>
                  <a:srgbClr val="52677A"/>
                </a:solidFill>
                <a:latin typeface="DejaVu Sans"/>
              </a:defRPr>
            </a:pPr>
            <a:r>
              <a:t>If defects do not improve</a:t>
            </a:r>
          </a:p>
        </p:txBody>
      </p:sp>
      <p:sp>
        <p:nvSpPr>
          <p:cNvPr id="11" name="TextBox 10"/>
          <p:cNvSpPr txBox="1"/>
          <p:nvPr/>
        </p:nvSpPr>
        <p:spPr>
          <a:xfrm>
            <a:off x="711200" y="3692652"/>
            <a:ext cx="2958374" cy="352552"/>
          </a:xfrm>
          <a:prstGeom prst="rect">
            <a:avLst/>
          </a:prstGeom>
          <a:noFill/>
        </p:spPr>
        <p:txBody>
          <a:bodyPr wrap="none" lIns="0" rIns="0" tIns="0" bIns="0">
            <a:spAutoFit/>
          </a:bodyPr>
          <a:lstStyle/>
          <a:p>
            <a:pPr>
              <a:defRPr sz="1700" b="0">
                <a:solidFill>
                  <a:srgbClr val="52677A"/>
                </a:solidFill>
                <a:latin typeface="DejaVu Sans"/>
              </a:defRPr>
            </a:pPr>
            <a:r>
              <a:t>and effort rises, prefer the</a:t>
            </a:r>
          </a:p>
        </p:txBody>
      </p:sp>
      <p:sp>
        <p:nvSpPr>
          <p:cNvPr id="12" name="TextBox 11"/>
          <p:cNvSpPr txBox="1"/>
          <p:nvPr/>
        </p:nvSpPr>
        <p:spPr>
          <a:xfrm>
            <a:off x="711200" y="3969004"/>
            <a:ext cx="1119429" cy="352552"/>
          </a:xfrm>
          <a:prstGeom prst="rect">
            <a:avLst/>
          </a:prstGeom>
          <a:noFill/>
        </p:spPr>
        <p:txBody>
          <a:bodyPr wrap="none" lIns="0" rIns="0" tIns="0" bIns="0">
            <a:spAutoFit/>
          </a:bodyPr>
          <a:lstStyle/>
          <a:p>
            <a:pPr>
              <a:defRPr sz="1700" b="0">
                <a:solidFill>
                  <a:srgbClr val="52677A"/>
                </a:solidFill>
                <a:latin typeface="DejaVu Sans"/>
              </a:defRPr>
            </a:pPr>
            <a:r>
              <a:t>checklist.</a:t>
            </a:r>
          </a:p>
        </p:txBody>
      </p:sp>
      <p:sp>
        <p:nvSpPr>
          <p:cNvPr id="13" name="Rounded Rectangle 12"/>
          <p:cNvSpPr/>
          <p:nvPr/>
        </p:nvSpPr>
        <p:spPr>
          <a:xfrm>
            <a:off x="4292600" y="2476500"/>
            <a:ext cx="3606800" cy="2844800"/>
          </a:xfrm>
          <a:prstGeom prst="roundRect">
            <a:avLst>
              <a:gd name="adj" fmla="val 6000"/>
            </a:avLst>
          </a:prstGeom>
          <a:solidFill>
            <a:srgbClr val="F3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92600" y="2476500"/>
            <a:ext cx="63500" cy="2844800"/>
          </a:xfrm>
          <a:prstGeom prst="rect">
            <a:avLst/>
          </a:prstGeom>
          <a:solidFill>
            <a:srgbClr val="08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46600" y="2692400"/>
            <a:ext cx="2927598" cy="401320"/>
          </a:xfrm>
          <a:prstGeom prst="rect">
            <a:avLst/>
          </a:prstGeom>
          <a:noFill/>
        </p:spPr>
        <p:txBody>
          <a:bodyPr wrap="none" lIns="0" rIns="0" tIns="0" bIns="0">
            <a:spAutoFit/>
          </a:bodyPr>
          <a:lstStyle/>
          <a:p>
            <a:pPr>
              <a:defRPr sz="2000" b="1">
                <a:solidFill>
                  <a:srgbClr val="15354C"/>
                </a:solidFill>
                <a:latin typeface="DejaVu Sans"/>
              </a:defRPr>
            </a:pPr>
            <a:r>
              <a:t>Authority challenge</a:t>
            </a:r>
          </a:p>
        </p:txBody>
      </p:sp>
      <p:sp>
        <p:nvSpPr>
          <p:cNvPr id="16" name="TextBox 15"/>
          <p:cNvSpPr txBox="1"/>
          <p:nvPr/>
        </p:nvSpPr>
        <p:spPr>
          <a:xfrm>
            <a:off x="4546600" y="3416300"/>
            <a:ext cx="2208627" cy="352552"/>
          </a:xfrm>
          <a:prstGeom prst="rect">
            <a:avLst/>
          </a:prstGeom>
          <a:noFill/>
        </p:spPr>
        <p:txBody>
          <a:bodyPr wrap="none" lIns="0" rIns="0" tIns="0" bIns="0">
            <a:spAutoFit/>
          </a:bodyPr>
          <a:lstStyle/>
          <a:p>
            <a:pPr>
              <a:defRPr sz="1700" b="0">
                <a:solidFill>
                  <a:srgbClr val="52677A"/>
                </a:solidFill>
                <a:latin typeface="DejaVu Sans"/>
              </a:defRPr>
            </a:pPr>
            <a:r>
              <a:t>If approval must be</a:t>
            </a:r>
          </a:p>
        </p:txBody>
      </p:sp>
      <p:sp>
        <p:nvSpPr>
          <p:cNvPr id="17" name="TextBox 16"/>
          <p:cNvSpPr txBox="1"/>
          <p:nvPr/>
        </p:nvSpPr>
        <p:spPr>
          <a:xfrm>
            <a:off x="4546600" y="3692652"/>
            <a:ext cx="3047454" cy="352552"/>
          </a:xfrm>
          <a:prstGeom prst="rect">
            <a:avLst/>
          </a:prstGeom>
          <a:noFill/>
        </p:spPr>
        <p:txBody>
          <a:bodyPr wrap="none" lIns="0" rIns="0" tIns="0" bIns="0">
            <a:spAutoFit/>
          </a:bodyPr>
          <a:lstStyle/>
          <a:p>
            <a:pPr>
              <a:defRPr sz="1700" b="0">
                <a:solidFill>
                  <a:srgbClr val="52677A"/>
                </a:solidFill>
                <a:latin typeface="DejaVu Sans"/>
              </a:defRPr>
            </a:pPr>
            <a:r>
              <a:t>independent, local writable</a:t>
            </a:r>
          </a:p>
        </p:txBody>
      </p:sp>
      <p:sp>
        <p:nvSpPr>
          <p:cNvPr id="18" name="TextBox 17"/>
          <p:cNvSpPr txBox="1"/>
          <p:nvPr/>
        </p:nvSpPr>
        <p:spPr>
          <a:xfrm>
            <a:off x="4546600" y="3969004"/>
            <a:ext cx="2293807" cy="352552"/>
          </a:xfrm>
          <a:prstGeom prst="rect">
            <a:avLst/>
          </a:prstGeom>
          <a:noFill/>
        </p:spPr>
        <p:txBody>
          <a:bodyPr wrap="none" lIns="0" rIns="0" tIns="0" bIns="0">
            <a:spAutoFit/>
          </a:bodyPr>
          <a:lstStyle/>
          <a:p>
            <a:pPr>
              <a:defRPr sz="1700" b="0">
                <a:solidFill>
                  <a:srgbClr val="52677A"/>
                </a:solidFill>
                <a:latin typeface="DejaVu Sans"/>
              </a:defRPr>
            </a:pPr>
            <a:r>
              <a:t>files are insufficient.</a:t>
            </a:r>
          </a:p>
        </p:txBody>
      </p:sp>
      <p:sp>
        <p:nvSpPr>
          <p:cNvPr id="19" name="Rounded Rectangle 18"/>
          <p:cNvSpPr/>
          <p:nvPr/>
        </p:nvSpPr>
        <p:spPr>
          <a:xfrm>
            <a:off x="8128000" y="2476500"/>
            <a:ext cx="3606800" cy="2844800"/>
          </a:xfrm>
          <a:prstGeom prst="roundRect">
            <a:avLst>
              <a:gd name="adj" fmla="val 6000"/>
            </a:avLst>
          </a:prstGeom>
          <a:solidFill>
            <a:srgbClr val="F3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28000" y="2476500"/>
            <a:ext cx="63500" cy="2844800"/>
          </a:xfrm>
          <a:prstGeom prst="rect">
            <a:avLst/>
          </a:prstGeom>
          <a:solidFill>
            <a:srgbClr val="08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82000" y="2692400"/>
            <a:ext cx="3082875" cy="401320"/>
          </a:xfrm>
          <a:prstGeom prst="rect">
            <a:avLst/>
          </a:prstGeom>
          <a:noFill/>
        </p:spPr>
        <p:txBody>
          <a:bodyPr wrap="none" lIns="0" rIns="0" tIns="0" bIns="0">
            <a:spAutoFit/>
          </a:bodyPr>
          <a:lstStyle/>
          <a:p>
            <a:pPr>
              <a:defRPr sz="2000" b="1">
                <a:solidFill>
                  <a:srgbClr val="15354C"/>
                </a:solidFill>
                <a:latin typeface="DejaVu Sans"/>
              </a:defRPr>
            </a:pPr>
            <a:r>
              <a:t>Portability challenge</a:t>
            </a:r>
          </a:p>
        </p:txBody>
      </p:sp>
      <p:sp>
        <p:nvSpPr>
          <p:cNvPr id="22" name="TextBox 21"/>
          <p:cNvSpPr txBox="1"/>
          <p:nvPr/>
        </p:nvSpPr>
        <p:spPr>
          <a:xfrm>
            <a:off x="8382000" y="3416300"/>
            <a:ext cx="2988946" cy="352552"/>
          </a:xfrm>
          <a:prstGeom prst="rect">
            <a:avLst/>
          </a:prstGeom>
          <a:noFill/>
        </p:spPr>
        <p:txBody>
          <a:bodyPr wrap="none" lIns="0" rIns="0" tIns="0" bIns="0">
            <a:spAutoFit/>
          </a:bodyPr>
          <a:lstStyle/>
          <a:p>
            <a:pPr>
              <a:defRPr sz="1700" b="0">
                <a:solidFill>
                  <a:srgbClr val="52677A"/>
                </a:solidFill>
                <a:latin typeface="DejaVu Sans"/>
              </a:defRPr>
            </a:pPr>
            <a:r>
              <a:t>If the selected host cannot</a:t>
            </a:r>
          </a:p>
        </p:txBody>
      </p:sp>
      <p:sp>
        <p:nvSpPr>
          <p:cNvPr id="23" name="TextBox 22"/>
          <p:cNvSpPr txBox="1"/>
          <p:nvPr/>
        </p:nvSpPr>
        <p:spPr>
          <a:xfrm>
            <a:off x="8382000" y="3692652"/>
            <a:ext cx="2986205" cy="352552"/>
          </a:xfrm>
          <a:prstGeom prst="rect">
            <a:avLst/>
          </a:prstGeom>
          <a:noFill/>
        </p:spPr>
        <p:txBody>
          <a:bodyPr wrap="none" lIns="0" rIns="0" tIns="0" bIns="0">
            <a:spAutoFit/>
          </a:bodyPr>
          <a:lstStyle/>
          <a:p>
            <a:pPr>
              <a:defRPr sz="1700" b="0">
                <a:solidFill>
                  <a:srgbClr val="52677A"/>
                </a:solidFill>
                <a:latin typeface="DejaVu Sans"/>
              </a:defRPr>
            </a:pPr>
            <a:r>
              <a:t>resume and export, fix the</a:t>
            </a:r>
          </a:p>
        </p:txBody>
      </p:sp>
      <p:sp>
        <p:nvSpPr>
          <p:cNvPr id="24" name="TextBox 23"/>
          <p:cNvSpPr txBox="1"/>
          <p:nvPr/>
        </p:nvSpPr>
        <p:spPr>
          <a:xfrm>
            <a:off x="8382000" y="3969004"/>
            <a:ext cx="2482930" cy="352552"/>
          </a:xfrm>
          <a:prstGeom prst="rect">
            <a:avLst/>
          </a:prstGeom>
          <a:noFill/>
        </p:spPr>
        <p:txBody>
          <a:bodyPr wrap="none" lIns="0" rIns="0" tIns="0" bIns="0">
            <a:spAutoFit/>
          </a:bodyPr>
          <a:lstStyle/>
          <a:p>
            <a:pPr>
              <a:defRPr sz="1700" b="0">
                <a:solidFill>
                  <a:srgbClr val="52677A"/>
                </a:solidFill>
                <a:latin typeface="DejaVu Sans"/>
              </a:defRPr>
            </a:pPr>
            <a:r>
              <a:t>adapter or narrow the</a:t>
            </a:r>
          </a:p>
        </p:txBody>
      </p:sp>
      <p:sp>
        <p:nvSpPr>
          <p:cNvPr id="25" name="TextBox 24"/>
          <p:cNvSpPr txBox="1"/>
          <p:nvPr/>
        </p:nvSpPr>
        <p:spPr>
          <a:xfrm>
            <a:off x="8382000" y="4245356"/>
            <a:ext cx="751513" cy="352552"/>
          </a:xfrm>
          <a:prstGeom prst="rect">
            <a:avLst/>
          </a:prstGeom>
          <a:noFill/>
        </p:spPr>
        <p:txBody>
          <a:bodyPr wrap="none" lIns="0" rIns="0" tIns="0" bIns="0">
            <a:spAutoFit/>
          </a:bodyPr>
          <a:lstStyle/>
          <a:p>
            <a:pPr>
              <a:defRPr sz="1700" b="0">
                <a:solidFill>
                  <a:srgbClr val="52677A"/>
                </a:solidFill>
                <a:latin typeface="DejaVu Sans"/>
              </a:defRPr>
            </a:pPr>
            <a:r>
              <a:t>claim.</a:t>
            </a:r>
          </a:p>
        </p:txBody>
      </p:sp>
      <p:cxnSp>
        <p:nvCxnSpPr>
          <p:cNvPr id="26" name="Connector 25"/>
          <p:cNvCxnSpPr/>
          <p:nvPr/>
        </p:nvCxnSpPr>
        <p:spPr>
          <a:xfrm>
            <a:off x="457200" y="6477000"/>
            <a:ext cx="11277600" cy="0"/>
          </a:xfrm>
          <a:prstGeom prst="line">
            <a:avLst/>
          </a:prstGeom>
          <a:ln w="8890">
            <a:solidFill>
              <a:srgbClr val="D6E1E5"/>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57200" y="6578600"/>
            <a:ext cx="2036960" cy="206248"/>
          </a:xfrm>
          <a:prstGeom prst="rect">
            <a:avLst/>
          </a:prstGeom>
          <a:noFill/>
        </p:spPr>
        <p:txBody>
          <a:bodyPr wrap="none" lIns="0" rIns="0" tIns="0" bIns="0">
            <a:spAutoFit/>
          </a:bodyPr>
          <a:lstStyle/>
          <a:p>
            <a:pPr>
              <a:defRPr sz="800" b="0">
                <a:solidFill>
                  <a:srgbClr val="52677A"/>
                </a:solidFill>
                <a:latin typeface="DejaVu Sans"/>
              </a:defRPr>
            </a:pPr>
            <a:r>
              <a:t>P5 • choices • Claims: CL7, CL8, CL11</a:t>
            </a:r>
          </a:p>
        </p:txBody>
      </p:sp>
      <p:sp>
        <p:nvSpPr>
          <p:cNvPr id="28" name="TextBox 27"/>
          <p:cNvSpPr txBox="1"/>
          <p:nvPr/>
        </p:nvSpPr>
        <p:spPr>
          <a:xfrm>
            <a:off x="11377414" y="6578600"/>
            <a:ext cx="458985" cy="206248"/>
          </a:xfrm>
          <a:prstGeom prst="rect">
            <a:avLst/>
          </a:prstGeom>
          <a:noFill/>
        </p:spPr>
        <p:txBody>
          <a:bodyPr wrap="none" lIns="0" rIns="0" tIns="0" bIns="0">
            <a:spAutoFit/>
          </a:bodyPr>
          <a:lstStyle/>
          <a:p>
            <a:pPr>
              <a:defRPr sz="800" b="0">
                <a:solidFill>
                  <a:srgbClr val="52677A"/>
                </a:solidFill>
                <a:latin typeface="DejaVu Sans"/>
              </a:defRPr>
            </a:pPr>
            <a:r>
              <a:t>05 / 15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88900"/>
          </a:xfrm>
          <a:prstGeom prst="rect">
            <a:avLst/>
          </a:prstGeom>
          <a:solidFill>
            <a:srgbClr val="08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92100"/>
            <a:ext cx="1771246" cy="255015"/>
          </a:xfrm>
          <a:prstGeom prst="rect">
            <a:avLst/>
          </a:prstGeom>
          <a:noFill/>
        </p:spPr>
        <p:txBody>
          <a:bodyPr wrap="none" lIns="0" rIns="0" tIns="0" bIns="0">
            <a:spAutoFit/>
          </a:bodyPr>
          <a:lstStyle/>
          <a:p>
            <a:pPr>
              <a:defRPr sz="1100" b="1">
                <a:solidFill>
                  <a:srgbClr val="087F82"/>
                </a:solidFill>
                <a:latin typeface="DejaVu Sans"/>
              </a:defRPr>
            </a:pPr>
            <a:r>
              <a:t>ARCHITECTURE LOOP</a:t>
            </a:r>
          </a:p>
        </p:txBody>
      </p:sp>
      <p:sp>
        <p:nvSpPr>
          <p:cNvPr id="5" name="TextBox 4"/>
          <p:cNvSpPr txBox="1"/>
          <p:nvPr/>
        </p:nvSpPr>
        <p:spPr>
          <a:xfrm>
            <a:off x="457200" y="558800"/>
            <a:ext cx="10375695" cy="547624"/>
          </a:xfrm>
          <a:prstGeom prst="rect">
            <a:avLst/>
          </a:prstGeom>
          <a:noFill/>
        </p:spPr>
        <p:txBody>
          <a:bodyPr wrap="none" lIns="0" rIns="0" tIns="0" bIns="0">
            <a:spAutoFit/>
          </a:bodyPr>
          <a:lstStyle/>
          <a:p>
            <a:pPr>
              <a:defRPr sz="2900" b="1">
                <a:solidFill>
                  <a:srgbClr val="15354C"/>
                </a:solidFill>
                <a:latin typeface="DejaVu Sans"/>
              </a:defRPr>
            </a:pPr>
            <a:r>
              <a:t>The host does the thinking; the kit keeps records</a:t>
            </a:r>
          </a:p>
        </p:txBody>
      </p:sp>
      <p:sp>
        <p:nvSpPr>
          <p:cNvPr id="6" name="Rectangle 5"/>
          <p:cNvSpPr/>
          <p:nvPr/>
        </p:nvSpPr>
        <p:spPr>
          <a:xfrm>
            <a:off x="2286000" y="1206500"/>
            <a:ext cx="7620000" cy="4826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40000" y="1308100"/>
            <a:ext cx="1965666" cy="274320"/>
          </a:xfrm>
          <a:prstGeom prst="rect">
            <a:avLst/>
          </a:prstGeom>
          <a:noFill/>
        </p:spPr>
        <p:txBody>
          <a:bodyPr wrap="none" lIns="0" rIns="0" tIns="0" bIns="0">
            <a:spAutoFit/>
          </a:bodyPr>
          <a:lstStyle/>
          <a:p>
            <a:pPr>
              <a:defRPr sz="1300" b="1">
                <a:solidFill>
                  <a:srgbClr val="12324A"/>
                </a:solidFill>
                <a:latin typeface="DejaVu Sans"/>
              </a:defRPr>
            </a:pPr>
            <a:r>
              <a:t>C1 · System context</a:t>
            </a:r>
          </a:p>
        </p:txBody>
      </p:sp>
      <p:sp>
        <p:nvSpPr>
          <p:cNvPr id="8" name="TextBox 7"/>
          <p:cNvSpPr txBox="1"/>
          <p:nvPr/>
        </p:nvSpPr>
        <p:spPr>
          <a:xfrm>
            <a:off x="2540000" y="1581150"/>
            <a:ext cx="1825531" cy="205740"/>
          </a:xfrm>
          <a:prstGeom prst="rect">
            <a:avLst/>
          </a:prstGeom>
          <a:noFill/>
        </p:spPr>
        <p:txBody>
          <a:bodyPr wrap="none" lIns="0" rIns="0" tIns="0" bIns="0">
            <a:spAutoFit/>
          </a:bodyPr>
          <a:lstStyle/>
          <a:p>
            <a:pPr>
              <a:defRPr sz="850" b="0">
                <a:solidFill>
                  <a:srgbClr val="52677A"/>
                </a:solidFill>
                <a:latin typeface="DejaVu Sans"/>
              </a:defRPr>
            </a:pPr>
            <a:r>
              <a:t>Scope: Architecture Loop · Loop</a:t>
            </a:r>
          </a:p>
        </p:txBody>
      </p:sp>
      <p:cxnSp>
        <p:nvCxnSpPr>
          <p:cNvPr id="9" name="Connector 8"/>
          <p:cNvCxnSpPr/>
          <p:nvPr/>
        </p:nvCxnSpPr>
        <p:spPr>
          <a:xfrm>
            <a:off x="5207000" y="2603500"/>
            <a:ext cx="1778000" cy="0"/>
          </a:xfrm>
          <a:prstGeom prst="line">
            <a:avLst/>
          </a:prstGeom>
          <a:ln w="12700">
            <a:solidFill>
              <a:srgbClr val="60758B"/>
            </a:solidFill>
            <a:tailEnd type="triangle"/>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8255000" y="3111500"/>
            <a:ext cx="0" cy="1047750"/>
          </a:xfrm>
          <a:prstGeom prst="line">
            <a:avLst/>
          </a:prstGeom>
          <a:ln w="12700">
            <a:solidFill>
              <a:srgbClr val="60758B"/>
            </a:solidFill>
            <a:tailEnd type="triangle"/>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4999892" y="3111500"/>
            <a:ext cx="2192215" cy="1047750"/>
          </a:xfrm>
          <a:prstGeom prst="line">
            <a:avLst/>
          </a:prstGeom>
          <a:ln w="12700">
            <a:solidFill>
              <a:srgbClr val="60758B"/>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3937000" y="3111500"/>
            <a:ext cx="0" cy="1047750"/>
          </a:xfrm>
          <a:prstGeom prst="line">
            <a:avLst/>
          </a:prstGeom>
          <a:ln w="12700">
            <a:solidFill>
              <a:srgbClr val="60758B"/>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667000" y="2095500"/>
            <a:ext cx="2540000" cy="1016000"/>
          </a:xfrm>
          <a:prstGeom prst="roundRect">
            <a:avLst>
              <a:gd name="adj" fmla="val 6000"/>
            </a:avLst>
          </a:prstGeom>
          <a:solidFill>
            <a:srgbClr val="596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8600" y="2139950"/>
            <a:ext cx="957064" cy="198120"/>
          </a:xfrm>
          <a:prstGeom prst="rect">
            <a:avLst/>
          </a:prstGeom>
          <a:noFill/>
        </p:spPr>
        <p:txBody>
          <a:bodyPr wrap="none" lIns="0" rIns="0" tIns="0" bIns="0">
            <a:spAutoFit/>
          </a:bodyPr>
          <a:lstStyle/>
          <a:p>
            <a:pPr>
              <a:defRPr sz="800" b="0">
                <a:solidFill>
                  <a:srgbClr val="DFEDF7"/>
                </a:solidFill>
                <a:latin typeface="DejaVu Sans"/>
              </a:defRPr>
            </a:pPr>
            <a:r>
              <a:t>PERSON · Author</a:t>
            </a:r>
          </a:p>
        </p:txBody>
      </p:sp>
      <p:sp>
        <p:nvSpPr>
          <p:cNvPr id="15" name="TextBox 14"/>
          <p:cNvSpPr txBox="1"/>
          <p:nvPr/>
        </p:nvSpPr>
        <p:spPr>
          <a:xfrm>
            <a:off x="2768600" y="2254250"/>
            <a:ext cx="1797794" cy="259079"/>
          </a:xfrm>
          <a:prstGeom prst="rect">
            <a:avLst/>
          </a:prstGeom>
          <a:noFill/>
        </p:spPr>
        <p:txBody>
          <a:bodyPr wrap="none" lIns="0" rIns="0" tIns="0" bIns="0">
            <a:spAutoFit/>
          </a:bodyPr>
          <a:lstStyle/>
          <a:p>
            <a:pPr>
              <a:defRPr sz="1200" b="1">
                <a:solidFill>
                  <a:srgbClr val="FFFFFF"/>
                </a:solidFill>
                <a:latin typeface="DejaVu Sans"/>
              </a:defRPr>
            </a:pPr>
            <a:r>
              <a:t>Architecture author</a:t>
            </a:r>
          </a:p>
        </p:txBody>
      </p:sp>
      <p:sp>
        <p:nvSpPr>
          <p:cNvPr id="16" name="TextBox 15"/>
          <p:cNvSpPr txBox="1"/>
          <p:nvPr/>
        </p:nvSpPr>
        <p:spPr>
          <a:xfrm>
            <a:off x="2768600" y="2451100"/>
            <a:ext cx="2073386" cy="228600"/>
          </a:xfrm>
          <a:prstGeom prst="rect">
            <a:avLst/>
          </a:prstGeom>
          <a:noFill/>
        </p:spPr>
        <p:txBody>
          <a:bodyPr wrap="none" lIns="0" rIns="0" tIns="0" bIns="0">
            <a:spAutoFit/>
          </a:bodyPr>
          <a:lstStyle/>
          <a:p>
            <a:pPr>
              <a:defRPr sz="1000" b="0">
                <a:solidFill>
                  <a:srgbClr val="FFFFFF"/>
                </a:solidFill>
                <a:latin typeface="DejaVu Sans"/>
              </a:defRPr>
            </a:pPr>
            <a:r>
              <a:t>Owns the decision and reviews</a:t>
            </a:r>
          </a:p>
        </p:txBody>
      </p:sp>
      <p:sp>
        <p:nvSpPr>
          <p:cNvPr id="17" name="TextBox 16"/>
          <p:cNvSpPr txBox="1"/>
          <p:nvPr/>
        </p:nvSpPr>
        <p:spPr>
          <a:xfrm>
            <a:off x="2768600" y="2603500"/>
            <a:ext cx="586655" cy="228600"/>
          </a:xfrm>
          <a:prstGeom prst="rect">
            <a:avLst/>
          </a:prstGeom>
          <a:noFill/>
        </p:spPr>
        <p:txBody>
          <a:bodyPr wrap="none" lIns="0" rIns="0" tIns="0" bIns="0">
            <a:spAutoFit/>
          </a:bodyPr>
          <a:lstStyle/>
          <a:p>
            <a:pPr>
              <a:defRPr sz="1000" b="0">
                <a:solidFill>
                  <a:srgbClr val="FFFFFF"/>
                </a:solidFill>
                <a:latin typeface="DejaVu Sans"/>
              </a:defRPr>
            </a:pPr>
            <a:r>
              <a:t>outputs</a:t>
            </a:r>
          </a:p>
        </p:txBody>
      </p:sp>
      <p:sp>
        <p:nvSpPr>
          <p:cNvPr id="18" name="Rounded Rectangle 17"/>
          <p:cNvSpPr/>
          <p:nvPr/>
        </p:nvSpPr>
        <p:spPr>
          <a:xfrm>
            <a:off x="6985000" y="2095500"/>
            <a:ext cx="2540000" cy="1016000"/>
          </a:xfrm>
          <a:prstGeom prst="roundRect">
            <a:avLst>
              <a:gd name="adj" fmla="val 6000"/>
            </a:avLst>
          </a:prstGeom>
          <a:solidFill>
            <a:srgbClr val="596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86600" y="2139950"/>
            <a:ext cx="962570" cy="198120"/>
          </a:xfrm>
          <a:prstGeom prst="rect">
            <a:avLst/>
          </a:prstGeom>
          <a:noFill/>
        </p:spPr>
        <p:txBody>
          <a:bodyPr wrap="none" lIns="0" rIns="0" tIns="0" bIns="0">
            <a:spAutoFit/>
          </a:bodyPr>
          <a:lstStyle/>
          <a:p>
            <a:pPr>
              <a:defRPr sz="800" b="0">
                <a:solidFill>
                  <a:srgbClr val="DFEDF7"/>
                </a:solidFill>
                <a:latin typeface="DejaVu Sans"/>
              </a:defRPr>
            </a:pPr>
            <a:r>
              <a:t>EXTERNAL · Host</a:t>
            </a:r>
          </a:p>
        </p:txBody>
      </p:sp>
      <p:sp>
        <p:nvSpPr>
          <p:cNvPr id="20" name="TextBox 19"/>
          <p:cNvSpPr txBox="1"/>
          <p:nvPr/>
        </p:nvSpPr>
        <p:spPr>
          <a:xfrm>
            <a:off x="7086600" y="2254250"/>
            <a:ext cx="1047105" cy="259079"/>
          </a:xfrm>
          <a:prstGeom prst="rect">
            <a:avLst/>
          </a:prstGeom>
          <a:noFill/>
        </p:spPr>
        <p:txBody>
          <a:bodyPr wrap="none" lIns="0" rIns="0" tIns="0" bIns="0">
            <a:spAutoFit/>
          </a:bodyPr>
          <a:lstStyle/>
          <a:p>
            <a:pPr>
              <a:defRPr sz="1200" b="1">
                <a:solidFill>
                  <a:srgbClr val="FFFFFF"/>
                </a:solidFill>
                <a:latin typeface="DejaVu Sans"/>
              </a:defRPr>
            </a:pPr>
            <a:r>
              <a:t>Host agent</a:t>
            </a:r>
          </a:p>
        </p:txBody>
      </p:sp>
      <p:sp>
        <p:nvSpPr>
          <p:cNvPr id="21" name="TextBox 20"/>
          <p:cNvSpPr txBox="1"/>
          <p:nvPr/>
        </p:nvSpPr>
        <p:spPr>
          <a:xfrm>
            <a:off x="7086600" y="2451100"/>
            <a:ext cx="1871352" cy="228600"/>
          </a:xfrm>
          <a:prstGeom prst="rect">
            <a:avLst/>
          </a:prstGeom>
          <a:noFill/>
        </p:spPr>
        <p:txBody>
          <a:bodyPr wrap="none" lIns="0" rIns="0" tIns="0" bIns="0">
            <a:spAutoFit/>
          </a:bodyPr>
          <a:lstStyle/>
          <a:p>
            <a:pPr>
              <a:defRPr sz="1000" b="0">
                <a:solidFill>
                  <a:srgbClr val="FFFFFF"/>
                </a:solidFill>
                <a:latin typeface="DejaVu Sans"/>
              </a:defRPr>
            </a:pPr>
            <a:r>
              <a:t>Researches, designs, writes</a:t>
            </a:r>
          </a:p>
        </p:txBody>
      </p:sp>
      <p:sp>
        <p:nvSpPr>
          <p:cNvPr id="22" name="TextBox 21"/>
          <p:cNvSpPr txBox="1"/>
          <p:nvPr/>
        </p:nvSpPr>
        <p:spPr>
          <a:xfrm>
            <a:off x="7086600" y="2603500"/>
            <a:ext cx="869863" cy="228600"/>
          </a:xfrm>
          <a:prstGeom prst="rect">
            <a:avLst/>
          </a:prstGeom>
          <a:noFill/>
        </p:spPr>
        <p:txBody>
          <a:bodyPr wrap="none" lIns="0" rIns="0" tIns="0" bIns="0">
            <a:spAutoFit/>
          </a:bodyPr>
          <a:lstStyle/>
          <a:p>
            <a:pPr>
              <a:defRPr sz="1000" b="0">
                <a:solidFill>
                  <a:srgbClr val="FFFFFF"/>
                </a:solidFill>
                <a:latin typeface="DejaVu Sans"/>
              </a:defRPr>
            </a:pPr>
            <a:r>
              <a:t>and reviews</a:t>
            </a:r>
          </a:p>
        </p:txBody>
      </p:sp>
      <p:sp>
        <p:nvSpPr>
          <p:cNvPr id="23" name="Rounded Rectangle 22"/>
          <p:cNvSpPr/>
          <p:nvPr/>
        </p:nvSpPr>
        <p:spPr>
          <a:xfrm>
            <a:off x="2667000" y="4159250"/>
            <a:ext cx="2540000" cy="1016000"/>
          </a:xfrm>
          <a:prstGeom prst="roundRect">
            <a:avLst>
              <a:gd name="adj" fmla="val 6000"/>
            </a:avLst>
          </a:prstGeom>
          <a:solidFill>
            <a:srgbClr val="173B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768600" y="4203700"/>
            <a:ext cx="848866" cy="198120"/>
          </a:xfrm>
          <a:prstGeom prst="rect">
            <a:avLst/>
          </a:prstGeom>
          <a:noFill/>
        </p:spPr>
        <p:txBody>
          <a:bodyPr wrap="none" lIns="0" rIns="0" tIns="0" bIns="0">
            <a:spAutoFit/>
          </a:bodyPr>
          <a:lstStyle/>
          <a:p>
            <a:pPr>
              <a:defRPr sz="800" b="0">
                <a:solidFill>
                  <a:srgbClr val="DFEDF7"/>
                </a:solidFill>
                <a:latin typeface="DejaVu Sans"/>
              </a:defRPr>
            </a:pPr>
            <a:r>
              <a:t>SYSTEM · Loop</a:t>
            </a:r>
          </a:p>
        </p:txBody>
      </p:sp>
      <p:sp>
        <p:nvSpPr>
          <p:cNvPr id="25" name="TextBox 24"/>
          <p:cNvSpPr txBox="1"/>
          <p:nvPr/>
        </p:nvSpPr>
        <p:spPr>
          <a:xfrm>
            <a:off x="2768600" y="4318000"/>
            <a:ext cx="1640854" cy="259079"/>
          </a:xfrm>
          <a:prstGeom prst="rect">
            <a:avLst/>
          </a:prstGeom>
          <a:noFill/>
        </p:spPr>
        <p:txBody>
          <a:bodyPr wrap="none" lIns="0" rIns="0" tIns="0" bIns="0">
            <a:spAutoFit/>
          </a:bodyPr>
          <a:lstStyle/>
          <a:p>
            <a:pPr>
              <a:defRPr sz="1200" b="1">
                <a:solidFill>
                  <a:srgbClr val="FFFFFF"/>
                </a:solidFill>
                <a:latin typeface="DejaVu Sans"/>
              </a:defRPr>
            </a:pPr>
            <a:r>
              <a:t>Architecture Loop</a:t>
            </a:r>
          </a:p>
        </p:txBody>
      </p:sp>
      <p:sp>
        <p:nvSpPr>
          <p:cNvPr id="26" name="TextBox 25"/>
          <p:cNvSpPr txBox="1"/>
          <p:nvPr/>
        </p:nvSpPr>
        <p:spPr>
          <a:xfrm>
            <a:off x="2768600" y="4514850"/>
            <a:ext cx="1761653" cy="228600"/>
          </a:xfrm>
          <a:prstGeom prst="rect">
            <a:avLst/>
          </a:prstGeom>
          <a:noFill/>
        </p:spPr>
        <p:txBody>
          <a:bodyPr wrap="none" lIns="0" rIns="0" tIns="0" bIns="0">
            <a:spAutoFit/>
          </a:bodyPr>
          <a:lstStyle/>
          <a:p>
            <a:pPr>
              <a:defRPr sz="1000" b="0">
                <a:solidFill>
                  <a:srgbClr val="FFFFFF"/>
                </a:solidFill>
                <a:latin typeface="DejaVu Sans"/>
              </a:defRPr>
            </a:pPr>
            <a:r>
              <a:t>Coordinates evidence and</a:t>
            </a:r>
          </a:p>
        </p:txBody>
      </p:sp>
      <p:sp>
        <p:nvSpPr>
          <p:cNvPr id="27" name="TextBox 26"/>
          <p:cNvSpPr txBox="1"/>
          <p:nvPr/>
        </p:nvSpPr>
        <p:spPr>
          <a:xfrm>
            <a:off x="2768600" y="4667250"/>
            <a:ext cx="1322052" cy="228600"/>
          </a:xfrm>
          <a:prstGeom prst="rect">
            <a:avLst/>
          </a:prstGeom>
          <a:noFill/>
        </p:spPr>
        <p:txBody>
          <a:bodyPr wrap="none" lIns="0" rIns="0" tIns="0" bIns="0">
            <a:spAutoFit/>
          </a:bodyPr>
          <a:lstStyle/>
          <a:p>
            <a:pPr>
              <a:defRPr sz="1000" b="0">
                <a:solidFill>
                  <a:srgbClr val="FFFFFF"/>
                </a:solidFill>
                <a:latin typeface="DejaVu Sans"/>
              </a:defRPr>
            </a:pPr>
            <a:r>
              <a:t>publication records</a:t>
            </a:r>
          </a:p>
        </p:txBody>
      </p:sp>
      <p:sp>
        <p:nvSpPr>
          <p:cNvPr id="28" name="Rounded Rectangle 27"/>
          <p:cNvSpPr/>
          <p:nvPr/>
        </p:nvSpPr>
        <p:spPr>
          <a:xfrm>
            <a:off x="6985000" y="4159250"/>
            <a:ext cx="2540000" cy="1016000"/>
          </a:xfrm>
          <a:prstGeom prst="roundRect">
            <a:avLst>
              <a:gd name="adj" fmla="val 6000"/>
            </a:avLst>
          </a:prstGeom>
          <a:solidFill>
            <a:srgbClr val="596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086600" y="4203700"/>
            <a:ext cx="1135360" cy="198120"/>
          </a:xfrm>
          <a:prstGeom prst="rect">
            <a:avLst/>
          </a:prstGeom>
          <a:noFill/>
        </p:spPr>
        <p:txBody>
          <a:bodyPr wrap="none" lIns="0" rIns="0" tIns="0" bIns="0">
            <a:spAutoFit/>
          </a:bodyPr>
          <a:lstStyle/>
          <a:p>
            <a:pPr>
              <a:defRPr sz="800" b="0">
                <a:solidFill>
                  <a:srgbClr val="DFEDF7"/>
                </a:solidFill>
                <a:latin typeface="DejaVu Sans"/>
              </a:defRPr>
            </a:pPr>
            <a:r>
              <a:t>EXTERNAL · Sources</a:t>
            </a:r>
          </a:p>
        </p:txBody>
      </p:sp>
      <p:sp>
        <p:nvSpPr>
          <p:cNvPr id="30" name="TextBox 29"/>
          <p:cNvSpPr txBox="1"/>
          <p:nvPr/>
        </p:nvSpPr>
        <p:spPr>
          <a:xfrm>
            <a:off x="7086600" y="4318000"/>
            <a:ext cx="1493366" cy="259079"/>
          </a:xfrm>
          <a:prstGeom prst="rect">
            <a:avLst/>
          </a:prstGeom>
          <a:noFill/>
        </p:spPr>
        <p:txBody>
          <a:bodyPr wrap="none" lIns="0" rIns="0" tIns="0" bIns="0">
            <a:spAutoFit/>
          </a:bodyPr>
          <a:lstStyle/>
          <a:p>
            <a:pPr>
              <a:defRPr sz="1200" b="1">
                <a:solidFill>
                  <a:srgbClr val="FFFFFF"/>
                </a:solidFill>
                <a:latin typeface="DejaVu Sans"/>
              </a:defRPr>
            </a:pPr>
            <a:r>
              <a:t>Primary sources</a:t>
            </a:r>
          </a:p>
        </p:txBody>
      </p:sp>
      <p:sp>
        <p:nvSpPr>
          <p:cNvPr id="31" name="TextBox 30"/>
          <p:cNvSpPr txBox="1"/>
          <p:nvPr/>
        </p:nvSpPr>
        <p:spPr>
          <a:xfrm>
            <a:off x="7086600" y="4514850"/>
            <a:ext cx="1472741" cy="228600"/>
          </a:xfrm>
          <a:prstGeom prst="rect">
            <a:avLst/>
          </a:prstGeom>
          <a:noFill/>
        </p:spPr>
        <p:txBody>
          <a:bodyPr wrap="none" lIns="0" rIns="0" tIns="0" bIns="0">
            <a:spAutoFit/>
          </a:bodyPr>
          <a:lstStyle/>
          <a:p>
            <a:pPr>
              <a:defRPr sz="1000" b="0">
                <a:solidFill>
                  <a:srgbClr val="FFFFFF"/>
                </a:solidFill>
                <a:latin typeface="DejaVu Sans"/>
              </a:defRPr>
            </a:pPr>
            <a:r>
              <a:t>Provide evidence and</a:t>
            </a:r>
          </a:p>
        </p:txBody>
      </p:sp>
      <p:sp>
        <p:nvSpPr>
          <p:cNvPr id="32" name="TextBox 31"/>
          <p:cNvSpPr txBox="1"/>
          <p:nvPr/>
        </p:nvSpPr>
        <p:spPr>
          <a:xfrm>
            <a:off x="7086600" y="4667250"/>
            <a:ext cx="1166031" cy="228600"/>
          </a:xfrm>
          <a:prstGeom prst="rect">
            <a:avLst/>
          </a:prstGeom>
          <a:noFill/>
        </p:spPr>
        <p:txBody>
          <a:bodyPr wrap="none" lIns="0" rIns="0" tIns="0" bIns="0">
            <a:spAutoFit/>
          </a:bodyPr>
          <a:lstStyle/>
          <a:p>
            <a:pPr>
              <a:defRPr sz="1000" b="0">
                <a:solidFill>
                  <a:srgbClr val="FFFFFF"/>
                </a:solidFill>
                <a:latin typeface="DejaVu Sans"/>
              </a:defRPr>
            </a:pPr>
            <a:r>
              <a:t>counterevidence</a:t>
            </a:r>
          </a:p>
        </p:txBody>
      </p:sp>
      <p:sp>
        <p:nvSpPr>
          <p:cNvPr id="33" name="Rounded Rectangle 32"/>
          <p:cNvSpPr/>
          <p:nvPr/>
        </p:nvSpPr>
        <p:spPr>
          <a:xfrm>
            <a:off x="5530850" y="2444750"/>
            <a:ext cx="1130300" cy="1651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643317" y="2438400"/>
            <a:ext cx="1006964" cy="182880"/>
          </a:xfrm>
          <a:prstGeom prst="rect">
            <a:avLst/>
          </a:prstGeom>
          <a:noFill/>
        </p:spPr>
        <p:txBody>
          <a:bodyPr wrap="none" lIns="0" rIns="0" tIns="0" bIns="0">
            <a:spAutoFit/>
          </a:bodyPr>
          <a:lstStyle/>
          <a:p>
            <a:pPr>
              <a:defRPr sz="700" b="0">
                <a:solidFill>
                  <a:srgbClr val="344F63"/>
                </a:solidFill>
                <a:latin typeface="DejaVu Sans"/>
              </a:defRPr>
            </a:pPr>
            <a:r>
              <a:t>Defines the decision</a:t>
            </a:r>
          </a:p>
        </p:txBody>
      </p:sp>
      <p:sp>
        <p:nvSpPr>
          <p:cNvPr id="35" name="Rounded Rectangle 34"/>
          <p:cNvSpPr/>
          <p:nvPr/>
        </p:nvSpPr>
        <p:spPr>
          <a:xfrm>
            <a:off x="7588250" y="3524250"/>
            <a:ext cx="1333500" cy="2794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93276" y="3517900"/>
            <a:ext cx="1225047" cy="182880"/>
          </a:xfrm>
          <a:prstGeom prst="rect">
            <a:avLst/>
          </a:prstGeom>
          <a:noFill/>
        </p:spPr>
        <p:txBody>
          <a:bodyPr wrap="none" lIns="0" rIns="0" tIns="0" bIns="0">
            <a:spAutoFit/>
          </a:bodyPr>
          <a:lstStyle/>
          <a:p>
            <a:pPr>
              <a:defRPr sz="700" b="0">
                <a:solidFill>
                  <a:srgbClr val="344F63"/>
                </a:solidFill>
                <a:latin typeface="DejaVu Sans"/>
              </a:defRPr>
            </a:pPr>
            <a:r>
              <a:t>Retrieves supporting and</a:t>
            </a:r>
          </a:p>
        </p:txBody>
      </p:sp>
      <p:sp>
        <p:nvSpPr>
          <p:cNvPr id="37" name="TextBox 36"/>
          <p:cNvSpPr txBox="1"/>
          <p:nvPr/>
        </p:nvSpPr>
        <p:spPr>
          <a:xfrm>
            <a:off x="7852019" y="3632200"/>
            <a:ext cx="907560" cy="182880"/>
          </a:xfrm>
          <a:prstGeom prst="rect">
            <a:avLst/>
          </a:prstGeom>
          <a:noFill/>
        </p:spPr>
        <p:txBody>
          <a:bodyPr wrap="none" lIns="0" rIns="0" tIns="0" bIns="0">
            <a:spAutoFit/>
          </a:bodyPr>
          <a:lstStyle/>
          <a:p>
            <a:pPr>
              <a:defRPr sz="700" b="0">
                <a:solidFill>
                  <a:srgbClr val="344F63"/>
                </a:solidFill>
                <a:latin typeface="DejaVu Sans"/>
              </a:defRPr>
            </a:pPr>
            <a:r>
              <a:t>contrary evidence</a:t>
            </a:r>
          </a:p>
        </p:txBody>
      </p:sp>
      <p:sp>
        <p:nvSpPr>
          <p:cNvPr id="38" name="Rounded Rectangle 37"/>
          <p:cNvSpPr/>
          <p:nvPr/>
        </p:nvSpPr>
        <p:spPr>
          <a:xfrm>
            <a:off x="5219700" y="3683000"/>
            <a:ext cx="1689100" cy="1651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366615" y="3676650"/>
            <a:ext cx="1496869" cy="182880"/>
          </a:xfrm>
          <a:prstGeom prst="rect">
            <a:avLst/>
          </a:prstGeom>
          <a:noFill/>
        </p:spPr>
        <p:txBody>
          <a:bodyPr wrap="none" lIns="0" rIns="0" tIns="0" bIns="0">
            <a:spAutoFit/>
          </a:bodyPr>
          <a:lstStyle/>
          <a:p>
            <a:pPr>
              <a:defRPr sz="700" b="0">
                <a:solidFill>
                  <a:srgbClr val="344F63"/>
                </a:solidFill>
                <a:latin typeface="DejaVu Sans"/>
              </a:defRPr>
            </a:pPr>
            <a:r>
              <a:t>Creates and evaluates artifacts</a:t>
            </a:r>
          </a:p>
        </p:txBody>
      </p:sp>
      <p:sp>
        <p:nvSpPr>
          <p:cNvPr id="40" name="Rounded Rectangle 39"/>
          <p:cNvSpPr/>
          <p:nvPr/>
        </p:nvSpPr>
        <p:spPr>
          <a:xfrm>
            <a:off x="3143250" y="3587750"/>
            <a:ext cx="1587500" cy="2794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248914" y="3581400"/>
            <a:ext cx="1477770" cy="182880"/>
          </a:xfrm>
          <a:prstGeom prst="rect">
            <a:avLst/>
          </a:prstGeom>
          <a:noFill/>
        </p:spPr>
        <p:txBody>
          <a:bodyPr wrap="none" lIns="0" rIns="0" tIns="0" bIns="0">
            <a:spAutoFit/>
          </a:bodyPr>
          <a:lstStyle/>
          <a:p>
            <a:pPr>
              <a:defRPr sz="700" b="0">
                <a:solidFill>
                  <a:srgbClr val="344F63"/>
                </a:solidFill>
                <a:latin typeface="DejaVu Sans"/>
              </a:defRPr>
            </a:pPr>
            <a:r>
              <a:t>Provides reviewable paper and</a:t>
            </a:r>
          </a:p>
        </p:txBody>
      </p:sp>
      <p:sp>
        <p:nvSpPr>
          <p:cNvPr id="42" name="TextBox 41"/>
          <p:cNvSpPr txBox="1"/>
          <p:nvPr/>
        </p:nvSpPr>
        <p:spPr>
          <a:xfrm>
            <a:off x="3831257" y="3695700"/>
            <a:ext cx="313084" cy="182880"/>
          </a:xfrm>
          <a:prstGeom prst="rect">
            <a:avLst/>
          </a:prstGeom>
          <a:noFill/>
        </p:spPr>
        <p:txBody>
          <a:bodyPr wrap="none" lIns="0" rIns="0" tIns="0" bIns="0">
            <a:spAutoFit/>
          </a:bodyPr>
          <a:lstStyle/>
          <a:p>
            <a:pPr>
              <a:defRPr sz="700" b="0">
                <a:solidFill>
                  <a:srgbClr val="344F63"/>
                </a:solidFill>
                <a:latin typeface="DejaVu Sans"/>
              </a:defRPr>
            </a:pPr>
            <a:r>
              <a:t>deck</a:t>
            </a:r>
          </a:p>
        </p:txBody>
      </p:sp>
      <p:sp>
        <p:nvSpPr>
          <p:cNvPr id="43" name="TextBox 42"/>
          <p:cNvSpPr txBox="1"/>
          <p:nvPr/>
        </p:nvSpPr>
        <p:spPr>
          <a:xfrm>
            <a:off x="2540000" y="5473700"/>
            <a:ext cx="5045012" cy="182880"/>
          </a:xfrm>
          <a:prstGeom prst="rect">
            <a:avLst/>
          </a:prstGeom>
          <a:noFill/>
        </p:spPr>
        <p:txBody>
          <a:bodyPr wrap="none" lIns="0" rIns="0" tIns="0" bIns="0">
            <a:spAutoFit/>
          </a:bodyPr>
          <a:lstStyle/>
          <a:p>
            <a:pPr>
              <a:defRPr sz="700" b="0">
                <a:solidFill>
                  <a:srgbClr val="52677A"/>
                </a:solidFill>
                <a:latin typeface="DejaVu Sans"/>
              </a:defRPr>
            </a:pPr>
            <a:r>
              <a:t>Person = accountable author. Dark blue = kit. Gray = external systems. Arrows describe directed interactions.</a:t>
            </a:r>
          </a:p>
        </p:txBody>
      </p:sp>
      <p:sp>
        <p:nvSpPr>
          <p:cNvPr id="44" name="TextBox 43"/>
          <p:cNvSpPr txBox="1"/>
          <p:nvPr/>
        </p:nvSpPr>
        <p:spPr>
          <a:xfrm>
            <a:off x="457200" y="5981700"/>
            <a:ext cx="7020433" cy="320040"/>
          </a:xfrm>
          <a:prstGeom prst="rect">
            <a:avLst/>
          </a:prstGeom>
          <a:noFill/>
        </p:spPr>
        <p:txBody>
          <a:bodyPr wrap="none" lIns="0" rIns="0" tIns="0" bIns="0">
            <a:spAutoFit/>
          </a:bodyPr>
          <a:lstStyle/>
          <a:p>
            <a:pPr>
              <a:defRPr sz="1500" b="1">
                <a:solidFill>
                  <a:srgbClr val="15354C"/>
                </a:solidFill>
                <a:latin typeface="DejaVu Sans"/>
              </a:defRPr>
            </a:pPr>
            <a:r>
              <a:t>C1 makes the boundary and the author’s accountability explicit.</a:t>
            </a:r>
          </a:p>
        </p:txBody>
      </p:sp>
      <p:cxnSp>
        <p:nvCxnSpPr>
          <p:cNvPr id="45" name="Connector 44"/>
          <p:cNvCxnSpPr/>
          <p:nvPr/>
        </p:nvCxnSpPr>
        <p:spPr>
          <a:xfrm>
            <a:off x="457200" y="6477000"/>
            <a:ext cx="11277600" cy="0"/>
          </a:xfrm>
          <a:prstGeom prst="line">
            <a:avLst/>
          </a:prstGeom>
          <a:ln w="8890">
            <a:solidFill>
              <a:srgbClr val="D6E1E5"/>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457200" y="6578600"/>
            <a:ext cx="1952823" cy="206248"/>
          </a:xfrm>
          <a:prstGeom prst="rect">
            <a:avLst/>
          </a:prstGeom>
          <a:noFill/>
        </p:spPr>
        <p:txBody>
          <a:bodyPr wrap="none" lIns="0" rIns="0" tIns="0" bIns="0">
            <a:spAutoFit/>
          </a:bodyPr>
          <a:lstStyle/>
          <a:p>
            <a:pPr>
              <a:defRPr sz="800" b="0">
                <a:solidFill>
                  <a:srgbClr val="52677A"/>
                </a:solidFill>
                <a:latin typeface="DejaVu Sans"/>
              </a:defRPr>
            </a:pPr>
            <a:r>
              <a:t>P6 • architecture • Claims: CL1, CL9</a:t>
            </a:r>
          </a:p>
        </p:txBody>
      </p:sp>
      <p:sp>
        <p:nvSpPr>
          <p:cNvPr id="47" name="TextBox 46"/>
          <p:cNvSpPr txBox="1"/>
          <p:nvPr/>
        </p:nvSpPr>
        <p:spPr>
          <a:xfrm>
            <a:off x="11377414" y="6578600"/>
            <a:ext cx="458985" cy="206248"/>
          </a:xfrm>
          <a:prstGeom prst="rect">
            <a:avLst/>
          </a:prstGeom>
          <a:noFill/>
        </p:spPr>
        <p:txBody>
          <a:bodyPr wrap="none" lIns="0" rIns="0" tIns="0" bIns="0">
            <a:spAutoFit/>
          </a:bodyPr>
          <a:lstStyle/>
          <a:p>
            <a:pPr>
              <a:defRPr sz="800" b="0">
                <a:solidFill>
                  <a:srgbClr val="52677A"/>
                </a:solidFill>
                <a:latin typeface="DejaVu Sans"/>
              </a:defRPr>
            </a:pPr>
            <a:r>
              <a:t>06 / 15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88900"/>
          </a:xfrm>
          <a:prstGeom prst="rect">
            <a:avLst/>
          </a:prstGeom>
          <a:solidFill>
            <a:srgbClr val="08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92100"/>
            <a:ext cx="1771246" cy="255015"/>
          </a:xfrm>
          <a:prstGeom prst="rect">
            <a:avLst/>
          </a:prstGeom>
          <a:noFill/>
        </p:spPr>
        <p:txBody>
          <a:bodyPr wrap="none" lIns="0" rIns="0" tIns="0" bIns="0">
            <a:spAutoFit/>
          </a:bodyPr>
          <a:lstStyle/>
          <a:p>
            <a:pPr>
              <a:defRPr sz="1100" b="1">
                <a:solidFill>
                  <a:srgbClr val="087F82"/>
                </a:solidFill>
                <a:latin typeface="DejaVu Sans"/>
              </a:defRPr>
            </a:pPr>
            <a:r>
              <a:t>ARCHITECTURE LOOP</a:t>
            </a:r>
          </a:p>
        </p:txBody>
      </p:sp>
      <p:sp>
        <p:nvSpPr>
          <p:cNvPr id="5" name="TextBox 4"/>
          <p:cNvSpPr txBox="1"/>
          <p:nvPr/>
        </p:nvSpPr>
        <p:spPr>
          <a:xfrm>
            <a:off x="457200" y="558800"/>
            <a:ext cx="9241122" cy="547624"/>
          </a:xfrm>
          <a:prstGeom prst="rect">
            <a:avLst/>
          </a:prstGeom>
          <a:noFill/>
        </p:spPr>
        <p:txBody>
          <a:bodyPr wrap="none" lIns="0" rIns="0" tIns="0" bIns="0">
            <a:spAutoFit/>
          </a:bodyPr>
          <a:lstStyle/>
          <a:p>
            <a:pPr>
              <a:defRPr sz="2900" b="1">
                <a:solidFill>
                  <a:srgbClr val="15354C"/>
                </a:solidFill>
                <a:latin typeface="DejaVu Sans"/>
              </a:defRPr>
            </a:pPr>
            <a:r>
              <a:t>Three local containers keep the kit portable</a:t>
            </a:r>
          </a:p>
        </p:txBody>
      </p:sp>
      <p:sp>
        <p:nvSpPr>
          <p:cNvPr id="6" name="Rectangle 5"/>
          <p:cNvSpPr/>
          <p:nvPr/>
        </p:nvSpPr>
        <p:spPr>
          <a:xfrm>
            <a:off x="2476500" y="1206500"/>
            <a:ext cx="7239000" cy="4826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17800" y="1302385"/>
            <a:ext cx="3696551" cy="264414"/>
          </a:xfrm>
          <a:prstGeom prst="rect">
            <a:avLst/>
          </a:prstGeom>
          <a:noFill/>
        </p:spPr>
        <p:txBody>
          <a:bodyPr wrap="none" lIns="0" rIns="0" tIns="0" bIns="0">
            <a:spAutoFit/>
          </a:bodyPr>
          <a:lstStyle/>
          <a:p>
            <a:pPr>
              <a:defRPr sz="1235" b="1">
                <a:solidFill>
                  <a:srgbClr val="12324A"/>
                </a:solidFill>
                <a:latin typeface="DejaVu Sans"/>
              </a:defRPr>
            </a:pPr>
            <a:r>
              <a:t>C2 · Containers within Architecture Loop</a:t>
            </a:r>
          </a:p>
        </p:txBody>
      </p:sp>
      <p:sp>
        <p:nvSpPr>
          <p:cNvPr id="8" name="TextBox 7"/>
          <p:cNvSpPr txBox="1"/>
          <p:nvPr/>
        </p:nvSpPr>
        <p:spPr>
          <a:xfrm>
            <a:off x="2717800" y="1561782"/>
            <a:ext cx="1739335" cy="199263"/>
          </a:xfrm>
          <a:prstGeom prst="rect">
            <a:avLst/>
          </a:prstGeom>
          <a:noFill/>
        </p:spPr>
        <p:txBody>
          <a:bodyPr wrap="none" lIns="0" rIns="0" tIns="0" bIns="0">
            <a:spAutoFit/>
          </a:bodyPr>
          <a:lstStyle/>
          <a:p>
            <a:pPr>
              <a:defRPr sz="807" b="0">
                <a:solidFill>
                  <a:srgbClr val="52677A"/>
                </a:solidFill>
                <a:latin typeface="DejaVu Sans"/>
              </a:defRPr>
            </a:pPr>
            <a:r>
              <a:t>Scope: Architecture Loop · Loop</a:t>
            </a:r>
          </a:p>
        </p:txBody>
      </p:sp>
      <p:sp>
        <p:nvSpPr>
          <p:cNvPr id="9" name="Rounded Rectangle 8"/>
          <p:cNvSpPr/>
          <p:nvPr/>
        </p:nvSpPr>
        <p:spPr>
          <a:xfrm>
            <a:off x="5058409" y="1942464"/>
            <a:ext cx="4518342" cy="3498850"/>
          </a:xfrm>
          <a:prstGeom prst="roundRect">
            <a:avLst>
              <a:gd name="adj" fmla="val 6000"/>
            </a:avLst>
          </a:prstGeom>
          <a:solidFill>
            <a:srgbClr val="F4F8FA"/>
          </a:solidFill>
          <a:ln w="8890">
            <a:solidFill>
              <a:srgbClr val="849A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42865" y="1978025"/>
            <a:ext cx="1401915" cy="184785"/>
          </a:xfrm>
          <a:prstGeom prst="rect">
            <a:avLst/>
          </a:prstGeom>
          <a:noFill/>
        </p:spPr>
        <p:txBody>
          <a:bodyPr wrap="none" lIns="0" rIns="0" tIns="0" bIns="0">
            <a:spAutoFit/>
          </a:bodyPr>
          <a:lstStyle/>
          <a:p>
            <a:pPr>
              <a:defRPr sz="712" b="0">
                <a:solidFill>
                  <a:srgbClr val="536C80"/>
                </a:solidFill>
                <a:latin typeface="DejaVu Sans"/>
              </a:defRPr>
            </a:pPr>
            <a:r>
              <a:t>Boundary: Architecture Loop</a:t>
            </a:r>
          </a:p>
        </p:txBody>
      </p:sp>
      <p:cxnSp>
        <p:nvCxnSpPr>
          <p:cNvPr id="11" name="Connector 10"/>
          <p:cNvCxnSpPr/>
          <p:nvPr/>
        </p:nvCxnSpPr>
        <p:spPr>
          <a:xfrm>
            <a:off x="4316412" y="3016250"/>
            <a:ext cx="422275" cy="0"/>
          </a:xfrm>
          <a:prstGeom prst="line">
            <a:avLst/>
          </a:prstGeom>
          <a:ln w="12065">
            <a:solidFill>
              <a:srgbClr val="60758B"/>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4738687" y="2702560"/>
            <a:ext cx="0" cy="313690"/>
          </a:xfrm>
          <a:prstGeom prst="line">
            <a:avLst/>
          </a:prstGeom>
          <a:ln w="12065">
            <a:solidFill>
              <a:srgbClr val="60758B"/>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4738687" y="2702560"/>
            <a:ext cx="452438" cy="0"/>
          </a:xfrm>
          <a:prstGeom prst="line">
            <a:avLst/>
          </a:prstGeom>
          <a:ln w="12065">
            <a:solidFill>
              <a:srgbClr val="60758B"/>
            </a:solidFill>
            <a:tailEnd type="triangle"/>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3489960" y="3921125"/>
            <a:ext cx="0" cy="874712"/>
          </a:xfrm>
          <a:prstGeom prst="line">
            <a:avLst/>
          </a:prstGeom>
          <a:ln w="12065">
            <a:solidFill>
              <a:srgbClr val="60758B"/>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3489960" y="4795837"/>
            <a:ext cx="2636202" cy="0"/>
          </a:xfrm>
          <a:prstGeom prst="line">
            <a:avLst/>
          </a:prstGeom>
          <a:ln w="12065">
            <a:solidFill>
              <a:srgbClr val="60758B"/>
            </a:solidFill>
            <a:tailEnd type="triangle"/>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3483927" y="1839912"/>
            <a:ext cx="0" cy="1025525"/>
          </a:xfrm>
          <a:prstGeom prst="line">
            <a:avLst/>
          </a:prstGeom>
          <a:ln w="12065">
            <a:solidFill>
              <a:srgbClr val="60758B"/>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3483927" y="1839912"/>
            <a:ext cx="4964748" cy="0"/>
          </a:xfrm>
          <a:prstGeom prst="line">
            <a:avLst/>
          </a:prstGeom>
          <a:ln w="12065">
            <a:solidFill>
              <a:srgbClr val="60758B"/>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8448675" y="1839912"/>
            <a:ext cx="0" cy="331788"/>
          </a:xfrm>
          <a:prstGeom prst="line">
            <a:avLst/>
          </a:prstGeom>
          <a:ln w="12065">
            <a:solidFill>
              <a:srgbClr val="60758B"/>
            </a:solidFill>
            <a:tailEnd type="triangle"/>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430174" y="3227387"/>
            <a:ext cx="668349" cy="1055688"/>
          </a:xfrm>
          <a:prstGeom prst="line">
            <a:avLst/>
          </a:prstGeom>
          <a:ln w="12065">
            <a:solidFill>
              <a:srgbClr val="60758B"/>
            </a:solidFill>
            <a:tailEnd type="triangle"/>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7673997" y="3227387"/>
            <a:ext cx="516452" cy="1055688"/>
          </a:xfrm>
          <a:prstGeom prst="line">
            <a:avLst/>
          </a:prstGeom>
          <a:ln w="12065">
            <a:solidFill>
              <a:srgbClr val="60758B"/>
            </a:solidFill>
            <a:tailEnd type="triangle"/>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2657475" y="2865437"/>
            <a:ext cx="1658937" cy="1055687"/>
          </a:xfrm>
          <a:prstGeom prst="roundRect">
            <a:avLst>
              <a:gd name="adj" fmla="val 6000"/>
            </a:avLst>
          </a:prstGeom>
          <a:solidFill>
            <a:srgbClr val="596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53995" y="2907030"/>
            <a:ext cx="919522" cy="192024"/>
          </a:xfrm>
          <a:prstGeom prst="rect">
            <a:avLst/>
          </a:prstGeom>
          <a:noFill/>
        </p:spPr>
        <p:txBody>
          <a:bodyPr wrap="none" lIns="0" rIns="0" tIns="0" bIns="0">
            <a:spAutoFit/>
          </a:bodyPr>
          <a:lstStyle/>
          <a:p>
            <a:pPr>
              <a:defRPr sz="760" b="0">
                <a:solidFill>
                  <a:srgbClr val="DFEDF7"/>
                </a:solidFill>
                <a:latin typeface="DejaVu Sans"/>
              </a:defRPr>
            </a:pPr>
            <a:r>
              <a:t>EXTERNAL · Host</a:t>
            </a:r>
          </a:p>
        </p:txBody>
      </p:sp>
      <p:sp>
        <p:nvSpPr>
          <p:cNvPr id="23" name="TextBox 22"/>
          <p:cNvSpPr txBox="1"/>
          <p:nvPr/>
        </p:nvSpPr>
        <p:spPr>
          <a:xfrm>
            <a:off x="2753995" y="3015615"/>
            <a:ext cx="999829" cy="249936"/>
          </a:xfrm>
          <a:prstGeom prst="rect">
            <a:avLst/>
          </a:prstGeom>
          <a:noFill/>
        </p:spPr>
        <p:txBody>
          <a:bodyPr wrap="none" lIns="0" rIns="0" tIns="0" bIns="0">
            <a:spAutoFit/>
          </a:bodyPr>
          <a:lstStyle/>
          <a:p>
            <a:pPr>
              <a:defRPr sz="1139" b="1">
                <a:solidFill>
                  <a:srgbClr val="FFFFFF"/>
                </a:solidFill>
                <a:latin typeface="DejaVu Sans"/>
              </a:defRPr>
            </a:pPr>
            <a:r>
              <a:t>Host agent</a:t>
            </a:r>
          </a:p>
        </p:txBody>
      </p:sp>
      <p:sp>
        <p:nvSpPr>
          <p:cNvPr id="24" name="TextBox 23"/>
          <p:cNvSpPr txBox="1"/>
          <p:nvPr/>
        </p:nvSpPr>
        <p:spPr>
          <a:xfrm>
            <a:off x="2753995" y="3202622"/>
            <a:ext cx="1378322" cy="220979"/>
          </a:xfrm>
          <a:prstGeom prst="rect">
            <a:avLst/>
          </a:prstGeom>
          <a:noFill/>
        </p:spPr>
        <p:txBody>
          <a:bodyPr wrap="none" lIns="0" rIns="0" tIns="0" bIns="0">
            <a:spAutoFit/>
          </a:bodyPr>
          <a:lstStyle/>
          <a:p>
            <a:pPr>
              <a:defRPr sz="950" b="0">
                <a:solidFill>
                  <a:srgbClr val="FFFFFF"/>
                </a:solidFill>
                <a:latin typeface="DejaVu Sans"/>
              </a:defRPr>
            </a:pPr>
            <a:r>
              <a:t>Researches, designs,</a:t>
            </a:r>
          </a:p>
        </p:txBody>
      </p:sp>
      <p:sp>
        <p:nvSpPr>
          <p:cNvPr id="25" name="TextBox 24"/>
          <p:cNvSpPr txBox="1"/>
          <p:nvPr/>
        </p:nvSpPr>
        <p:spPr>
          <a:xfrm>
            <a:off x="2753995" y="3347402"/>
            <a:ext cx="1235992" cy="220979"/>
          </a:xfrm>
          <a:prstGeom prst="rect">
            <a:avLst/>
          </a:prstGeom>
          <a:noFill/>
        </p:spPr>
        <p:txBody>
          <a:bodyPr wrap="none" lIns="0" rIns="0" tIns="0" bIns="0">
            <a:spAutoFit/>
          </a:bodyPr>
          <a:lstStyle/>
          <a:p>
            <a:pPr>
              <a:defRPr sz="950" b="0">
                <a:solidFill>
                  <a:srgbClr val="FFFFFF"/>
                </a:solidFill>
                <a:latin typeface="DejaVu Sans"/>
              </a:defRPr>
            </a:pPr>
            <a:r>
              <a:t>writes and reviews</a:t>
            </a:r>
          </a:p>
        </p:txBody>
      </p:sp>
      <p:sp>
        <p:nvSpPr>
          <p:cNvPr id="26" name="Rounded Rectangle 25"/>
          <p:cNvSpPr/>
          <p:nvPr/>
        </p:nvSpPr>
        <p:spPr>
          <a:xfrm>
            <a:off x="5191125" y="2171700"/>
            <a:ext cx="1809750" cy="1055687"/>
          </a:xfrm>
          <a:prstGeom prst="roundRect">
            <a:avLst>
              <a:gd name="adj" fmla="val 6000"/>
            </a:avLst>
          </a:prstGeom>
          <a:solidFill>
            <a:srgbClr val="2563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287645" y="2213292"/>
            <a:ext cx="1112562" cy="192024"/>
          </a:xfrm>
          <a:prstGeom prst="rect">
            <a:avLst/>
          </a:prstGeom>
          <a:noFill/>
        </p:spPr>
        <p:txBody>
          <a:bodyPr wrap="none" lIns="0" rIns="0" tIns="0" bIns="0">
            <a:spAutoFit/>
          </a:bodyPr>
          <a:lstStyle/>
          <a:p>
            <a:pPr>
              <a:defRPr sz="760" b="0">
                <a:solidFill>
                  <a:srgbClr val="DFEDF7"/>
                </a:solidFill>
                <a:latin typeface="DejaVu Sans"/>
              </a:defRPr>
            </a:pPr>
            <a:r>
              <a:t>CONTAINER · Runner</a:t>
            </a:r>
          </a:p>
        </p:txBody>
      </p:sp>
      <p:sp>
        <p:nvSpPr>
          <p:cNvPr id="28" name="TextBox 27"/>
          <p:cNvSpPr txBox="1"/>
          <p:nvPr/>
        </p:nvSpPr>
        <p:spPr>
          <a:xfrm>
            <a:off x="5287645" y="2321877"/>
            <a:ext cx="1527131" cy="249936"/>
          </a:xfrm>
          <a:prstGeom prst="rect">
            <a:avLst/>
          </a:prstGeom>
          <a:noFill/>
        </p:spPr>
        <p:txBody>
          <a:bodyPr wrap="none" lIns="0" rIns="0" tIns="0" bIns="0">
            <a:spAutoFit/>
          </a:bodyPr>
          <a:lstStyle/>
          <a:p>
            <a:pPr>
              <a:defRPr sz="1139" b="1">
                <a:solidFill>
                  <a:srgbClr val="FFFFFF"/>
                </a:solidFill>
                <a:latin typeface="DejaVu Sans"/>
              </a:defRPr>
            </a:pPr>
            <a:r>
              <a:t>Local coordinator</a:t>
            </a:r>
          </a:p>
        </p:txBody>
      </p:sp>
      <p:sp>
        <p:nvSpPr>
          <p:cNvPr id="29" name="TextBox 28"/>
          <p:cNvSpPr txBox="1"/>
          <p:nvPr/>
        </p:nvSpPr>
        <p:spPr>
          <a:xfrm>
            <a:off x="5287645" y="2508885"/>
            <a:ext cx="1304683" cy="220979"/>
          </a:xfrm>
          <a:prstGeom prst="rect">
            <a:avLst/>
          </a:prstGeom>
          <a:noFill/>
        </p:spPr>
        <p:txBody>
          <a:bodyPr wrap="none" lIns="0" rIns="0" tIns="0" bIns="0">
            <a:spAutoFit/>
          </a:bodyPr>
          <a:lstStyle/>
          <a:p>
            <a:pPr>
              <a:defRPr sz="950" b="0">
                <a:solidFill>
                  <a:srgbClr val="FFFFFF"/>
                </a:solidFill>
                <a:latin typeface="DejaVu Sans"/>
              </a:defRPr>
            </a:pPr>
            <a:r>
              <a:t>Controls stages and</a:t>
            </a:r>
          </a:p>
        </p:txBody>
      </p:sp>
      <p:sp>
        <p:nvSpPr>
          <p:cNvPr id="30" name="TextBox 29"/>
          <p:cNvSpPr txBox="1"/>
          <p:nvPr/>
        </p:nvSpPr>
        <p:spPr>
          <a:xfrm>
            <a:off x="5287645" y="2653665"/>
            <a:ext cx="1347629" cy="220979"/>
          </a:xfrm>
          <a:prstGeom prst="rect">
            <a:avLst/>
          </a:prstGeom>
          <a:noFill/>
        </p:spPr>
        <p:txBody>
          <a:bodyPr wrap="none" lIns="0" rIns="0" tIns="0" bIns="0">
            <a:spAutoFit/>
          </a:bodyPr>
          <a:lstStyle/>
          <a:p>
            <a:pPr>
              <a:defRPr sz="950" b="0">
                <a:solidFill>
                  <a:srgbClr val="FFFFFF"/>
                </a:solidFill>
                <a:latin typeface="DejaVu Sans"/>
              </a:defRPr>
            </a:pPr>
            <a:r>
              <a:t>checks prerequisites</a:t>
            </a:r>
          </a:p>
        </p:txBody>
      </p:sp>
      <p:sp>
        <p:nvSpPr>
          <p:cNvPr id="31" name="TextBox 30"/>
          <p:cNvSpPr txBox="1"/>
          <p:nvPr/>
        </p:nvSpPr>
        <p:spPr>
          <a:xfrm>
            <a:off x="5287645" y="2834640"/>
            <a:ext cx="1181087" cy="192024"/>
          </a:xfrm>
          <a:prstGeom prst="rect">
            <a:avLst/>
          </a:prstGeom>
          <a:noFill/>
        </p:spPr>
        <p:txBody>
          <a:bodyPr wrap="none" lIns="0" rIns="0" tIns="0" bIns="0">
            <a:spAutoFit/>
          </a:bodyPr>
          <a:lstStyle/>
          <a:p>
            <a:pPr>
              <a:defRPr sz="760" b="0">
                <a:solidFill>
                  <a:srgbClr val="DFEDF7"/>
                </a:solidFill>
                <a:latin typeface="DejaVu Sans"/>
              </a:defRPr>
            </a:pPr>
            <a:r>
              <a:t>Python 3.10+; loop.py</a:t>
            </a:r>
          </a:p>
        </p:txBody>
      </p:sp>
      <p:sp>
        <p:nvSpPr>
          <p:cNvPr id="32" name="Rounded Rectangle 31"/>
          <p:cNvSpPr/>
          <p:nvPr/>
        </p:nvSpPr>
        <p:spPr>
          <a:xfrm>
            <a:off x="7453312" y="2171700"/>
            <a:ext cx="1990725" cy="1055687"/>
          </a:xfrm>
          <a:prstGeom prst="roundRect">
            <a:avLst>
              <a:gd name="adj" fmla="val 6000"/>
            </a:avLst>
          </a:prstGeom>
          <a:solidFill>
            <a:srgbClr val="2563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549832" y="2213292"/>
            <a:ext cx="1207715" cy="192024"/>
          </a:xfrm>
          <a:prstGeom prst="rect">
            <a:avLst/>
          </a:prstGeom>
          <a:noFill/>
        </p:spPr>
        <p:txBody>
          <a:bodyPr wrap="none" lIns="0" rIns="0" tIns="0" bIns="0">
            <a:spAutoFit/>
          </a:bodyPr>
          <a:lstStyle/>
          <a:p>
            <a:pPr>
              <a:defRPr sz="760" b="0">
                <a:solidFill>
                  <a:srgbClr val="DFEDF7"/>
                </a:solidFill>
                <a:latin typeface="DejaVu Sans"/>
              </a:defRPr>
            </a:pPr>
            <a:r>
              <a:t>CONTAINER · Publisher</a:t>
            </a:r>
          </a:p>
        </p:txBody>
      </p:sp>
      <p:sp>
        <p:nvSpPr>
          <p:cNvPr id="34" name="TextBox 33"/>
          <p:cNvSpPr txBox="1"/>
          <p:nvPr/>
        </p:nvSpPr>
        <p:spPr>
          <a:xfrm>
            <a:off x="7549832" y="2321877"/>
            <a:ext cx="1784455" cy="249936"/>
          </a:xfrm>
          <a:prstGeom prst="rect">
            <a:avLst/>
          </a:prstGeom>
          <a:noFill/>
        </p:spPr>
        <p:txBody>
          <a:bodyPr wrap="none" lIns="0" rIns="0" tIns="0" bIns="0">
            <a:spAutoFit/>
          </a:bodyPr>
          <a:lstStyle/>
          <a:p>
            <a:pPr>
              <a:defRPr sz="1139" b="1">
                <a:solidFill>
                  <a:srgbClr val="FFFFFF"/>
                </a:solidFill>
                <a:latin typeface="DejaVu Sans"/>
              </a:defRPr>
            </a:pPr>
            <a:r>
              <a:t>Publication renderer</a:t>
            </a:r>
          </a:p>
        </p:txBody>
      </p:sp>
      <p:sp>
        <p:nvSpPr>
          <p:cNvPr id="35" name="TextBox 34"/>
          <p:cNvSpPr txBox="1"/>
          <p:nvPr/>
        </p:nvSpPr>
        <p:spPr>
          <a:xfrm>
            <a:off x="7549832" y="2508885"/>
            <a:ext cx="1586278" cy="220979"/>
          </a:xfrm>
          <a:prstGeom prst="rect">
            <a:avLst/>
          </a:prstGeom>
          <a:noFill/>
        </p:spPr>
        <p:txBody>
          <a:bodyPr wrap="none" lIns="0" rIns="0" tIns="0" bIns="0">
            <a:spAutoFit/>
          </a:bodyPr>
          <a:lstStyle/>
          <a:p>
            <a:pPr>
              <a:defRPr sz="950" b="0">
                <a:solidFill>
                  <a:srgbClr val="FFFFFF"/>
                </a:solidFill>
                <a:latin typeface="DejaVu Sans"/>
              </a:defRPr>
            </a:pPr>
            <a:r>
              <a:t>Builds editable deck and</a:t>
            </a:r>
          </a:p>
        </p:txBody>
      </p:sp>
      <p:sp>
        <p:nvSpPr>
          <p:cNvPr id="36" name="TextBox 35"/>
          <p:cNvSpPr txBox="1"/>
          <p:nvPr/>
        </p:nvSpPr>
        <p:spPr>
          <a:xfrm>
            <a:off x="7549832" y="2653665"/>
            <a:ext cx="725940" cy="220979"/>
          </a:xfrm>
          <a:prstGeom prst="rect">
            <a:avLst/>
          </a:prstGeom>
          <a:noFill/>
        </p:spPr>
        <p:txBody>
          <a:bodyPr wrap="none" lIns="0" rIns="0" tIns="0" bIns="0">
            <a:spAutoFit/>
          </a:bodyPr>
          <a:lstStyle/>
          <a:p>
            <a:pPr>
              <a:defRPr sz="950" b="0">
                <a:solidFill>
                  <a:srgbClr val="FFFFFF"/>
                </a:solidFill>
                <a:latin typeface="DejaVu Sans"/>
              </a:defRPr>
            </a:pPr>
            <a:r>
              <a:t>paper PDF</a:t>
            </a:r>
          </a:p>
        </p:txBody>
      </p:sp>
      <p:sp>
        <p:nvSpPr>
          <p:cNvPr id="37" name="TextBox 36"/>
          <p:cNvSpPr txBox="1"/>
          <p:nvPr/>
        </p:nvSpPr>
        <p:spPr>
          <a:xfrm>
            <a:off x="7549832" y="2834640"/>
            <a:ext cx="969007" cy="192024"/>
          </a:xfrm>
          <a:prstGeom prst="rect">
            <a:avLst/>
          </a:prstGeom>
          <a:noFill/>
        </p:spPr>
        <p:txBody>
          <a:bodyPr wrap="none" lIns="0" rIns="0" tIns="0" bIns="0">
            <a:spAutoFit/>
          </a:bodyPr>
          <a:lstStyle/>
          <a:p>
            <a:pPr>
              <a:defRPr sz="760" b="0">
                <a:solidFill>
                  <a:srgbClr val="DFEDF7"/>
                </a:solidFill>
                <a:latin typeface="DejaVu Sans"/>
              </a:defRPr>
            </a:pPr>
            <a:r>
              <a:t>Python; render.py</a:t>
            </a:r>
          </a:p>
        </p:txBody>
      </p:sp>
      <p:sp>
        <p:nvSpPr>
          <p:cNvPr id="38" name="Rounded Rectangle 37"/>
          <p:cNvSpPr/>
          <p:nvPr/>
        </p:nvSpPr>
        <p:spPr>
          <a:xfrm>
            <a:off x="6126162" y="4283075"/>
            <a:ext cx="2593975" cy="1025525"/>
          </a:xfrm>
          <a:prstGeom prst="roundRect">
            <a:avLst>
              <a:gd name="adj" fmla="val 6000"/>
            </a:avLst>
          </a:prstGeom>
          <a:solidFill>
            <a:srgbClr val="2563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222682" y="4324667"/>
            <a:ext cx="1020142" cy="192024"/>
          </a:xfrm>
          <a:prstGeom prst="rect">
            <a:avLst/>
          </a:prstGeom>
          <a:noFill/>
        </p:spPr>
        <p:txBody>
          <a:bodyPr wrap="none" lIns="0" rIns="0" tIns="0" bIns="0">
            <a:spAutoFit/>
          </a:bodyPr>
          <a:lstStyle/>
          <a:p>
            <a:pPr>
              <a:defRPr sz="760" b="0">
                <a:solidFill>
                  <a:srgbClr val="DFEDF7"/>
                </a:solidFill>
                <a:latin typeface="DejaVu Sans"/>
              </a:defRPr>
            </a:pPr>
            <a:r>
              <a:t>CONTAINER · Store</a:t>
            </a:r>
          </a:p>
        </p:txBody>
      </p:sp>
      <p:sp>
        <p:nvSpPr>
          <p:cNvPr id="40" name="TextBox 39"/>
          <p:cNvSpPr txBox="1"/>
          <p:nvPr/>
        </p:nvSpPr>
        <p:spPr>
          <a:xfrm>
            <a:off x="6222682" y="4433252"/>
            <a:ext cx="954939" cy="249936"/>
          </a:xfrm>
          <a:prstGeom prst="rect">
            <a:avLst/>
          </a:prstGeom>
          <a:noFill/>
        </p:spPr>
        <p:txBody>
          <a:bodyPr wrap="none" lIns="0" rIns="0" tIns="0" bIns="0">
            <a:spAutoFit/>
          </a:bodyPr>
          <a:lstStyle/>
          <a:p>
            <a:pPr>
              <a:defRPr sz="1139" b="1">
                <a:solidFill>
                  <a:srgbClr val="FFFFFF"/>
                </a:solidFill>
                <a:latin typeface="DejaVu Sans"/>
              </a:defRPr>
            </a:pPr>
            <a:r>
              <a:t>Run folder</a:t>
            </a:r>
          </a:p>
        </p:txBody>
      </p:sp>
      <p:sp>
        <p:nvSpPr>
          <p:cNvPr id="41" name="TextBox 40"/>
          <p:cNvSpPr txBox="1"/>
          <p:nvPr/>
        </p:nvSpPr>
        <p:spPr>
          <a:xfrm>
            <a:off x="6222682" y="4620260"/>
            <a:ext cx="1929965" cy="220979"/>
          </a:xfrm>
          <a:prstGeom prst="rect">
            <a:avLst/>
          </a:prstGeom>
          <a:noFill/>
        </p:spPr>
        <p:txBody>
          <a:bodyPr wrap="none" lIns="0" rIns="0" tIns="0" bIns="0">
            <a:spAutoFit/>
          </a:bodyPr>
          <a:lstStyle/>
          <a:p>
            <a:pPr>
              <a:defRPr sz="950" b="0">
                <a:solidFill>
                  <a:srgbClr val="FFFFFF"/>
                </a:solidFill>
                <a:latin typeface="DejaVu Sans"/>
              </a:defRPr>
            </a:pPr>
            <a:r>
              <a:t>Stores evidence, design, story</a:t>
            </a:r>
          </a:p>
        </p:txBody>
      </p:sp>
      <p:sp>
        <p:nvSpPr>
          <p:cNvPr id="42" name="TextBox 41"/>
          <p:cNvSpPr txBox="1"/>
          <p:nvPr/>
        </p:nvSpPr>
        <p:spPr>
          <a:xfrm>
            <a:off x="6222682" y="4765040"/>
            <a:ext cx="827738" cy="220979"/>
          </a:xfrm>
          <a:prstGeom prst="rect">
            <a:avLst/>
          </a:prstGeom>
          <a:noFill/>
        </p:spPr>
        <p:txBody>
          <a:bodyPr wrap="none" lIns="0" rIns="0" tIns="0" bIns="0">
            <a:spAutoFit/>
          </a:bodyPr>
          <a:lstStyle/>
          <a:p>
            <a:pPr>
              <a:defRPr sz="950" b="0">
                <a:solidFill>
                  <a:srgbClr val="FFFFFF"/>
                </a:solidFill>
                <a:latin typeface="DejaVu Sans"/>
              </a:defRPr>
            </a:pPr>
            <a:r>
              <a:t>and outputs</a:t>
            </a:r>
          </a:p>
        </p:txBody>
      </p:sp>
      <p:sp>
        <p:nvSpPr>
          <p:cNvPr id="43" name="TextBox 42"/>
          <p:cNvSpPr txBox="1"/>
          <p:nvPr/>
        </p:nvSpPr>
        <p:spPr>
          <a:xfrm>
            <a:off x="6222682" y="4946015"/>
            <a:ext cx="1339534" cy="192024"/>
          </a:xfrm>
          <a:prstGeom prst="rect">
            <a:avLst/>
          </a:prstGeom>
          <a:noFill/>
        </p:spPr>
        <p:txBody>
          <a:bodyPr wrap="none" lIns="0" rIns="0" tIns="0" bIns="0">
            <a:spAutoFit/>
          </a:bodyPr>
          <a:lstStyle/>
          <a:p>
            <a:pPr>
              <a:defRPr sz="760" b="0">
                <a:solidFill>
                  <a:srgbClr val="DFEDF7"/>
                </a:solidFill>
                <a:latin typeface="DejaVu Sans"/>
              </a:defRPr>
            </a:pPr>
            <a:r>
              <a:t>JSON, Markdown and files</a:t>
            </a:r>
          </a:p>
        </p:txBody>
      </p:sp>
      <p:sp>
        <p:nvSpPr>
          <p:cNvPr id="44" name="Rounded Rectangle 43"/>
          <p:cNvSpPr/>
          <p:nvPr/>
        </p:nvSpPr>
        <p:spPr>
          <a:xfrm>
            <a:off x="4081145" y="3167062"/>
            <a:ext cx="1073785" cy="156845"/>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197185" y="3160395"/>
            <a:ext cx="943304" cy="177545"/>
          </a:xfrm>
          <a:prstGeom prst="rect">
            <a:avLst/>
          </a:prstGeom>
          <a:noFill/>
        </p:spPr>
        <p:txBody>
          <a:bodyPr wrap="none" lIns="0" rIns="0" tIns="0" bIns="0">
            <a:spAutoFit/>
          </a:bodyPr>
          <a:lstStyle/>
          <a:p>
            <a:pPr>
              <a:defRPr sz="665" b="0">
                <a:solidFill>
                  <a:srgbClr val="344F63"/>
                </a:solidFill>
                <a:latin typeface="DejaVu Sans"/>
              </a:defRPr>
            </a:pPr>
            <a:r>
              <a:t>Invokes stages · CLI</a:t>
            </a:r>
          </a:p>
        </p:txBody>
      </p:sp>
      <p:sp>
        <p:nvSpPr>
          <p:cNvPr id="46" name="Rounded Rectangle 45"/>
          <p:cNvSpPr/>
          <p:nvPr/>
        </p:nvSpPr>
        <p:spPr>
          <a:xfrm>
            <a:off x="3966527" y="4596765"/>
            <a:ext cx="1363345" cy="26543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099551" y="4590097"/>
            <a:ext cx="1198896" cy="177545"/>
          </a:xfrm>
          <a:prstGeom prst="rect">
            <a:avLst/>
          </a:prstGeom>
          <a:noFill/>
        </p:spPr>
        <p:txBody>
          <a:bodyPr wrap="none" lIns="0" rIns="0" tIns="0" bIns="0">
            <a:spAutoFit/>
          </a:bodyPr>
          <a:lstStyle/>
          <a:p>
            <a:pPr>
              <a:defRPr sz="665" b="0">
                <a:solidFill>
                  <a:srgbClr val="344F63"/>
                </a:solidFill>
                <a:latin typeface="DejaVu Sans"/>
              </a:defRPr>
            </a:pPr>
            <a:r>
              <a:t>Writes canonical records ·</a:t>
            </a:r>
          </a:p>
        </p:txBody>
      </p:sp>
      <p:sp>
        <p:nvSpPr>
          <p:cNvPr id="48" name="TextBox 47"/>
          <p:cNvSpPr txBox="1"/>
          <p:nvPr/>
        </p:nvSpPr>
        <p:spPr>
          <a:xfrm>
            <a:off x="4421804" y="4698682"/>
            <a:ext cx="554390" cy="177545"/>
          </a:xfrm>
          <a:prstGeom prst="rect">
            <a:avLst/>
          </a:prstGeom>
          <a:noFill/>
        </p:spPr>
        <p:txBody>
          <a:bodyPr wrap="none" lIns="0" rIns="0" tIns="0" bIns="0">
            <a:spAutoFit/>
          </a:bodyPr>
          <a:lstStyle/>
          <a:p>
            <a:pPr>
              <a:defRPr sz="665" b="0">
                <a:solidFill>
                  <a:srgbClr val="344F63"/>
                </a:solidFill>
                <a:latin typeface="DejaVu Sans"/>
              </a:defRPr>
            </a:pPr>
            <a:r>
              <a:t>Filesystem</a:t>
            </a:r>
          </a:p>
        </p:txBody>
      </p:sp>
      <p:sp>
        <p:nvSpPr>
          <p:cNvPr id="49" name="Rounded Rectangle 48"/>
          <p:cNvSpPr/>
          <p:nvPr/>
        </p:nvSpPr>
        <p:spPr>
          <a:xfrm>
            <a:off x="5390197" y="1713230"/>
            <a:ext cx="1170305" cy="156845"/>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501239" y="1706562"/>
            <a:ext cx="1049821" cy="177545"/>
          </a:xfrm>
          <a:prstGeom prst="rect">
            <a:avLst/>
          </a:prstGeom>
          <a:noFill/>
        </p:spPr>
        <p:txBody>
          <a:bodyPr wrap="none" lIns="0" rIns="0" tIns="0" bIns="0">
            <a:spAutoFit/>
          </a:bodyPr>
          <a:lstStyle/>
          <a:p>
            <a:pPr>
              <a:defRPr sz="665" b="0">
                <a:solidFill>
                  <a:srgbClr val="344F63"/>
                </a:solidFill>
                <a:latin typeface="DejaVu Sans"/>
              </a:defRPr>
            </a:pPr>
            <a:r>
              <a:t>Requests exports · CLI</a:t>
            </a:r>
          </a:p>
        </p:txBody>
      </p:sp>
      <p:sp>
        <p:nvSpPr>
          <p:cNvPr id="51" name="Rounded Rectangle 50"/>
          <p:cNvSpPr/>
          <p:nvPr/>
        </p:nvSpPr>
        <p:spPr>
          <a:xfrm>
            <a:off x="5619432" y="3679825"/>
            <a:ext cx="1556385" cy="26543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737098" y="3673157"/>
            <a:ext cx="1422652" cy="177545"/>
          </a:xfrm>
          <a:prstGeom prst="rect">
            <a:avLst/>
          </a:prstGeom>
          <a:noFill/>
        </p:spPr>
        <p:txBody>
          <a:bodyPr wrap="none" lIns="0" rIns="0" tIns="0" bIns="0">
            <a:spAutoFit/>
          </a:bodyPr>
          <a:lstStyle/>
          <a:p>
            <a:pPr>
              <a:defRPr sz="665" b="0">
                <a:solidFill>
                  <a:srgbClr val="344F63"/>
                </a:solidFill>
                <a:latin typeface="DejaVu Sans"/>
              </a:defRPr>
            </a:pPr>
            <a:r>
              <a:t>Checks and updates run state ·</a:t>
            </a:r>
          </a:p>
        </p:txBody>
      </p:sp>
      <p:sp>
        <p:nvSpPr>
          <p:cNvPr id="53" name="TextBox 52"/>
          <p:cNvSpPr txBox="1"/>
          <p:nvPr/>
        </p:nvSpPr>
        <p:spPr>
          <a:xfrm>
            <a:off x="6171229" y="3781742"/>
            <a:ext cx="554390" cy="177545"/>
          </a:xfrm>
          <a:prstGeom prst="rect">
            <a:avLst/>
          </a:prstGeom>
          <a:noFill/>
        </p:spPr>
        <p:txBody>
          <a:bodyPr wrap="none" lIns="0" rIns="0" tIns="0" bIns="0">
            <a:spAutoFit/>
          </a:bodyPr>
          <a:lstStyle/>
          <a:p>
            <a:pPr>
              <a:defRPr sz="665" b="0">
                <a:solidFill>
                  <a:srgbClr val="344F63"/>
                </a:solidFill>
                <a:latin typeface="DejaVu Sans"/>
              </a:defRPr>
            </a:pPr>
            <a:r>
              <a:t>Filesystem</a:t>
            </a:r>
          </a:p>
        </p:txBody>
      </p:sp>
      <p:sp>
        <p:nvSpPr>
          <p:cNvPr id="54" name="Rounded Rectangle 53"/>
          <p:cNvSpPr/>
          <p:nvPr/>
        </p:nvSpPr>
        <p:spPr>
          <a:xfrm>
            <a:off x="7972107" y="3740150"/>
            <a:ext cx="1556385" cy="26543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076928" y="3733482"/>
            <a:ext cx="1448343" cy="177545"/>
          </a:xfrm>
          <a:prstGeom prst="rect">
            <a:avLst/>
          </a:prstGeom>
          <a:noFill/>
        </p:spPr>
        <p:txBody>
          <a:bodyPr wrap="none" lIns="0" rIns="0" tIns="0" bIns="0">
            <a:spAutoFit/>
          </a:bodyPr>
          <a:lstStyle/>
          <a:p>
            <a:pPr>
              <a:defRPr sz="665" b="0">
                <a:solidFill>
                  <a:srgbClr val="344F63"/>
                </a:solidFill>
                <a:latin typeface="DejaVu Sans"/>
              </a:defRPr>
            </a:pPr>
            <a:r>
              <a:t>Reads records; writes PDF/PPTX</a:t>
            </a:r>
          </a:p>
        </p:txBody>
      </p:sp>
      <p:sp>
        <p:nvSpPr>
          <p:cNvPr id="56" name="TextBox 55"/>
          <p:cNvSpPr txBox="1"/>
          <p:nvPr/>
        </p:nvSpPr>
        <p:spPr>
          <a:xfrm>
            <a:off x="8497058" y="3842067"/>
            <a:ext cx="608082" cy="177545"/>
          </a:xfrm>
          <a:prstGeom prst="rect">
            <a:avLst/>
          </a:prstGeom>
          <a:noFill/>
        </p:spPr>
        <p:txBody>
          <a:bodyPr wrap="none" lIns="0" rIns="0" tIns="0" bIns="0">
            <a:spAutoFit/>
          </a:bodyPr>
          <a:lstStyle/>
          <a:p>
            <a:pPr>
              <a:defRPr sz="665" b="0">
                <a:solidFill>
                  <a:srgbClr val="344F63"/>
                </a:solidFill>
                <a:latin typeface="DejaVu Sans"/>
              </a:defRPr>
            </a:pPr>
            <a:r>
              <a:t>· Filesystem</a:t>
            </a:r>
          </a:p>
        </p:txBody>
      </p:sp>
      <p:sp>
        <p:nvSpPr>
          <p:cNvPr id="57" name="TextBox 56"/>
          <p:cNvSpPr txBox="1"/>
          <p:nvPr/>
        </p:nvSpPr>
        <p:spPr>
          <a:xfrm>
            <a:off x="2717800" y="5501005"/>
            <a:ext cx="5665815" cy="177545"/>
          </a:xfrm>
          <a:prstGeom prst="rect">
            <a:avLst/>
          </a:prstGeom>
          <a:noFill/>
        </p:spPr>
        <p:txBody>
          <a:bodyPr wrap="none" lIns="0" rIns="0" tIns="0" bIns="0">
            <a:spAutoFit/>
          </a:bodyPr>
          <a:lstStyle/>
          <a:p>
            <a:pPr>
              <a:defRPr sz="665" b="0">
                <a:solidFill>
                  <a:srgbClr val="52677A"/>
                </a:solidFill>
                <a:latin typeface="DejaVu Sans"/>
              </a:defRPr>
            </a:pPr>
            <a:r>
              <a:t>Outlined boundary = kit ownership. Blue = application or data-store container. Gray = external host. Arrow labels include protocol.</a:t>
            </a:r>
          </a:p>
        </p:txBody>
      </p:sp>
      <p:sp>
        <p:nvSpPr>
          <p:cNvPr id="58" name="TextBox 57"/>
          <p:cNvSpPr txBox="1"/>
          <p:nvPr/>
        </p:nvSpPr>
        <p:spPr>
          <a:xfrm>
            <a:off x="457200" y="5981700"/>
            <a:ext cx="7320694" cy="320040"/>
          </a:xfrm>
          <a:prstGeom prst="rect">
            <a:avLst/>
          </a:prstGeom>
          <a:noFill/>
        </p:spPr>
        <p:txBody>
          <a:bodyPr wrap="none" lIns="0" rIns="0" tIns="0" bIns="0">
            <a:spAutoFit/>
          </a:bodyPr>
          <a:lstStyle/>
          <a:p>
            <a:pPr>
              <a:defRPr sz="1500" b="1">
                <a:solidFill>
                  <a:srgbClr val="15354C"/>
                </a:solidFill>
                <a:latin typeface="DejaVu Sans"/>
              </a:defRPr>
            </a:pPr>
            <a:r>
              <a:t>C2 separates the coordinator, shared folder and optional renderer.</a:t>
            </a:r>
          </a:p>
        </p:txBody>
      </p:sp>
      <p:cxnSp>
        <p:nvCxnSpPr>
          <p:cNvPr id="59" name="Connector 58"/>
          <p:cNvCxnSpPr/>
          <p:nvPr/>
        </p:nvCxnSpPr>
        <p:spPr>
          <a:xfrm>
            <a:off x="457200" y="6477000"/>
            <a:ext cx="11277600" cy="0"/>
          </a:xfrm>
          <a:prstGeom prst="line">
            <a:avLst/>
          </a:prstGeom>
          <a:ln w="8890">
            <a:solidFill>
              <a:srgbClr val="D6E1E5"/>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457200" y="6578600"/>
            <a:ext cx="2209601" cy="206248"/>
          </a:xfrm>
          <a:prstGeom prst="rect">
            <a:avLst/>
          </a:prstGeom>
          <a:noFill/>
        </p:spPr>
        <p:txBody>
          <a:bodyPr wrap="none" lIns="0" rIns="0" tIns="0" bIns="0">
            <a:spAutoFit/>
          </a:bodyPr>
          <a:lstStyle/>
          <a:p>
            <a:pPr>
              <a:defRPr sz="800" b="0">
                <a:solidFill>
                  <a:srgbClr val="52677A"/>
                </a:solidFill>
                <a:latin typeface="DejaVu Sans"/>
              </a:defRPr>
            </a:pPr>
            <a:r>
              <a:t>P7 • architecture • Claims: CL1, CL6, CL9</a:t>
            </a:r>
          </a:p>
        </p:txBody>
      </p:sp>
      <p:sp>
        <p:nvSpPr>
          <p:cNvPr id="61" name="TextBox 60"/>
          <p:cNvSpPr txBox="1"/>
          <p:nvPr/>
        </p:nvSpPr>
        <p:spPr>
          <a:xfrm>
            <a:off x="11377414" y="6578600"/>
            <a:ext cx="458985" cy="206248"/>
          </a:xfrm>
          <a:prstGeom prst="rect">
            <a:avLst/>
          </a:prstGeom>
          <a:noFill/>
        </p:spPr>
        <p:txBody>
          <a:bodyPr wrap="none" lIns="0" rIns="0" tIns="0" bIns="0">
            <a:spAutoFit/>
          </a:bodyPr>
          <a:lstStyle/>
          <a:p>
            <a:pPr>
              <a:defRPr sz="800" b="0">
                <a:solidFill>
                  <a:srgbClr val="52677A"/>
                </a:solidFill>
                <a:latin typeface="DejaVu Sans"/>
              </a:defRPr>
            </a:pPr>
            <a:r>
              <a:t>07 / 15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88900"/>
          </a:xfrm>
          <a:prstGeom prst="rect">
            <a:avLst/>
          </a:prstGeom>
          <a:solidFill>
            <a:srgbClr val="08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92100"/>
            <a:ext cx="1771246" cy="255015"/>
          </a:xfrm>
          <a:prstGeom prst="rect">
            <a:avLst/>
          </a:prstGeom>
          <a:noFill/>
        </p:spPr>
        <p:txBody>
          <a:bodyPr wrap="none" lIns="0" rIns="0" tIns="0" bIns="0">
            <a:spAutoFit/>
          </a:bodyPr>
          <a:lstStyle/>
          <a:p>
            <a:pPr>
              <a:defRPr sz="1100" b="1">
                <a:solidFill>
                  <a:srgbClr val="087F82"/>
                </a:solidFill>
                <a:latin typeface="DejaVu Sans"/>
              </a:defRPr>
            </a:pPr>
            <a:r>
              <a:t>ARCHITECTURE LOOP</a:t>
            </a:r>
          </a:p>
        </p:txBody>
      </p:sp>
      <p:sp>
        <p:nvSpPr>
          <p:cNvPr id="5" name="TextBox 4"/>
          <p:cNvSpPr txBox="1"/>
          <p:nvPr/>
        </p:nvSpPr>
        <p:spPr>
          <a:xfrm>
            <a:off x="457200" y="558800"/>
            <a:ext cx="9462318" cy="547624"/>
          </a:xfrm>
          <a:prstGeom prst="rect">
            <a:avLst/>
          </a:prstGeom>
          <a:noFill/>
        </p:spPr>
        <p:txBody>
          <a:bodyPr wrap="none" lIns="0" rIns="0" tIns="0" bIns="0">
            <a:spAutoFit/>
          </a:bodyPr>
          <a:lstStyle/>
          <a:p>
            <a:pPr>
              <a:defRPr sz="2900" b="1">
                <a:solidFill>
                  <a:srgbClr val="15354C"/>
                </a:solidFill>
                <a:latin typeface="DejaVu Sans"/>
              </a:defRPr>
            </a:pPr>
            <a:r>
              <a:t>One bounded loop carries the work to export</a:t>
            </a:r>
          </a:p>
        </p:txBody>
      </p:sp>
      <p:sp>
        <p:nvSpPr>
          <p:cNvPr id="6" name="TextBox 5"/>
          <p:cNvSpPr txBox="1"/>
          <p:nvPr/>
        </p:nvSpPr>
        <p:spPr>
          <a:xfrm>
            <a:off x="457200" y="1447800"/>
            <a:ext cx="7917433" cy="401320"/>
          </a:xfrm>
          <a:prstGeom prst="rect">
            <a:avLst/>
          </a:prstGeom>
          <a:noFill/>
        </p:spPr>
        <p:txBody>
          <a:bodyPr wrap="none" lIns="0" rIns="0" tIns="0" bIns="0">
            <a:spAutoFit/>
          </a:bodyPr>
          <a:lstStyle/>
          <a:p>
            <a:pPr>
              <a:defRPr sz="2000" b="0">
                <a:solidFill>
                  <a:srgbClr val="52677A"/>
                </a:solidFill>
                <a:latin typeface="DejaVu Sans"/>
              </a:defRPr>
            </a:pPr>
            <a:r>
              <a:t>Research and critique can reopen the earliest affected stage.</a:t>
            </a:r>
          </a:p>
        </p:txBody>
      </p:sp>
      <p:sp>
        <p:nvSpPr>
          <p:cNvPr id="7" name="Rounded Rectangle 6"/>
          <p:cNvSpPr/>
          <p:nvPr/>
        </p:nvSpPr>
        <p:spPr>
          <a:xfrm>
            <a:off x="457200" y="2476500"/>
            <a:ext cx="3606800" cy="2844800"/>
          </a:xfrm>
          <a:prstGeom prst="roundRect">
            <a:avLst>
              <a:gd name="adj" fmla="val 6000"/>
            </a:avLst>
          </a:prstGeom>
          <a:solidFill>
            <a:srgbClr val="F3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2476500"/>
            <a:ext cx="63500" cy="2844800"/>
          </a:xfrm>
          <a:prstGeom prst="rect">
            <a:avLst/>
          </a:prstGeom>
          <a:solidFill>
            <a:srgbClr val="08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1200" y="2692400"/>
            <a:ext cx="2995562" cy="401320"/>
          </a:xfrm>
          <a:prstGeom prst="rect">
            <a:avLst/>
          </a:prstGeom>
          <a:noFill/>
        </p:spPr>
        <p:txBody>
          <a:bodyPr wrap="none" lIns="0" rIns="0" tIns="0" bIns="0">
            <a:spAutoFit/>
          </a:bodyPr>
          <a:lstStyle/>
          <a:p>
            <a:pPr>
              <a:defRPr sz="2000" b="1">
                <a:solidFill>
                  <a:srgbClr val="15354C"/>
                </a:solidFill>
                <a:latin typeface="DejaVu Sans"/>
              </a:defRPr>
            </a:pPr>
            <a:r>
              <a:t>Discover and decide</a:t>
            </a:r>
          </a:p>
        </p:txBody>
      </p:sp>
      <p:sp>
        <p:nvSpPr>
          <p:cNvPr id="10" name="TextBox 9"/>
          <p:cNvSpPr txBox="1"/>
          <p:nvPr/>
        </p:nvSpPr>
        <p:spPr>
          <a:xfrm>
            <a:off x="711200" y="3416300"/>
            <a:ext cx="2301186" cy="352552"/>
          </a:xfrm>
          <a:prstGeom prst="rect">
            <a:avLst/>
          </a:prstGeom>
          <a:noFill/>
        </p:spPr>
        <p:txBody>
          <a:bodyPr wrap="none" lIns="0" rIns="0" tIns="0" bIns="0">
            <a:spAutoFit/>
          </a:bodyPr>
          <a:lstStyle/>
          <a:p>
            <a:pPr>
              <a:defRPr sz="1700" b="0">
                <a:solidFill>
                  <a:srgbClr val="52677A"/>
                </a:solidFill>
                <a:latin typeface="DejaVu Sans"/>
              </a:defRPr>
            </a:pPr>
            <a:r>
              <a:t>Frame → research →</a:t>
            </a:r>
          </a:p>
        </p:txBody>
      </p:sp>
      <p:sp>
        <p:nvSpPr>
          <p:cNvPr id="11" name="TextBox 10"/>
          <p:cNvSpPr txBox="1"/>
          <p:nvPr/>
        </p:nvSpPr>
        <p:spPr>
          <a:xfrm>
            <a:off x="711200" y="3692652"/>
            <a:ext cx="2535745" cy="352552"/>
          </a:xfrm>
          <a:prstGeom prst="rect">
            <a:avLst/>
          </a:prstGeom>
          <a:noFill/>
        </p:spPr>
        <p:txBody>
          <a:bodyPr wrap="none" lIns="0" rIns="0" tIns="0" bIns="0">
            <a:spAutoFit/>
          </a:bodyPr>
          <a:lstStyle/>
          <a:p>
            <a:pPr>
              <a:defRPr sz="1700" b="0">
                <a:solidFill>
                  <a:srgbClr val="52677A"/>
                </a:solidFill>
                <a:latin typeface="DejaVu Sans"/>
              </a:defRPr>
            </a:pPr>
            <a:r>
              <a:t>challenge. Change the</a:t>
            </a:r>
          </a:p>
        </p:txBody>
      </p:sp>
      <p:sp>
        <p:nvSpPr>
          <p:cNvPr id="12" name="TextBox 11"/>
          <p:cNvSpPr txBox="1"/>
          <p:nvPr/>
        </p:nvSpPr>
        <p:spPr>
          <a:xfrm>
            <a:off x="711200" y="3969004"/>
            <a:ext cx="2973765" cy="352552"/>
          </a:xfrm>
          <a:prstGeom prst="rect">
            <a:avLst/>
          </a:prstGeom>
          <a:noFill/>
        </p:spPr>
        <p:txBody>
          <a:bodyPr wrap="none" lIns="0" rIns="0" tIns="0" bIns="0">
            <a:spAutoFit/>
          </a:bodyPr>
          <a:lstStyle/>
          <a:p>
            <a:pPr>
              <a:defRPr sz="1700" b="0">
                <a:solidFill>
                  <a:srgbClr val="52677A"/>
                </a:solidFill>
                <a:latin typeface="DejaVu Sans"/>
              </a:defRPr>
            </a:pPr>
            <a:r>
              <a:t>hypothesis when evidence</a:t>
            </a:r>
          </a:p>
        </p:txBody>
      </p:sp>
      <p:sp>
        <p:nvSpPr>
          <p:cNvPr id="13" name="TextBox 12"/>
          <p:cNvSpPr txBox="1"/>
          <p:nvPr/>
        </p:nvSpPr>
        <p:spPr>
          <a:xfrm>
            <a:off x="711200" y="4245356"/>
            <a:ext cx="1273026" cy="352552"/>
          </a:xfrm>
          <a:prstGeom prst="rect">
            <a:avLst/>
          </a:prstGeom>
          <a:noFill/>
        </p:spPr>
        <p:txBody>
          <a:bodyPr wrap="none" lIns="0" rIns="0" tIns="0" bIns="0">
            <a:spAutoFit/>
          </a:bodyPr>
          <a:lstStyle/>
          <a:p>
            <a:pPr>
              <a:defRPr sz="1700" b="0">
                <a:solidFill>
                  <a:srgbClr val="52677A"/>
                </a:solidFill>
                <a:latin typeface="DejaVu Sans"/>
              </a:defRPr>
            </a:pPr>
            <a:r>
              <a:t>requires it.</a:t>
            </a:r>
          </a:p>
        </p:txBody>
      </p:sp>
      <p:sp>
        <p:nvSpPr>
          <p:cNvPr id="14" name="Rounded Rectangle 13"/>
          <p:cNvSpPr/>
          <p:nvPr/>
        </p:nvSpPr>
        <p:spPr>
          <a:xfrm>
            <a:off x="4292600" y="2476500"/>
            <a:ext cx="3606800" cy="2844800"/>
          </a:xfrm>
          <a:prstGeom prst="roundRect">
            <a:avLst>
              <a:gd name="adj" fmla="val 6000"/>
            </a:avLst>
          </a:prstGeom>
          <a:solidFill>
            <a:srgbClr val="F3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92600" y="2476500"/>
            <a:ext cx="63500" cy="2844800"/>
          </a:xfrm>
          <a:prstGeom prst="rect">
            <a:avLst/>
          </a:prstGeom>
          <a:solidFill>
            <a:srgbClr val="08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46600" y="2692400"/>
            <a:ext cx="2840781" cy="401320"/>
          </a:xfrm>
          <a:prstGeom prst="rect">
            <a:avLst/>
          </a:prstGeom>
          <a:noFill/>
        </p:spPr>
        <p:txBody>
          <a:bodyPr wrap="none" lIns="0" rIns="0" tIns="0" bIns="0">
            <a:spAutoFit/>
          </a:bodyPr>
          <a:lstStyle/>
          <a:p>
            <a:pPr>
              <a:defRPr sz="2000" b="1">
                <a:solidFill>
                  <a:srgbClr val="15354C"/>
                </a:solidFill>
                <a:latin typeface="DejaVu Sans"/>
              </a:defRPr>
            </a:pPr>
            <a:r>
              <a:t>Design and explain</a:t>
            </a:r>
          </a:p>
        </p:txBody>
      </p:sp>
      <p:sp>
        <p:nvSpPr>
          <p:cNvPr id="17" name="TextBox 16"/>
          <p:cNvSpPr txBox="1"/>
          <p:nvPr/>
        </p:nvSpPr>
        <p:spPr>
          <a:xfrm>
            <a:off x="4546600" y="3416300"/>
            <a:ext cx="2616497" cy="352552"/>
          </a:xfrm>
          <a:prstGeom prst="rect">
            <a:avLst/>
          </a:prstGeom>
          <a:noFill/>
        </p:spPr>
        <p:txBody>
          <a:bodyPr wrap="none" lIns="0" rIns="0" tIns="0" bIns="0">
            <a:spAutoFit/>
          </a:bodyPr>
          <a:lstStyle/>
          <a:p>
            <a:pPr>
              <a:defRPr sz="1700" b="0">
                <a:solidFill>
                  <a:srgbClr val="52677A"/>
                </a:solidFill>
                <a:latin typeface="DejaVu Sans"/>
              </a:defRPr>
            </a:pPr>
            <a:r>
              <a:t>Design → story → draft.</a:t>
            </a:r>
          </a:p>
        </p:txBody>
      </p:sp>
      <p:sp>
        <p:nvSpPr>
          <p:cNvPr id="18" name="TextBox 17"/>
          <p:cNvSpPr txBox="1"/>
          <p:nvPr/>
        </p:nvSpPr>
        <p:spPr>
          <a:xfrm>
            <a:off x="4546600" y="3692652"/>
            <a:ext cx="3056309" cy="352552"/>
          </a:xfrm>
          <a:prstGeom prst="rect">
            <a:avLst/>
          </a:prstGeom>
          <a:noFill/>
        </p:spPr>
        <p:txBody>
          <a:bodyPr wrap="none" lIns="0" rIns="0" tIns="0" bIns="0">
            <a:spAutoFit/>
          </a:bodyPr>
          <a:lstStyle/>
          <a:p>
            <a:pPr>
              <a:defRPr sz="1700" b="0">
                <a:solidFill>
                  <a:srgbClr val="52677A"/>
                </a:solidFill>
                <a:latin typeface="DejaVu Sans"/>
              </a:defRPr>
            </a:pPr>
            <a:r>
              <a:t>Derive both forms from the</a:t>
            </a:r>
          </a:p>
        </p:txBody>
      </p:sp>
      <p:sp>
        <p:nvSpPr>
          <p:cNvPr id="19" name="TextBox 18"/>
          <p:cNvSpPr txBox="1"/>
          <p:nvPr/>
        </p:nvSpPr>
        <p:spPr>
          <a:xfrm>
            <a:off x="4546600" y="3969004"/>
            <a:ext cx="1789794" cy="352552"/>
          </a:xfrm>
          <a:prstGeom prst="rect">
            <a:avLst/>
          </a:prstGeom>
          <a:noFill/>
        </p:spPr>
        <p:txBody>
          <a:bodyPr wrap="none" lIns="0" rIns="0" tIns="0" bIns="0">
            <a:spAutoFit/>
          </a:bodyPr>
          <a:lstStyle/>
          <a:p>
            <a:pPr>
              <a:defRPr sz="1700" b="0">
                <a:solidFill>
                  <a:srgbClr val="52677A"/>
                </a:solidFill>
                <a:latin typeface="DejaVu Sans"/>
              </a:defRPr>
            </a:pPr>
            <a:r>
              <a:t>shared records.</a:t>
            </a:r>
          </a:p>
        </p:txBody>
      </p:sp>
      <p:sp>
        <p:nvSpPr>
          <p:cNvPr id="20" name="Rounded Rectangle 19"/>
          <p:cNvSpPr/>
          <p:nvPr/>
        </p:nvSpPr>
        <p:spPr>
          <a:xfrm>
            <a:off x="8128000" y="2476500"/>
            <a:ext cx="3606800" cy="2844800"/>
          </a:xfrm>
          <a:prstGeom prst="roundRect">
            <a:avLst>
              <a:gd name="adj" fmla="val 6000"/>
            </a:avLst>
          </a:prstGeom>
          <a:solidFill>
            <a:srgbClr val="F3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28000" y="2476500"/>
            <a:ext cx="63500" cy="2844800"/>
          </a:xfrm>
          <a:prstGeom prst="rect">
            <a:avLst/>
          </a:prstGeom>
          <a:solidFill>
            <a:srgbClr val="08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82000" y="2692400"/>
            <a:ext cx="2831231" cy="401320"/>
          </a:xfrm>
          <a:prstGeom prst="rect">
            <a:avLst/>
          </a:prstGeom>
          <a:noFill/>
        </p:spPr>
        <p:txBody>
          <a:bodyPr wrap="none" lIns="0" rIns="0" tIns="0" bIns="0">
            <a:spAutoFit/>
          </a:bodyPr>
          <a:lstStyle/>
          <a:p>
            <a:pPr>
              <a:defRPr sz="2000" b="1">
                <a:solidFill>
                  <a:srgbClr val="15354C"/>
                </a:solidFill>
                <a:latin typeface="DejaVu Sans"/>
              </a:defRPr>
            </a:pPr>
            <a:r>
              <a:t>Review and deliver</a:t>
            </a:r>
          </a:p>
        </p:txBody>
      </p:sp>
      <p:sp>
        <p:nvSpPr>
          <p:cNvPr id="23" name="TextBox 22"/>
          <p:cNvSpPr txBox="1"/>
          <p:nvPr/>
        </p:nvSpPr>
        <p:spPr>
          <a:xfrm>
            <a:off x="8382000" y="3416300"/>
            <a:ext cx="2861809" cy="352552"/>
          </a:xfrm>
          <a:prstGeom prst="rect">
            <a:avLst/>
          </a:prstGeom>
          <a:noFill/>
        </p:spPr>
        <p:txBody>
          <a:bodyPr wrap="none" lIns="0" rIns="0" tIns="0" bIns="0">
            <a:spAutoFit/>
          </a:bodyPr>
          <a:lstStyle/>
          <a:p>
            <a:pPr>
              <a:defRPr sz="1700" b="0">
                <a:solidFill>
                  <a:srgbClr val="52677A"/>
                </a:solidFill>
                <a:latin typeface="DejaVu Sans"/>
              </a:defRPr>
            </a:pPr>
            <a:r>
              <a:t>Review → export. Reopen</a:t>
            </a:r>
          </a:p>
        </p:txBody>
      </p:sp>
      <p:sp>
        <p:nvSpPr>
          <p:cNvPr id="24" name="TextBox 23"/>
          <p:cNvSpPr txBox="1"/>
          <p:nvPr/>
        </p:nvSpPr>
        <p:spPr>
          <a:xfrm>
            <a:off x="8382000" y="3692652"/>
            <a:ext cx="3054622" cy="352552"/>
          </a:xfrm>
          <a:prstGeom prst="rect">
            <a:avLst/>
          </a:prstGeom>
          <a:noFill/>
        </p:spPr>
        <p:txBody>
          <a:bodyPr wrap="none" lIns="0" rIns="0" tIns="0" bIns="0">
            <a:spAutoFit/>
          </a:bodyPr>
          <a:lstStyle/>
          <a:p>
            <a:pPr>
              <a:defRPr sz="1700" b="0">
                <a:solidFill>
                  <a:srgbClr val="52677A"/>
                </a:solidFill>
                <a:latin typeface="DejaVu Sans"/>
              </a:defRPr>
            </a:pPr>
            <a:r>
              <a:t>earlier work when meaning</a:t>
            </a:r>
          </a:p>
        </p:txBody>
      </p:sp>
      <p:sp>
        <p:nvSpPr>
          <p:cNvPr id="25" name="TextBox 24"/>
          <p:cNvSpPr txBox="1"/>
          <p:nvPr/>
        </p:nvSpPr>
        <p:spPr>
          <a:xfrm>
            <a:off x="8382000" y="3969004"/>
            <a:ext cx="1077261" cy="352552"/>
          </a:xfrm>
          <a:prstGeom prst="rect">
            <a:avLst/>
          </a:prstGeom>
          <a:noFill/>
        </p:spPr>
        <p:txBody>
          <a:bodyPr wrap="none" lIns="0" rIns="0" tIns="0" bIns="0">
            <a:spAutoFit/>
          </a:bodyPr>
          <a:lstStyle/>
          <a:p>
            <a:pPr>
              <a:defRPr sz="1700" b="0">
                <a:solidFill>
                  <a:srgbClr val="52677A"/>
                </a:solidFill>
                <a:latin typeface="DejaVu Sans"/>
              </a:defRPr>
            </a:pPr>
            <a:r>
              <a:t>changes.</a:t>
            </a:r>
          </a:p>
        </p:txBody>
      </p:sp>
      <p:cxnSp>
        <p:nvCxnSpPr>
          <p:cNvPr id="26" name="Connector 25"/>
          <p:cNvCxnSpPr/>
          <p:nvPr/>
        </p:nvCxnSpPr>
        <p:spPr>
          <a:xfrm>
            <a:off x="457200" y="6477000"/>
            <a:ext cx="11277600" cy="0"/>
          </a:xfrm>
          <a:prstGeom prst="line">
            <a:avLst/>
          </a:prstGeom>
          <a:ln w="8890">
            <a:solidFill>
              <a:srgbClr val="D6E1E5"/>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57200" y="6578600"/>
            <a:ext cx="1718270" cy="206248"/>
          </a:xfrm>
          <a:prstGeom prst="rect">
            <a:avLst/>
          </a:prstGeom>
          <a:noFill/>
        </p:spPr>
        <p:txBody>
          <a:bodyPr wrap="none" lIns="0" rIns="0" tIns="0" bIns="0">
            <a:spAutoFit/>
          </a:bodyPr>
          <a:lstStyle/>
          <a:p>
            <a:pPr>
              <a:defRPr sz="800" b="0">
                <a:solidFill>
                  <a:srgbClr val="52677A"/>
                </a:solidFill>
                <a:latin typeface="DejaVu Sans"/>
              </a:defRPr>
            </a:pPr>
            <a:r>
              <a:t>P8 • mechanisms • Claims: CL6</a:t>
            </a:r>
          </a:p>
        </p:txBody>
      </p:sp>
      <p:sp>
        <p:nvSpPr>
          <p:cNvPr id="28" name="TextBox 27"/>
          <p:cNvSpPr txBox="1"/>
          <p:nvPr/>
        </p:nvSpPr>
        <p:spPr>
          <a:xfrm>
            <a:off x="11377414" y="6578600"/>
            <a:ext cx="458985" cy="206248"/>
          </a:xfrm>
          <a:prstGeom prst="rect">
            <a:avLst/>
          </a:prstGeom>
          <a:noFill/>
        </p:spPr>
        <p:txBody>
          <a:bodyPr wrap="none" lIns="0" rIns="0" tIns="0" bIns="0">
            <a:spAutoFit/>
          </a:bodyPr>
          <a:lstStyle/>
          <a:p>
            <a:pPr>
              <a:defRPr sz="800" b="0">
                <a:solidFill>
                  <a:srgbClr val="52677A"/>
                </a:solidFill>
                <a:latin typeface="DejaVu Sans"/>
              </a:defRPr>
            </a:pPr>
            <a:r>
              <a:t>08 / 15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88900"/>
          </a:xfrm>
          <a:prstGeom prst="rect">
            <a:avLst/>
          </a:prstGeom>
          <a:solidFill>
            <a:srgbClr val="08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92100"/>
            <a:ext cx="1771246" cy="255015"/>
          </a:xfrm>
          <a:prstGeom prst="rect">
            <a:avLst/>
          </a:prstGeom>
          <a:noFill/>
        </p:spPr>
        <p:txBody>
          <a:bodyPr wrap="none" lIns="0" rIns="0" tIns="0" bIns="0">
            <a:spAutoFit/>
          </a:bodyPr>
          <a:lstStyle/>
          <a:p>
            <a:pPr>
              <a:defRPr sz="1100" b="1">
                <a:solidFill>
                  <a:srgbClr val="087F82"/>
                </a:solidFill>
                <a:latin typeface="DejaVu Sans"/>
              </a:defRPr>
            </a:pPr>
            <a:r>
              <a:t>ARCHITECTURE LOOP</a:t>
            </a:r>
          </a:p>
        </p:txBody>
      </p:sp>
      <p:sp>
        <p:nvSpPr>
          <p:cNvPr id="5" name="TextBox 4"/>
          <p:cNvSpPr txBox="1"/>
          <p:nvPr/>
        </p:nvSpPr>
        <p:spPr>
          <a:xfrm>
            <a:off x="457200" y="558800"/>
            <a:ext cx="8116800" cy="547624"/>
          </a:xfrm>
          <a:prstGeom prst="rect">
            <a:avLst/>
          </a:prstGeom>
          <a:noFill/>
        </p:spPr>
        <p:txBody>
          <a:bodyPr wrap="none" lIns="0" rIns="0" tIns="0" bIns="0">
            <a:spAutoFit/>
          </a:bodyPr>
          <a:lstStyle/>
          <a:p>
            <a:pPr>
              <a:defRPr sz="2900" b="1">
                <a:solidFill>
                  <a:srgbClr val="15354C"/>
                </a:solidFill>
                <a:latin typeface="DejaVu Sans"/>
              </a:defRPr>
            </a:pPr>
            <a:r>
              <a:t>A new claim invalidates the old review</a:t>
            </a:r>
          </a:p>
        </p:txBody>
      </p:sp>
      <p:sp>
        <p:nvSpPr>
          <p:cNvPr id="6" name="TextBox 5"/>
          <p:cNvSpPr txBox="1"/>
          <p:nvPr/>
        </p:nvSpPr>
        <p:spPr>
          <a:xfrm>
            <a:off x="457200" y="1447800"/>
            <a:ext cx="7716266" cy="401320"/>
          </a:xfrm>
          <a:prstGeom prst="rect">
            <a:avLst/>
          </a:prstGeom>
          <a:noFill/>
        </p:spPr>
        <p:txBody>
          <a:bodyPr wrap="none" lIns="0" rIns="0" tIns="0" bIns="0">
            <a:spAutoFit/>
          </a:bodyPr>
          <a:lstStyle/>
          <a:p>
            <a:pPr>
              <a:defRPr sz="2000" b="0">
                <a:solidFill>
                  <a:srgbClr val="52677A"/>
                </a:solidFill>
                <a:latin typeface="DejaVu Sans"/>
              </a:defRPr>
            </a:pPr>
            <a:r>
              <a:t>A fingerprint binds a review to exact files, not to their truth.</a:t>
            </a:r>
          </a:p>
        </p:txBody>
      </p:sp>
      <p:sp>
        <p:nvSpPr>
          <p:cNvPr id="7" name="Rounded Rectangle 6"/>
          <p:cNvSpPr/>
          <p:nvPr/>
        </p:nvSpPr>
        <p:spPr>
          <a:xfrm>
            <a:off x="457200" y="2476500"/>
            <a:ext cx="3606800" cy="2844800"/>
          </a:xfrm>
          <a:prstGeom prst="roundRect">
            <a:avLst>
              <a:gd name="adj" fmla="val 6000"/>
            </a:avLst>
          </a:prstGeom>
          <a:solidFill>
            <a:srgbClr val="F3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2476500"/>
            <a:ext cx="63500" cy="2844800"/>
          </a:xfrm>
          <a:prstGeom prst="rect">
            <a:avLst/>
          </a:prstGeom>
          <a:solidFill>
            <a:srgbClr val="08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1200" y="2692400"/>
            <a:ext cx="1050379" cy="401320"/>
          </a:xfrm>
          <a:prstGeom prst="rect">
            <a:avLst/>
          </a:prstGeom>
          <a:noFill/>
        </p:spPr>
        <p:txBody>
          <a:bodyPr wrap="none" lIns="0" rIns="0" tIns="0" bIns="0">
            <a:spAutoFit/>
          </a:bodyPr>
          <a:lstStyle/>
          <a:p>
            <a:pPr>
              <a:defRPr sz="2000" b="1">
                <a:solidFill>
                  <a:srgbClr val="15354C"/>
                </a:solidFill>
                <a:latin typeface="DejaVu Sans"/>
              </a:defRPr>
            </a:pPr>
            <a:r>
              <a:t>Detect</a:t>
            </a:r>
          </a:p>
        </p:txBody>
      </p:sp>
      <p:sp>
        <p:nvSpPr>
          <p:cNvPr id="10" name="TextBox 9"/>
          <p:cNvSpPr txBox="1"/>
          <p:nvPr/>
        </p:nvSpPr>
        <p:spPr>
          <a:xfrm>
            <a:off x="711200" y="3416300"/>
            <a:ext cx="3030797" cy="352552"/>
          </a:xfrm>
          <a:prstGeom prst="rect">
            <a:avLst/>
          </a:prstGeom>
          <a:noFill/>
        </p:spPr>
        <p:txBody>
          <a:bodyPr wrap="none" lIns="0" rIns="0" tIns="0" bIns="0">
            <a:spAutoFit/>
          </a:bodyPr>
          <a:lstStyle/>
          <a:p>
            <a:pPr>
              <a:defRPr sz="1700" b="0">
                <a:solidFill>
                  <a:srgbClr val="52677A"/>
                </a:solidFill>
                <a:latin typeface="DejaVu Sans"/>
              </a:defRPr>
            </a:pPr>
            <a:r>
              <a:t>Cumulative checks identify</a:t>
            </a:r>
          </a:p>
        </p:txBody>
      </p:sp>
      <p:sp>
        <p:nvSpPr>
          <p:cNvPr id="11" name="TextBox 10"/>
          <p:cNvSpPr txBox="1"/>
          <p:nvPr/>
        </p:nvSpPr>
        <p:spPr>
          <a:xfrm>
            <a:off x="711200" y="3692652"/>
            <a:ext cx="2627039" cy="352552"/>
          </a:xfrm>
          <a:prstGeom prst="rect">
            <a:avLst/>
          </a:prstGeom>
          <a:noFill/>
        </p:spPr>
        <p:txBody>
          <a:bodyPr wrap="none" lIns="0" rIns="0" tIns="0" bIns="0">
            <a:spAutoFit/>
          </a:bodyPr>
          <a:lstStyle/>
          <a:p>
            <a:pPr>
              <a:defRPr sz="1700" b="0">
                <a:solidFill>
                  <a:srgbClr val="52677A"/>
                </a:solidFill>
                <a:latin typeface="DejaVu Sans"/>
              </a:defRPr>
            </a:pPr>
            <a:r>
              <a:t>missing references and</a:t>
            </a:r>
          </a:p>
        </p:txBody>
      </p:sp>
      <p:sp>
        <p:nvSpPr>
          <p:cNvPr id="12" name="TextBox 11"/>
          <p:cNvSpPr txBox="1"/>
          <p:nvPr/>
        </p:nvSpPr>
        <p:spPr>
          <a:xfrm>
            <a:off x="711200" y="3969004"/>
            <a:ext cx="2143267" cy="352552"/>
          </a:xfrm>
          <a:prstGeom prst="rect">
            <a:avLst/>
          </a:prstGeom>
          <a:noFill/>
        </p:spPr>
        <p:txBody>
          <a:bodyPr wrap="none" lIns="0" rIns="0" tIns="0" bIns="0">
            <a:spAutoFit/>
          </a:bodyPr>
          <a:lstStyle/>
          <a:p>
            <a:pPr>
              <a:defRPr sz="1700" b="0">
                <a:solidFill>
                  <a:srgbClr val="52677A"/>
                </a:solidFill>
                <a:latin typeface="DejaVu Sans"/>
              </a:defRPr>
            </a:pPr>
            <a:r>
              <a:t>stale review bytes.</a:t>
            </a:r>
          </a:p>
        </p:txBody>
      </p:sp>
      <p:sp>
        <p:nvSpPr>
          <p:cNvPr id="13" name="Rounded Rectangle 12"/>
          <p:cNvSpPr/>
          <p:nvPr/>
        </p:nvSpPr>
        <p:spPr>
          <a:xfrm>
            <a:off x="4292600" y="2476500"/>
            <a:ext cx="3606800" cy="2844800"/>
          </a:xfrm>
          <a:prstGeom prst="roundRect">
            <a:avLst>
              <a:gd name="adj" fmla="val 6000"/>
            </a:avLst>
          </a:prstGeom>
          <a:solidFill>
            <a:srgbClr val="F3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92600" y="2476500"/>
            <a:ext cx="63500" cy="2844800"/>
          </a:xfrm>
          <a:prstGeom prst="rect">
            <a:avLst/>
          </a:prstGeom>
          <a:solidFill>
            <a:srgbClr val="08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46600" y="2692400"/>
            <a:ext cx="1035000" cy="401320"/>
          </a:xfrm>
          <a:prstGeom prst="rect">
            <a:avLst/>
          </a:prstGeom>
          <a:noFill/>
        </p:spPr>
        <p:txBody>
          <a:bodyPr wrap="none" lIns="0" rIns="0" tIns="0" bIns="0">
            <a:spAutoFit/>
          </a:bodyPr>
          <a:lstStyle/>
          <a:p>
            <a:pPr>
              <a:defRPr sz="2000" b="1">
                <a:solidFill>
                  <a:srgbClr val="15354C"/>
                </a:solidFill>
                <a:latin typeface="DejaVu Sans"/>
              </a:defRPr>
            </a:pPr>
            <a:r>
              <a:t>Repair</a:t>
            </a:r>
          </a:p>
        </p:txBody>
      </p:sp>
      <p:sp>
        <p:nvSpPr>
          <p:cNvPr id="16" name="TextBox 15"/>
          <p:cNvSpPr txBox="1"/>
          <p:nvPr/>
        </p:nvSpPr>
        <p:spPr>
          <a:xfrm>
            <a:off x="4546600" y="3416300"/>
            <a:ext cx="3020677" cy="352552"/>
          </a:xfrm>
          <a:prstGeom prst="rect">
            <a:avLst/>
          </a:prstGeom>
          <a:noFill/>
        </p:spPr>
        <p:txBody>
          <a:bodyPr wrap="none" lIns="0" rIns="0" tIns="0" bIns="0">
            <a:spAutoFit/>
          </a:bodyPr>
          <a:lstStyle/>
          <a:p>
            <a:pPr>
              <a:defRPr sz="1700" b="0">
                <a:solidFill>
                  <a:srgbClr val="52677A"/>
                </a:solidFill>
                <a:latin typeface="DejaVu Sans"/>
              </a:defRPr>
            </a:pPr>
            <a:r>
              <a:t>Snapshot, reopen research</a:t>
            </a:r>
          </a:p>
        </p:txBody>
      </p:sp>
      <p:sp>
        <p:nvSpPr>
          <p:cNvPr id="17" name="TextBox 16"/>
          <p:cNvSpPr txBox="1"/>
          <p:nvPr/>
        </p:nvSpPr>
        <p:spPr>
          <a:xfrm>
            <a:off x="4546600" y="3692652"/>
            <a:ext cx="2996641" cy="352552"/>
          </a:xfrm>
          <a:prstGeom prst="rect">
            <a:avLst/>
          </a:prstGeom>
          <a:noFill/>
        </p:spPr>
        <p:txBody>
          <a:bodyPr wrap="none" lIns="0" rIns="0" tIns="0" bIns="0">
            <a:spAutoFit/>
          </a:bodyPr>
          <a:lstStyle/>
          <a:p>
            <a:pPr>
              <a:defRPr sz="1700" b="0">
                <a:solidFill>
                  <a:srgbClr val="52677A"/>
                </a:solidFill>
                <a:latin typeface="DejaVu Sans"/>
              </a:defRPr>
            </a:pPr>
            <a:r>
              <a:t>and update the dependent</a:t>
            </a:r>
          </a:p>
        </p:txBody>
      </p:sp>
      <p:sp>
        <p:nvSpPr>
          <p:cNvPr id="18" name="TextBox 17"/>
          <p:cNvSpPr txBox="1"/>
          <p:nvPr/>
        </p:nvSpPr>
        <p:spPr>
          <a:xfrm>
            <a:off x="4546600" y="3969004"/>
            <a:ext cx="2428217" cy="352552"/>
          </a:xfrm>
          <a:prstGeom prst="rect">
            <a:avLst/>
          </a:prstGeom>
          <a:noFill/>
        </p:spPr>
        <p:txBody>
          <a:bodyPr wrap="none" lIns="0" rIns="0" tIns="0" bIns="0">
            <a:spAutoFit/>
          </a:bodyPr>
          <a:lstStyle/>
          <a:p>
            <a:pPr>
              <a:defRPr sz="1700" b="0">
                <a:solidFill>
                  <a:srgbClr val="52677A"/>
                </a:solidFill>
                <a:latin typeface="DejaVu Sans"/>
              </a:defRPr>
            </a:pPr>
            <a:r>
              <a:t>decision and outputs.</a:t>
            </a:r>
          </a:p>
        </p:txBody>
      </p:sp>
      <p:sp>
        <p:nvSpPr>
          <p:cNvPr id="19" name="Rounded Rectangle 18"/>
          <p:cNvSpPr/>
          <p:nvPr/>
        </p:nvSpPr>
        <p:spPr>
          <a:xfrm>
            <a:off x="8128000" y="2476500"/>
            <a:ext cx="3606800" cy="2844800"/>
          </a:xfrm>
          <a:prstGeom prst="roundRect">
            <a:avLst>
              <a:gd name="adj" fmla="val 6000"/>
            </a:avLst>
          </a:prstGeom>
          <a:solidFill>
            <a:srgbClr val="F3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28000" y="2476500"/>
            <a:ext cx="63500" cy="2844800"/>
          </a:xfrm>
          <a:prstGeom prst="rect">
            <a:avLst/>
          </a:prstGeom>
          <a:solidFill>
            <a:srgbClr val="08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82000" y="2692400"/>
            <a:ext cx="1417860" cy="401320"/>
          </a:xfrm>
          <a:prstGeom prst="rect">
            <a:avLst/>
          </a:prstGeom>
          <a:noFill/>
        </p:spPr>
        <p:txBody>
          <a:bodyPr wrap="none" lIns="0" rIns="0" tIns="0" bIns="0">
            <a:spAutoFit/>
          </a:bodyPr>
          <a:lstStyle/>
          <a:p>
            <a:pPr>
              <a:defRPr sz="2000" b="1">
                <a:solidFill>
                  <a:srgbClr val="15354C"/>
                </a:solidFill>
                <a:latin typeface="DejaVu Sans"/>
              </a:defRPr>
            </a:pPr>
            <a:r>
              <a:t>Reassess</a:t>
            </a:r>
          </a:p>
        </p:txBody>
      </p:sp>
      <p:sp>
        <p:nvSpPr>
          <p:cNvPr id="22" name="TextBox 21"/>
          <p:cNvSpPr txBox="1"/>
          <p:nvPr/>
        </p:nvSpPr>
        <p:spPr>
          <a:xfrm>
            <a:off x="8382000" y="3416300"/>
            <a:ext cx="2701466" cy="352552"/>
          </a:xfrm>
          <a:prstGeom prst="rect">
            <a:avLst/>
          </a:prstGeom>
          <a:noFill/>
        </p:spPr>
        <p:txBody>
          <a:bodyPr wrap="none" lIns="0" rIns="0" tIns="0" bIns="0">
            <a:spAutoFit/>
          </a:bodyPr>
          <a:lstStyle/>
          <a:p>
            <a:pPr>
              <a:defRPr sz="1700" b="0">
                <a:solidFill>
                  <a:srgbClr val="52677A"/>
                </a:solidFill>
                <a:latin typeface="DejaVu Sans"/>
              </a:defRPr>
            </a:pPr>
            <a:r>
              <a:t>Review current content,</a:t>
            </a:r>
          </a:p>
        </p:txBody>
      </p:sp>
      <p:sp>
        <p:nvSpPr>
          <p:cNvPr id="23" name="TextBox 22"/>
          <p:cNvSpPr txBox="1"/>
          <p:nvPr/>
        </p:nvSpPr>
        <p:spPr>
          <a:xfrm>
            <a:off x="8382000" y="3692652"/>
            <a:ext cx="2811735" cy="352552"/>
          </a:xfrm>
          <a:prstGeom prst="rect">
            <a:avLst/>
          </a:prstGeom>
          <a:noFill/>
        </p:spPr>
        <p:txBody>
          <a:bodyPr wrap="none" lIns="0" rIns="0" tIns="0" bIns="0">
            <a:spAutoFit/>
          </a:bodyPr>
          <a:lstStyle/>
          <a:p>
            <a:pPr>
              <a:defRPr sz="1700" b="0">
                <a:solidFill>
                  <a:srgbClr val="52677A"/>
                </a:solidFill>
                <a:latin typeface="DejaVu Sans"/>
              </a:defRPr>
            </a:pPr>
            <a:r>
              <a:t>render again and inspect</a:t>
            </a:r>
          </a:p>
        </p:txBody>
      </p:sp>
      <p:sp>
        <p:nvSpPr>
          <p:cNvPr id="24" name="TextBox 23"/>
          <p:cNvSpPr txBox="1"/>
          <p:nvPr/>
        </p:nvSpPr>
        <p:spPr>
          <a:xfrm>
            <a:off x="8382000" y="3969004"/>
            <a:ext cx="1549331" cy="352552"/>
          </a:xfrm>
          <a:prstGeom prst="rect">
            <a:avLst/>
          </a:prstGeom>
          <a:noFill/>
        </p:spPr>
        <p:txBody>
          <a:bodyPr wrap="none" lIns="0" rIns="0" tIns="0" bIns="0">
            <a:spAutoFit/>
          </a:bodyPr>
          <a:lstStyle/>
          <a:p>
            <a:pPr>
              <a:defRPr sz="1700" b="0">
                <a:solidFill>
                  <a:srgbClr val="52677A"/>
                </a:solidFill>
                <a:latin typeface="DejaVu Sans"/>
              </a:defRPr>
            </a:pPr>
            <a:r>
              <a:t>the new files.</a:t>
            </a:r>
          </a:p>
        </p:txBody>
      </p:sp>
      <p:cxnSp>
        <p:nvCxnSpPr>
          <p:cNvPr id="25" name="Connector 24"/>
          <p:cNvCxnSpPr/>
          <p:nvPr/>
        </p:nvCxnSpPr>
        <p:spPr>
          <a:xfrm>
            <a:off x="457200" y="6477000"/>
            <a:ext cx="11277600" cy="0"/>
          </a:xfrm>
          <a:prstGeom prst="line">
            <a:avLst/>
          </a:prstGeom>
          <a:ln w="8890">
            <a:solidFill>
              <a:srgbClr val="D6E1E5"/>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457200" y="6578600"/>
            <a:ext cx="2231826" cy="206248"/>
          </a:xfrm>
          <a:prstGeom prst="rect">
            <a:avLst/>
          </a:prstGeom>
          <a:noFill/>
        </p:spPr>
        <p:txBody>
          <a:bodyPr wrap="none" lIns="0" rIns="0" tIns="0" bIns="0">
            <a:spAutoFit/>
          </a:bodyPr>
          <a:lstStyle/>
          <a:p>
            <a:pPr>
              <a:defRPr sz="800" b="0">
                <a:solidFill>
                  <a:srgbClr val="52677A"/>
                </a:solidFill>
                <a:latin typeface="DejaVu Sans"/>
              </a:defRPr>
            </a:pPr>
            <a:r>
              <a:t>P9 • mechanisms • Claims: CL3, CL6, CL8</a:t>
            </a:r>
          </a:p>
        </p:txBody>
      </p:sp>
      <p:sp>
        <p:nvSpPr>
          <p:cNvPr id="27" name="TextBox 26"/>
          <p:cNvSpPr txBox="1"/>
          <p:nvPr/>
        </p:nvSpPr>
        <p:spPr>
          <a:xfrm>
            <a:off x="11377414" y="6578600"/>
            <a:ext cx="458985" cy="206248"/>
          </a:xfrm>
          <a:prstGeom prst="rect">
            <a:avLst/>
          </a:prstGeom>
          <a:noFill/>
        </p:spPr>
        <p:txBody>
          <a:bodyPr wrap="none" lIns="0" rIns="0" tIns="0" bIns="0">
            <a:spAutoFit/>
          </a:bodyPr>
          <a:lstStyle/>
          <a:p>
            <a:pPr>
              <a:defRPr sz="800" b="0">
                <a:solidFill>
                  <a:srgbClr val="52677A"/>
                </a:solidFill>
                <a:latin typeface="DejaVu Sans"/>
              </a:defRPr>
            </a:pPr>
            <a:r>
              <a:t>09 / 15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88900"/>
          </a:xfrm>
          <a:prstGeom prst="rect">
            <a:avLst/>
          </a:prstGeom>
          <a:solidFill>
            <a:srgbClr val="08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92100"/>
            <a:ext cx="1771246" cy="255015"/>
          </a:xfrm>
          <a:prstGeom prst="rect">
            <a:avLst/>
          </a:prstGeom>
          <a:noFill/>
        </p:spPr>
        <p:txBody>
          <a:bodyPr wrap="none" lIns="0" rIns="0" tIns="0" bIns="0">
            <a:spAutoFit/>
          </a:bodyPr>
          <a:lstStyle/>
          <a:p>
            <a:pPr>
              <a:defRPr sz="1100" b="1">
                <a:solidFill>
                  <a:srgbClr val="087F82"/>
                </a:solidFill>
                <a:latin typeface="DejaVu Sans"/>
              </a:defRPr>
            </a:pPr>
            <a:r>
              <a:t>ARCHITECTURE LOOP</a:t>
            </a:r>
          </a:p>
        </p:txBody>
      </p:sp>
      <p:sp>
        <p:nvSpPr>
          <p:cNvPr id="5" name="TextBox 4"/>
          <p:cNvSpPr txBox="1"/>
          <p:nvPr/>
        </p:nvSpPr>
        <p:spPr>
          <a:xfrm>
            <a:off x="457200" y="558800"/>
            <a:ext cx="8370006" cy="547624"/>
          </a:xfrm>
          <a:prstGeom prst="rect">
            <a:avLst/>
          </a:prstGeom>
          <a:noFill/>
        </p:spPr>
        <p:txBody>
          <a:bodyPr wrap="none" lIns="0" rIns="0" tIns="0" bIns="0">
            <a:spAutoFit/>
          </a:bodyPr>
          <a:lstStyle/>
          <a:p>
            <a:pPr>
              <a:defRPr sz="2900" b="1">
                <a:solidFill>
                  <a:srgbClr val="15354C"/>
                </a:solidFill>
                <a:latin typeface="DejaVu Sans"/>
              </a:defRPr>
            </a:pPr>
            <a:r>
              <a:t>One story can serve two reading modes</a:t>
            </a:r>
          </a:p>
        </p:txBody>
      </p:sp>
      <p:sp>
        <p:nvSpPr>
          <p:cNvPr id="6" name="TextBox 5"/>
          <p:cNvSpPr txBox="1"/>
          <p:nvPr/>
        </p:nvSpPr>
        <p:spPr>
          <a:xfrm>
            <a:off x="457200" y="1447800"/>
            <a:ext cx="8519690" cy="401320"/>
          </a:xfrm>
          <a:prstGeom prst="rect">
            <a:avLst/>
          </a:prstGeom>
          <a:noFill/>
        </p:spPr>
        <p:txBody>
          <a:bodyPr wrap="none" lIns="0" rIns="0" tIns="0" bIns="0">
            <a:spAutoFit/>
          </a:bodyPr>
          <a:lstStyle/>
          <a:p>
            <a:pPr>
              <a:defRPr sz="2000" b="0">
                <a:solidFill>
                  <a:srgbClr val="52677A"/>
                </a:solidFill>
                <a:latin typeface="DejaVu Sans"/>
              </a:defRPr>
            </a:pPr>
            <a:r>
              <a:t>The deck simplifies detail while preserving the paper’s conditions.</a:t>
            </a:r>
          </a:p>
        </p:txBody>
      </p:sp>
      <p:sp>
        <p:nvSpPr>
          <p:cNvPr id="7" name="Rounded Rectangle 6"/>
          <p:cNvSpPr/>
          <p:nvPr/>
        </p:nvSpPr>
        <p:spPr>
          <a:xfrm>
            <a:off x="457200" y="2476500"/>
            <a:ext cx="3606800" cy="2844800"/>
          </a:xfrm>
          <a:prstGeom prst="roundRect">
            <a:avLst>
              <a:gd name="adj" fmla="val 6000"/>
            </a:avLst>
          </a:prstGeom>
          <a:solidFill>
            <a:srgbClr val="F3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2476500"/>
            <a:ext cx="63500" cy="2844800"/>
          </a:xfrm>
          <a:prstGeom prst="rect">
            <a:avLst/>
          </a:prstGeom>
          <a:solidFill>
            <a:srgbClr val="08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1200" y="2692400"/>
            <a:ext cx="938510" cy="401320"/>
          </a:xfrm>
          <a:prstGeom prst="rect">
            <a:avLst/>
          </a:prstGeom>
          <a:noFill/>
        </p:spPr>
        <p:txBody>
          <a:bodyPr wrap="none" lIns="0" rIns="0" tIns="0" bIns="0">
            <a:spAutoFit/>
          </a:bodyPr>
          <a:lstStyle/>
          <a:p>
            <a:pPr>
              <a:defRPr sz="2000" b="1">
                <a:solidFill>
                  <a:srgbClr val="15354C"/>
                </a:solidFill>
                <a:latin typeface="DejaVu Sans"/>
              </a:defRPr>
            </a:pPr>
            <a:r>
              <a:t>Paper</a:t>
            </a:r>
          </a:p>
        </p:txBody>
      </p:sp>
      <p:sp>
        <p:nvSpPr>
          <p:cNvPr id="10" name="TextBox 9"/>
          <p:cNvSpPr txBox="1"/>
          <p:nvPr/>
        </p:nvSpPr>
        <p:spPr>
          <a:xfrm>
            <a:off x="711200" y="3416300"/>
            <a:ext cx="2553456" cy="352552"/>
          </a:xfrm>
          <a:prstGeom prst="rect">
            <a:avLst/>
          </a:prstGeom>
          <a:noFill/>
        </p:spPr>
        <p:txBody>
          <a:bodyPr wrap="none" lIns="0" rIns="0" tIns="0" bIns="0">
            <a:spAutoFit/>
          </a:bodyPr>
          <a:lstStyle/>
          <a:p>
            <a:pPr>
              <a:defRPr sz="1700" b="0">
                <a:solidFill>
                  <a:srgbClr val="52677A"/>
                </a:solidFill>
                <a:latin typeface="DejaVu Sans"/>
              </a:defRPr>
            </a:pPr>
            <a:r>
              <a:t>Full context, evidence,</a:t>
            </a:r>
          </a:p>
        </p:txBody>
      </p:sp>
      <p:sp>
        <p:nvSpPr>
          <p:cNvPr id="11" name="TextBox 10"/>
          <p:cNvSpPr txBox="1"/>
          <p:nvPr/>
        </p:nvSpPr>
        <p:spPr>
          <a:xfrm>
            <a:off x="711200" y="3692652"/>
            <a:ext cx="2887321" cy="352552"/>
          </a:xfrm>
          <a:prstGeom prst="rect">
            <a:avLst/>
          </a:prstGeom>
          <a:noFill/>
        </p:spPr>
        <p:txBody>
          <a:bodyPr wrap="none" lIns="0" rIns="0" tIns="0" bIns="0">
            <a:spAutoFit/>
          </a:bodyPr>
          <a:lstStyle/>
          <a:p>
            <a:pPr>
              <a:defRPr sz="1700" b="0">
                <a:solidFill>
                  <a:srgbClr val="52677A"/>
                </a:solidFill>
                <a:latin typeface="DejaVu Sans"/>
              </a:defRPr>
            </a:pPr>
            <a:r>
              <a:t>mechanisms, alternatives</a:t>
            </a:r>
          </a:p>
        </p:txBody>
      </p:sp>
      <p:sp>
        <p:nvSpPr>
          <p:cNvPr id="12" name="TextBox 11"/>
          <p:cNvSpPr txBox="1"/>
          <p:nvPr/>
        </p:nvSpPr>
        <p:spPr>
          <a:xfrm>
            <a:off x="711200" y="3969004"/>
            <a:ext cx="1707988" cy="352552"/>
          </a:xfrm>
          <a:prstGeom prst="rect">
            <a:avLst/>
          </a:prstGeom>
          <a:noFill/>
        </p:spPr>
        <p:txBody>
          <a:bodyPr wrap="none" lIns="0" rIns="0" tIns="0" bIns="0">
            <a:spAutoFit/>
          </a:bodyPr>
          <a:lstStyle/>
          <a:p>
            <a:pPr>
              <a:defRPr sz="1700" b="0">
                <a:solidFill>
                  <a:srgbClr val="52677A"/>
                </a:solidFill>
                <a:latin typeface="DejaVu Sans"/>
              </a:defRPr>
            </a:pPr>
            <a:r>
              <a:t>and validation.</a:t>
            </a:r>
          </a:p>
        </p:txBody>
      </p:sp>
      <p:sp>
        <p:nvSpPr>
          <p:cNvPr id="13" name="Rounded Rectangle 12"/>
          <p:cNvSpPr/>
          <p:nvPr/>
        </p:nvSpPr>
        <p:spPr>
          <a:xfrm>
            <a:off x="4292600" y="2476500"/>
            <a:ext cx="3606800" cy="2844800"/>
          </a:xfrm>
          <a:prstGeom prst="roundRect">
            <a:avLst>
              <a:gd name="adj" fmla="val 6000"/>
            </a:avLst>
          </a:prstGeom>
          <a:solidFill>
            <a:srgbClr val="F3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92600" y="2476500"/>
            <a:ext cx="63500" cy="2844800"/>
          </a:xfrm>
          <a:prstGeom prst="rect">
            <a:avLst/>
          </a:prstGeom>
          <a:solidFill>
            <a:srgbClr val="08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46600" y="2692400"/>
            <a:ext cx="804192" cy="401320"/>
          </a:xfrm>
          <a:prstGeom prst="rect">
            <a:avLst/>
          </a:prstGeom>
          <a:noFill/>
        </p:spPr>
        <p:txBody>
          <a:bodyPr wrap="none" lIns="0" rIns="0" tIns="0" bIns="0">
            <a:spAutoFit/>
          </a:bodyPr>
          <a:lstStyle/>
          <a:p>
            <a:pPr>
              <a:defRPr sz="2000" b="1">
                <a:solidFill>
                  <a:srgbClr val="15354C"/>
                </a:solidFill>
                <a:latin typeface="DejaVu Sans"/>
              </a:defRPr>
            </a:pPr>
            <a:r>
              <a:t>Deck</a:t>
            </a:r>
          </a:p>
        </p:txBody>
      </p:sp>
      <p:sp>
        <p:nvSpPr>
          <p:cNvPr id="16" name="TextBox 15"/>
          <p:cNvSpPr txBox="1"/>
          <p:nvPr/>
        </p:nvSpPr>
        <p:spPr>
          <a:xfrm>
            <a:off x="4546600" y="3416300"/>
            <a:ext cx="2821223" cy="352552"/>
          </a:xfrm>
          <a:prstGeom prst="rect">
            <a:avLst/>
          </a:prstGeom>
          <a:noFill/>
        </p:spPr>
        <p:txBody>
          <a:bodyPr wrap="none" lIns="0" rIns="0" tIns="0" bIns="0">
            <a:spAutoFit/>
          </a:bodyPr>
          <a:lstStyle/>
          <a:p>
            <a:pPr>
              <a:defRPr sz="1700" b="0">
                <a:solidFill>
                  <a:srgbClr val="52677A"/>
                </a:solidFill>
                <a:latin typeface="DejaVu Sans"/>
              </a:defRPr>
            </a:pPr>
            <a:r>
              <a:t>One conclusion per slide,</a:t>
            </a:r>
          </a:p>
        </p:txBody>
      </p:sp>
      <p:sp>
        <p:nvSpPr>
          <p:cNvPr id="17" name="TextBox 16"/>
          <p:cNvSpPr txBox="1"/>
          <p:nvPr/>
        </p:nvSpPr>
        <p:spPr>
          <a:xfrm>
            <a:off x="4546600" y="3692652"/>
            <a:ext cx="2941191" cy="352552"/>
          </a:xfrm>
          <a:prstGeom prst="rect">
            <a:avLst/>
          </a:prstGeom>
          <a:noFill/>
        </p:spPr>
        <p:txBody>
          <a:bodyPr wrap="none" lIns="0" rIns="0" tIns="0" bIns="0">
            <a:spAutoFit/>
          </a:bodyPr>
          <a:lstStyle/>
          <a:p>
            <a:pPr>
              <a:defRPr sz="1700" b="0">
                <a:solidFill>
                  <a:srgbClr val="52677A"/>
                </a:solidFill>
                <a:latin typeface="DejaVu Sans"/>
              </a:defRPr>
            </a:pPr>
            <a:r>
              <a:t>clear visuals and readable</a:t>
            </a:r>
          </a:p>
        </p:txBody>
      </p:sp>
      <p:sp>
        <p:nvSpPr>
          <p:cNvPr id="18" name="TextBox 17"/>
          <p:cNvSpPr txBox="1"/>
          <p:nvPr/>
        </p:nvSpPr>
        <p:spPr>
          <a:xfrm>
            <a:off x="4546600" y="3969004"/>
            <a:ext cx="1559452" cy="352552"/>
          </a:xfrm>
          <a:prstGeom prst="rect">
            <a:avLst/>
          </a:prstGeom>
          <a:noFill/>
        </p:spPr>
        <p:txBody>
          <a:bodyPr wrap="none" lIns="0" rIns="0" tIns="0" bIns="0">
            <a:spAutoFit/>
          </a:bodyPr>
          <a:lstStyle/>
          <a:p>
            <a:pPr>
              <a:defRPr sz="1700" b="0">
                <a:solidFill>
                  <a:srgbClr val="52677A"/>
                </a:solidFill>
                <a:latin typeface="DejaVu Sans"/>
              </a:defRPr>
            </a:pPr>
            <a:r>
              <a:t>source notes.</a:t>
            </a:r>
          </a:p>
        </p:txBody>
      </p:sp>
      <p:sp>
        <p:nvSpPr>
          <p:cNvPr id="19" name="Rounded Rectangle 18"/>
          <p:cNvSpPr/>
          <p:nvPr/>
        </p:nvSpPr>
        <p:spPr>
          <a:xfrm>
            <a:off x="8128000" y="2476500"/>
            <a:ext cx="3606800" cy="2844800"/>
          </a:xfrm>
          <a:prstGeom prst="roundRect">
            <a:avLst>
              <a:gd name="adj" fmla="val 6000"/>
            </a:avLst>
          </a:prstGeom>
          <a:solidFill>
            <a:srgbClr val="F3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28000" y="2476500"/>
            <a:ext cx="63500" cy="2844800"/>
          </a:xfrm>
          <a:prstGeom prst="rect">
            <a:avLst/>
          </a:prstGeom>
          <a:solidFill>
            <a:srgbClr val="08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82000" y="2692400"/>
            <a:ext cx="2400498" cy="401320"/>
          </a:xfrm>
          <a:prstGeom prst="rect">
            <a:avLst/>
          </a:prstGeom>
          <a:noFill/>
        </p:spPr>
        <p:txBody>
          <a:bodyPr wrap="none" lIns="0" rIns="0" tIns="0" bIns="0">
            <a:spAutoFit/>
          </a:bodyPr>
          <a:lstStyle/>
          <a:p>
            <a:pPr>
              <a:defRPr sz="2000" b="1">
                <a:solidFill>
                  <a:srgbClr val="15354C"/>
                </a:solidFill>
                <a:latin typeface="DejaVu Sans"/>
              </a:defRPr>
            </a:pPr>
            <a:r>
              <a:t>Shared contract</a:t>
            </a:r>
          </a:p>
        </p:txBody>
      </p:sp>
      <p:sp>
        <p:nvSpPr>
          <p:cNvPr id="22" name="TextBox 21"/>
          <p:cNvSpPr txBox="1"/>
          <p:nvPr/>
        </p:nvSpPr>
        <p:spPr>
          <a:xfrm>
            <a:off x="8382000" y="3416300"/>
            <a:ext cx="2668469" cy="352552"/>
          </a:xfrm>
          <a:prstGeom prst="rect">
            <a:avLst/>
          </a:prstGeom>
          <a:noFill/>
        </p:spPr>
        <p:txBody>
          <a:bodyPr wrap="none" lIns="0" rIns="0" tIns="0" bIns="0">
            <a:spAutoFit/>
          </a:bodyPr>
          <a:lstStyle/>
          <a:p>
            <a:pPr>
              <a:defRPr sz="1700" b="0">
                <a:solidFill>
                  <a:srgbClr val="52677A"/>
                </a:solidFill>
                <a:latin typeface="DejaVu Sans"/>
              </a:defRPr>
            </a:pPr>
            <a:r>
              <a:t>Same names, numbers,</a:t>
            </a:r>
          </a:p>
        </p:txBody>
      </p:sp>
      <p:sp>
        <p:nvSpPr>
          <p:cNvPr id="23" name="TextBox 22"/>
          <p:cNvSpPr txBox="1"/>
          <p:nvPr/>
        </p:nvSpPr>
        <p:spPr>
          <a:xfrm>
            <a:off x="8382000" y="3692652"/>
            <a:ext cx="2564947" cy="352552"/>
          </a:xfrm>
          <a:prstGeom prst="rect">
            <a:avLst/>
          </a:prstGeom>
          <a:noFill/>
        </p:spPr>
        <p:txBody>
          <a:bodyPr wrap="none" lIns="0" rIns="0" tIns="0" bIns="0">
            <a:spAutoFit/>
          </a:bodyPr>
          <a:lstStyle/>
          <a:p>
            <a:pPr>
              <a:defRPr sz="1700" b="0">
                <a:solidFill>
                  <a:srgbClr val="52677A"/>
                </a:solidFill>
                <a:latin typeface="DejaVu Sans"/>
              </a:defRPr>
            </a:pPr>
            <a:r>
              <a:t>caveats, diagrams and</a:t>
            </a:r>
          </a:p>
        </p:txBody>
      </p:sp>
      <p:sp>
        <p:nvSpPr>
          <p:cNvPr id="24" name="TextBox 23"/>
          <p:cNvSpPr txBox="1"/>
          <p:nvPr/>
        </p:nvSpPr>
        <p:spPr>
          <a:xfrm>
            <a:off x="8382000" y="3969004"/>
            <a:ext cx="1498624" cy="352552"/>
          </a:xfrm>
          <a:prstGeom prst="rect">
            <a:avLst/>
          </a:prstGeom>
          <a:noFill/>
        </p:spPr>
        <p:txBody>
          <a:bodyPr wrap="none" lIns="0" rIns="0" tIns="0" bIns="0">
            <a:spAutoFit/>
          </a:bodyPr>
          <a:lstStyle/>
          <a:p>
            <a:pPr>
              <a:defRPr sz="1700" b="0">
                <a:solidFill>
                  <a:srgbClr val="52677A"/>
                </a:solidFill>
                <a:latin typeface="DejaVu Sans"/>
              </a:defRPr>
            </a:pPr>
            <a:r>
              <a:t>decision ask.</a:t>
            </a:r>
          </a:p>
        </p:txBody>
      </p:sp>
      <p:cxnSp>
        <p:nvCxnSpPr>
          <p:cNvPr id="25" name="Connector 24"/>
          <p:cNvCxnSpPr/>
          <p:nvPr/>
        </p:nvCxnSpPr>
        <p:spPr>
          <a:xfrm>
            <a:off x="457200" y="6477000"/>
            <a:ext cx="11277600" cy="0"/>
          </a:xfrm>
          <a:prstGeom prst="line">
            <a:avLst/>
          </a:prstGeom>
          <a:ln w="8890">
            <a:solidFill>
              <a:srgbClr val="D6E1E5"/>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457200" y="6578600"/>
            <a:ext cx="1398289" cy="206248"/>
          </a:xfrm>
          <a:prstGeom prst="rect">
            <a:avLst/>
          </a:prstGeom>
          <a:noFill/>
        </p:spPr>
        <p:txBody>
          <a:bodyPr wrap="none" lIns="0" rIns="0" tIns="0" bIns="0">
            <a:spAutoFit/>
          </a:bodyPr>
          <a:lstStyle/>
          <a:p>
            <a:pPr>
              <a:defRPr sz="800" b="0">
                <a:solidFill>
                  <a:srgbClr val="52677A"/>
                </a:solidFill>
                <a:latin typeface="DejaVu Sans"/>
              </a:defRPr>
            </a:pPr>
            <a:r>
              <a:t>P10 • story • Claims: CL7</a:t>
            </a:r>
          </a:p>
        </p:txBody>
      </p:sp>
      <p:sp>
        <p:nvSpPr>
          <p:cNvPr id="27" name="TextBox 26"/>
          <p:cNvSpPr txBox="1"/>
          <p:nvPr/>
        </p:nvSpPr>
        <p:spPr>
          <a:xfrm>
            <a:off x="11377414" y="6578600"/>
            <a:ext cx="458985" cy="206248"/>
          </a:xfrm>
          <a:prstGeom prst="rect">
            <a:avLst/>
          </a:prstGeom>
          <a:noFill/>
        </p:spPr>
        <p:txBody>
          <a:bodyPr wrap="none" lIns="0" rIns="0" tIns="0" bIns="0">
            <a:spAutoFit/>
          </a:bodyPr>
          <a:lstStyle/>
          <a:p>
            <a:pPr>
              <a:defRPr sz="800" b="0">
                <a:solidFill>
                  <a:srgbClr val="52677A"/>
                </a:solidFill>
                <a:latin typeface="DejaVu Sans"/>
              </a:defRPr>
            </a:pPr>
            <a:r>
              <a:t>10 / 15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88900"/>
          </a:xfrm>
          <a:prstGeom prst="rect">
            <a:avLst/>
          </a:prstGeom>
          <a:solidFill>
            <a:srgbClr val="08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92100"/>
            <a:ext cx="1771246" cy="255015"/>
          </a:xfrm>
          <a:prstGeom prst="rect">
            <a:avLst/>
          </a:prstGeom>
          <a:noFill/>
        </p:spPr>
        <p:txBody>
          <a:bodyPr wrap="none" lIns="0" rIns="0" tIns="0" bIns="0">
            <a:spAutoFit/>
          </a:bodyPr>
          <a:lstStyle/>
          <a:p>
            <a:pPr>
              <a:defRPr sz="1100" b="1">
                <a:solidFill>
                  <a:srgbClr val="087F82"/>
                </a:solidFill>
                <a:latin typeface="DejaVu Sans"/>
              </a:defRPr>
            </a:pPr>
            <a:r>
              <a:t>ARCHITECTURE LOOP</a:t>
            </a:r>
          </a:p>
        </p:txBody>
      </p:sp>
      <p:sp>
        <p:nvSpPr>
          <p:cNvPr id="5" name="TextBox 4"/>
          <p:cNvSpPr txBox="1"/>
          <p:nvPr/>
        </p:nvSpPr>
        <p:spPr>
          <a:xfrm>
            <a:off x="457200" y="558800"/>
            <a:ext cx="10011171" cy="547624"/>
          </a:xfrm>
          <a:prstGeom prst="rect">
            <a:avLst/>
          </a:prstGeom>
          <a:noFill/>
        </p:spPr>
        <p:txBody>
          <a:bodyPr wrap="none" lIns="0" rIns="0" tIns="0" bIns="0">
            <a:spAutoFit/>
          </a:bodyPr>
          <a:lstStyle/>
          <a:p>
            <a:pPr>
              <a:defRPr sz="2900" b="1">
                <a:solidFill>
                  <a:srgbClr val="15354C"/>
                </a:solidFill>
                <a:latin typeface="DejaVu Sans"/>
              </a:defRPr>
            </a:pPr>
            <a:r>
              <a:t>Integrate through files and explicit instructions</a:t>
            </a:r>
          </a:p>
        </p:txBody>
      </p:sp>
      <p:sp>
        <p:nvSpPr>
          <p:cNvPr id="6" name="TextBox 5"/>
          <p:cNvSpPr txBox="1"/>
          <p:nvPr/>
        </p:nvSpPr>
        <p:spPr>
          <a:xfrm>
            <a:off x="457200" y="1447800"/>
            <a:ext cx="7729165" cy="401320"/>
          </a:xfrm>
          <a:prstGeom prst="rect">
            <a:avLst/>
          </a:prstGeom>
          <a:noFill/>
        </p:spPr>
        <p:txBody>
          <a:bodyPr wrap="none" lIns="0" rIns="0" tIns="0" bIns="0">
            <a:spAutoFit/>
          </a:bodyPr>
          <a:lstStyle/>
          <a:p>
            <a:pPr>
              <a:defRPr sz="2000" b="0">
                <a:solidFill>
                  <a:srgbClr val="52677A"/>
                </a:solidFill>
                <a:latin typeface="DejaVu Sans"/>
              </a:defRPr>
            </a:pPr>
            <a:r>
              <a:t>Portability depends on the capabilities available in the host.</a:t>
            </a:r>
          </a:p>
        </p:txBody>
      </p:sp>
      <p:sp>
        <p:nvSpPr>
          <p:cNvPr id="7" name="Rounded Rectangle 6"/>
          <p:cNvSpPr/>
          <p:nvPr/>
        </p:nvSpPr>
        <p:spPr>
          <a:xfrm>
            <a:off x="457200" y="2476500"/>
            <a:ext cx="3606800" cy="2844800"/>
          </a:xfrm>
          <a:prstGeom prst="roundRect">
            <a:avLst>
              <a:gd name="adj" fmla="val 6000"/>
            </a:avLst>
          </a:prstGeom>
          <a:solidFill>
            <a:srgbClr val="F3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2476500"/>
            <a:ext cx="63500" cy="2844800"/>
          </a:xfrm>
          <a:prstGeom prst="rect">
            <a:avLst/>
          </a:prstGeom>
          <a:solidFill>
            <a:srgbClr val="08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1200" y="2692400"/>
            <a:ext cx="1884808" cy="401320"/>
          </a:xfrm>
          <a:prstGeom prst="rect">
            <a:avLst/>
          </a:prstGeom>
          <a:noFill/>
        </p:spPr>
        <p:txBody>
          <a:bodyPr wrap="none" lIns="0" rIns="0" tIns="0" bIns="0">
            <a:spAutoFit/>
          </a:bodyPr>
          <a:lstStyle/>
          <a:p>
            <a:pPr>
              <a:defRPr sz="2000" b="1">
                <a:solidFill>
                  <a:srgbClr val="15354C"/>
                </a:solidFill>
                <a:latin typeface="DejaVu Sans"/>
              </a:defRPr>
            </a:pPr>
            <a:r>
              <a:t>Claude Code</a:t>
            </a:r>
          </a:p>
        </p:txBody>
      </p:sp>
      <p:sp>
        <p:nvSpPr>
          <p:cNvPr id="10" name="TextBox 9"/>
          <p:cNvSpPr txBox="1"/>
          <p:nvPr/>
        </p:nvSpPr>
        <p:spPr>
          <a:xfrm>
            <a:off x="711200" y="3416300"/>
            <a:ext cx="2759552" cy="352552"/>
          </a:xfrm>
          <a:prstGeom prst="rect">
            <a:avLst/>
          </a:prstGeom>
          <a:noFill/>
        </p:spPr>
        <p:txBody>
          <a:bodyPr wrap="none" lIns="0" rIns="0" tIns="0" bIns="0">
            <a:spAutoFit/>
          </a:bodyPr>
          <a:lstStyle/>
          <a:p>
            <a:pPr>
              <a:defRPr sz="1700" b="0">
                <a:solidFill>
                  <a:srgbClr val="52677A"/>
                </a:solidFill>
                <a:latin typeface="DejaVu Sans"/>
              </a:defRPr>
            </a:pPr>
            <a:r>
              <a:t>Merge the small adapter</a:t>
            </a:r>
          </a:p>
        </p:txBody>
      </p:sp>
      <p:sp>
        <p:nvSpPr>
          <p:cNvPr id="11" name="TextBox 10"/>
          <p:cNvSpPr txBox="1"/>
          <p:nvPr/>
        </p:nvSpPr>
        <p:spPr>
          <a:xfrm>
            <a:off x="711200" y="3692652"/>
            <a:ext cx="2989262" cy="352552"/>
          </a:xfrm>
          <a:prstGeom prst="rect">
            <a:avLst/>
          </a:prstGeom>
          <a:noFill/>
        </p:spPr>
        <p:txBody>
          <a:bodyPr wrap="none" lIns="0" rIns="0" tIns="0" bIns="0">
            <a:spAutoFit/>
          </a:bodyPr>
          <a:lstStyle/>
          <a:p>
            <a:pPr>
              <a:defRPr sz="1700" b="0">
                <a:solidFill>
                  <a:srgbClr val="52677A"/>
                </a:solidFill>
                <a:latin typeface="DejaVu Sans"/>
              </a:defRPr>
            </a:pPr>
            <a:r>
              <a:t>into CLAUDE.md; explicitly</a:t>
            </a:r>
          </a:p>
        </p:txBody>
      </p:sp>
      <p:sp>
        <p:nvSpPr>
          <p:cNvPr id="12" name="TextBox 11"/>
          <p:cNvSpPr txBox="1"/>
          <p:nvPr/>
        </p:nvSpPr>
        <p:spPr>
          <a:xfrm>
            <a:off x="711200" y="3969004"/>
            <a:ext cx="1392888" cy="352552"/>
          </a:xfrm>
          <a:prstGeom prst="rect">
            <a:avLst/>
          </a:prstGeom>
          <a:noFill/>
        </p:spPr>
        <p:txBody>
          <a:bodyPr wrap="none" lIns="0" rIns="0" tIns="0" bIns="0">
            <a:spAutoFit/>
          </a:bodyPr>
          <a:lstStyle/>
          <a:p>
            <a:pPr>
              <a:defRPr sz="1700" b="0">
                <a:solidFill>
                  <a:srgbClr val="52677A"/>
                </a:solidFill>
                <a:latin typeface="DejaVu Sans"/>
              </a:defRPr>
            </a:pPr>
            <a:r>
              <a:t>load the kit.</a:t>
            </a:r>
          </a:p>
        </p:txBody>
      </p:sp>
      <p:sp>
        <p:nvSpPr>
          <p:cNvPr id="13" name="Rounded Rectangle 12"/>
          <p:cNvSpPr/>
          <p:nvPr/>
        </p:nvSpPr>
        <p:spPr>
          <a:xfrm>
            <a:off x="4292600" y="2476500"/>
            <a:ext cx="3606800" cy="2844800"/>
          </a:xfrm>
          <a:prstGeom prst="roundRect">
            <a:avLst>
              <a:gd name="adj" fmla="val 6000"/>
            </a:avLst>
          </a:prstGeom>
          <a:solidFill>
            <a:srgbClr val="F3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92600" y="2476500"/>
            <a:ext cx="63500" cy="2844800"/>
          </a:xfrm>
          <a:prstGeom prst="rect">
            <a:avLst/>
          </a:prstGeom>
          <a:solidFill>
            <a:srgbClr val="08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46600" y="2692400"/>
            <a:ext cx="2194991" cy="401320"/>
          </a:xfrm>
          <a:prstGeom prst="rect">
            <a:avLst/>
          </a:prstGeom>
          <a:noFill/>
        </p:spPr>
        <p:txBody>
          <a:bodyPr wrap="none" lIns="0" rIns="0" tIns="0" bIns="0">
            <a:spAutoFit/>
          </a:bodyPr>
          <a:lstStyle/>
          <a:p>
            <a:pPr>
              <a:defRPr sz="2000" b="1">
                <a:solidFill>
                  <a:srgbClr val="15354C"/>
                </a:solidFill>
                <a:latin typeface="DejaVu Sans"/>
              </a:defRPr>
            </a:pPr>
            <a:r>
              <a:t>GitHub Copilot</a:t>
            </a:r>
          </a:p>
        </p:txBody>
      </p:sp>
      <p:sp>
        <p:nvSpPr>
          <p:cNvPr id="16" name="TextBox 15"/>
          <p:cNvSpPr txBox="1"/>
          <p:nvPr/>
        </p:nvSpPr>
        <p:spPr>
          <a:xfrm>
            <a:off x="4546600" y="3416300"/>
            <a:ext cx="1944445" cy="352552"/>
          </a:xfrm>
          <a:prstGeom prst="rect">
            <a:avLst/>
          </a:prstGeom>
          <a:noFill/>
        </p:spPr>
        <p:txBody>
          <a:bodyPr wrap="none" lIns="0" rIns="0" tIns="0" bIns="0">
            <a:spAutoFit/>
          </a:bodyPr>
          <a:lstStyle/>
          <a:p>
            <a:pPr>
              <a:defRPr sz="1700" b="0">
                <a:solidFill>
                  <a:srgbClr val="52677A"/>
                </a:solidFill>
                <a:latin typeface="DejaVu Sans"/>
              </a:defRPr>
            </a:pPr>
            <a:r>
              <a:t>Merge repository</a:t>
            </a:r>
          </a:p>
        </p:txBody>
      </p:sp>
      <p:sp>
        <p:nvSpPr>
          <p:cNvPr id="17" name="TextBox 16"/>
          <p:cNvSpPr txBox="1"/>
          <p:nvPr/>
        </p:nvSpPr>
        <p:spPr>
          <a:xfrm>
            <a:off x="4546600" y="3692652"/>
            <a:ext cx="3050406" cy="352552"/>
          </a:xfrm>
          <a:prstGeom prst="rect">
            <a:avLst/>
          </a:prstGeom>
          <a:noFill/>
        </p:spPr>
        <p:txBody>
          <a:bodyPr wrap="none" lIns="0" rIns="0" tIns="0" bIns="0">
            <a:spAutoFit/>
          </a:bodyPr>
          <a:lstStyle/>
          <a:p>
            <a:pPr>
              <a:defRPr sz="1700" b="0">
                <a:solidFill>
                  <a:srgbClr val="52677A"/>
                </a:solidFill>
                <a:latin typeface="DejaVu Sans"/>
              </a:defRPr>
            </a:pPr>
            <a:r>
              <a:t>instructions; verify that the</a:t>
            </a:r>
          </a:p>
        </p:txBody>
      </p:sp>
      <p:sp>
        <p:nvSpPr>
          <p:cNvPr id="18" name="TextBox 17"/>
          <p:cNvSpPr txBox="1"/>
          <p:nvPr/>
        </p:nvSpPr>
        <p:spPr>
          <a:xfrm>
            <a:off x="4546600" y="3969004"/>
            <a:ext cx="2892065" cy="352552"/>
          </a:xfrm>
          <a:prstGeom prst="rect">
            <a:avLst/>
          </a:prstGeom>
          <a:noFill/>
        </p:spPr>
        <p:txBody>
          <a:bodyPr wrap="none" lIns="0" rIns="0" tIns="0" bIns="0">
            <a:spAutoFit/>
          </a:bodyPr>
          <a:lstStyle/>
          <a:p>
            <a:pPr>
              <a:defRPr sz="1700" b="0">
                <a:solidFill>
                  <a:srgbClr val="52677A"/>
                </a:solidFill>
                <a:latin typeface="DejaVu Sans"/>
              </a:defRPr>
            </a:pPr>
            <a:r>
              <a:t>selected host loads them.</a:t>
            </a:r>
          </a:p>
        </p:txBody>
      </p:sp>
      <p:sp>
        <p:nvSpPr>
          <p:cNvPr id="19" name="Rounded Rectangle 18"/>
          <p:cNvSpPr/>
          <p:nvPr/>
        </p:nvSpPr>
        <p:spPr>
          <a:xfrm>
            <a:off x="8128000" y="2476500"/>
            <a:ext cx="3606800" cy="2844800"/>
          </a:xfrm>
          <a:prstGeom prst="roundRect">
            <a:avLst>
              <a:gd name="adj" fmla="val 6000"/>
            </a:avLst>
          </a:prstGeom>
          <a:solidFill>
            <a:srgbClr val="F3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28000" y="2476500"/>
            <a:ext cx="63500" cy="2844800"/>
          </a:xfrm>
          <a:prstGeom prst="rect">
            <a:avLst/>
          </a:prstGeom>
          <a:solidFill>
            <a:srgbClr val="08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82000" y="2692400"/>
            <a:ext cx="2982416" cy="401320"/>
          </a:xfrm>
          <a:prstGeom prst="rect">
            <a:avLst/>
          </a:prstGeom>
          <a:noFill/>
        </p:spPr>
        <p:txBody>
          <a:bodyPr wrap="none" lIns="0" rIns="0" tIns="0" bIns="0">
            <a:spAutoFit/>
          </a:bodyPr>
          <a:lstStyle/>
          <a:p>
            <a:pPr>
              <a:defRPr sz="2000" b="1">
                <a:solidFill>
                  <a:srgbClr val="15354C"/>
                </a:solidFill>
                <a:latin typeface="DejaVu Sans"/>
              </a:defRPr>
            </a:pPr>
            <a:r>
              <a:t>Other environments</a:t>
            </a:r>
          </a:p>
        </p:txBody>
      </p:sp>
      <p:sp>
        <p:nvSpPr>
          <p:cNvPr id="22" name="TextBox 21"/>
          <p:cNvSpPr txBox="1"/>
          <p:nvPr/>
        </p:nvSpPr>
        <p:spPr>
          <a:xfrm>
            <a:off x="8382000" y="3416300"/>
            <a:ext cx="3091203" cy="352552"/>
          </a:xfrm>
          <a:prstGeom prst="rect">
            <a:avLst/>
          </a:prstGeom>
          <a:noFill/>
        </p:spPr>
        <p:txBody>
          <a:bodyPr wrap="none" lIns="0" rIns="0" tIns="0" bIns="0">
            <a:spAutoFit/>
          </a:bodyPr>
          <a:lstStyle/>
          <a:p>
            <a:pPr>
              <a:defRPr sz="1700" b="0">
                <a:solidFill>
                  <a:srgbClr val="52677A"/>
                </a:solidFill>
                <a:latin typeface="DejaVu Sans"/>
              </a:defRPr>
            </a:pPr>
            <a:r>
              <a:t>Use the master prompt and</a:t>
            </a:r>
          </a:p>
        </p:txBody>
      </p:sp>
      <p:sp>
        <p:nvSpPr>
          <p:cNvPr id="23" name="TextBox 22"/>
          <p:cNvSpPr txBox="1"/>
          <p:nvPr/>
        </p:nvSpPr>
        <p:spPr>
          <a:xfrm>
            <a:off x="8382000" y="3692652"/>
            <a:ext cx="2436967" cy="352552"/>
          </a:xfrm>
          <a:prstGeom prst="rect">
            <a:avLst/>
          </a:prstGeom>
          <a:noFill/>
        </p:spPr>
        <p:txBody>
          <a:bodyPr wrap="none" lIns="0" rIns="0" tIns="0" bIns="0">
            <a:spAutoFit/>
          </a:bodyPr>
          <a:lstStyle/>
          <a:p>
            <a:pPr>
              <a:defRPr sz="1700" b="0">
                <a:solidFill>
                  <a:srgbClr val="52677A"/>
                </a:solidFill>
                <a:latin typeface="DejaVu Sans"/>
              </a:defRPr>
            </a:pPr>
            <a:r>
              <a:t>the same durable run</a:t>
            </a:r>
          </a:p>
        </p:txBody>
      </p:sp>
      <p:sp>
        <p:nvSpPr>
          <p:cNvPr id="24" name="TextBox 23"/>
          <p:cNvSpPr txBox="1"/>
          <p:nvPr/>
        </p:nvSpPr>
        <p:spPr>
          <a:xfrm>
            <a:off x="8382000" y="3969004"/>
            <a:ext cx="980907" cy="352552"/>
          </a:xfrm>
          <a:prstGeom prst="rect">
            <a:avLst/>
          </a:prstGeom>
          <a:noFill/>
        </p:spPr>
        <p:txBody>
          <a:bodyPr wrap="none" lIns="0" rIns="0" tIns="0" bIns="0">
            <a:spAutoFit/>
          </a:bodyPr>
          <a:lstStyle/>
          <a:p>
            <a:pPr>
              <a:defRPr sz="1700" b="0">
                <a:solidFill>
                  <a:srgbClr val="52677A"/>
                </a:solidFill>
                <a:latin typeface="DejaVu Sans"/>
              </a:defRPr>
            </a:pPr>
            <a:r>
              <a:t>records.</a:t>
            </a:r>
          </a:p>
        </p:txBody>
      </p:sp>
      <p:cxnSp>
        <p:nvCxnSpPr>
          <p:cNvPr id="25" name="Connector 24"/>
          <p:cNvCxnSpPr/>
          <p:nvPr/>
        </p:nvCxnSpPr>
        <p:spPr>
          <a:xfrm>
            <a:off x="457200" y="6477000"/>
            <a:ext cx="11277600" cy="0"/>
          </a:xfrm>
          <a:prstGeom prst="line">
            <a:avLst/>
          </a:prstGeom>
          <a:ln w="8890">
            <a:solidFill>
              <a:srgbClr val="D6E1E5"/>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457200" y="6578600"/>
            <a:ext cx="2115641" cy="206248"/>
          </a:xfrm>
          <a:prstGeom prst="rect">
            <a:avLst/>
          </a:prstGeom>
          <a:noFill/>
        </p:spPr>
        <p:txBody>
          <a:bodyPr wrap="none" lIns="0" rIns="0" tIns="0" bIns="0">
            <a:spAutoFit/>
          </a:bodyPr>
          <a:lstStyle/>
          <a:p>
            <a:pPr>
              <a:defRPr sz="800" b="0">
                <a:solidFill>
                  <a:srgbClr val="52677A"/>
                </a:solidFill>
                <a:latin typeface="DejaVu Sans"/>
              </a:defRPr>
            </a:pPr>
            <a:r>
              <a:t>P11 • evidence • Claims: CL4, CL5, CL9</a:t>
            </a:r>
          </a:p>
        </p:txBody>
      </p:sp>
      <p:sp>
        <p:nvSpPr>
          <p:cNvPr id="27" name="TextBox 26"/>
          <p:cNvSpPr txBox="1"/>
          <p:nvPr/>
        </p:nvSpPr>
        <p:spPr>
          <a:xfrm>
            <a:off x="11377414" y="6578600"/>
            <a:ext cx="458985" cy="206248"/>
          </a:xfrm>
          <a:prstGeom prst="rect">
            <a:avLst/>
          </a:prstGeom>
          <a:noFill/>
        </p:spPr>
        <p:txBody>
          <a:bodyPr wrap="none" lIns="0" rIns="0" tIns="0" bIns="0">
            <a:spAutoFit/>
          </a:bodyPr>
          <a:lstStyle/>
          <a:p>
            <a:pPr>
              <a:defRPr sz="800" b="0">
                <a:solidFill>
                  <a:srgbClr val="52677A"/>
                </a:solidFill>
                <a:latin typeface="DejaVu Sans"/>
              </a:defRPr>
            </a:pPr>
            <a:r>
              <a:t>11 / 15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88900"/>
          </a:xfrm>
          <a:prstGeom prst="rect">
            <a:avLst/>
          </a:prstGeom>
          <a:solidFill>
            <a:srgbClr val="08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92100"/>
            <a:ext cx="1771246" cy="255015"/>
          </a:xfrm>
          <a:prstGeom prst="rect">
            <a:avLst/>
          </a:prstGeom>
          <a:noFill/>
        </p:spPr>
        <p:txBody>
          <a:bodyPr wrap="none" lIns="0" rIns="0" tIns="0" bIns="0">
            <a:spAutoFit/>
          </a:bodyPr>
          <a:lstStyle/>
          <a:p>
            <a:pPr>
              <a:defRPr sz="1100" b="1">
                <a:solidFill>
                  <a:srgbClr val="087F82"/>
                </a:solidFill>
                <a:latin typeface="DejaVu Sans"/>
              </a:defRPr>
            </a:pPr>
            <a:r>
              <a:t>ARCHITECTURE LOOP</a:t>
            </a:r>
          </a:p>
        </p:txBody>
      </p:sp>
      <p:sp>
        <p:nvSpPr>
          <p:cNvPr id="5" name="TextBox 4"/>
          <p:cNvSpPr txBox="1"/>
          <p:nvPr/>
        </p:nvSpPr>
        <p:spPr>
          <a:xfrm>
            <a:off x="457200" y="558800"/>
            <a:ext cx="10390441" cy="547624"/>
          </a:xfrm>
          <a:prstGeom prst="rect">
            <a:avLst/>
          </a:prstGeom>
          <a:noFill/>
        </p:spPr>
        <p:txBody>
          <a:bodyPr wrap="none" lIns="0" rIns="0" tIns="0" bIns="0">
            <a:spAutoFit/>
          </a:bodyPr>
          <a:lstStyle/>
          <a:p>
            <a:pPr>
              <a:defRPr sz="2900" b="1">
                <a:solidFill>
                  <a:srgbClr val="15354C"/>
                </a:solidFill>
                <a:latin typeface="DejaVu Sans"/>
              </a:defRPr>
            </a:pPr>
            <a:r>
              <a:t>Measure whether the process improves decisions</a:t>
            </a:r>
          </a:p>
        </p:txBody>
      </p:sp>
      <p:sp>
        <p:nvSpPr>
          <p:cNvPr id="6" name="TextBox 5"/>
          <p:cNvSpPr txBox="1"/>
          <p:nvPr/>
        </p:nvSpPr>
        <p:spPr>
          <a:xfrm>
            <a:off x="457200" y="1447800"/>
            <a:ext cx="8606135" cy="401320"/>
          </a:xfrm>
          <a:prstGeom prst="rect">
            <a:avLst/>
          </a:prstGeom>
          <a:noFill/>
        </p:spPr>
        <p:txBody>
          <a:bodyPr wrap="none" lIns="0" rIns="0" tIns="0" bIns="0">
            <a:spAutoFit/>
          </a:bodyPr>
          <a:lstStyle/>
          <a:p>
            <a:pPr>
              <a:defRPr sz="2000" b="0">
                <a:solidFill>
                  <a:srgbClr val="52677A"/>
                </a:solidFill>
                <a:latin typeface="DejaVu Sans"/>
              </a:defRPr>
            </a:pPr>
            <a:r>
              <a:t>I would compare the loop with a checklist on representative briefs.</a:t>
            </a:r>
          </a:p>
        </p:txBody>
      </p:sp>
      <p:sp>
        <p:nvSpPr>
          <p:cNvPr id="7" name="Rounded Rectangle 6"/>
          <p:cNvSpPr/>
          <p:nvPr/>
        </p:nvSpPr>
        <p:spPr>
          <a:xfrm>
            <a:off x="457200" y="2476500"/>
            <a:ext cx="3606800" cy="2844800"/>
          </a:xfrm>
          <a:prstGeom prst="roundRect">
            <a:avLst>
              <a:gd name="adj" fmla="val 6000"/>
            </a:avLst>
          </a:prstGeom>
          <a:solidFill>
            <a:srgbClr val="F3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2476500"/>
            <a:ext cx="63500" cy="2844800"/>
          </a:xfrm>
          <a:prstGeom prst="rect">
            <a:avLst/>
          </a:prstGeom>
          <a:solidFill>
            <a:srgbClr val="08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1200" y="2692400"/>
            <a:ext cx="2399506" cy="401320"/>
          </a:xfrm>
          <a:prstGeom prst="rect">
            <a:avLst/>
          </a:prstGeom>
          <a:noFill/>
        </p:spPr>
        <p:txBody>
          <a:bodyPr wrap="none" lIns="0" rIns="0" tIns="0" bIns="0">
            <a:spAutoFit/>
          </a:bodyPr>
          <a:lstStyle/>
          <a:p>
            <a:pPr>
              <a:defRPr sz="2000" b="1">
                <a:solidFill>
                  <a:srgbClr val="15354C"/>
                </a:solidFill>
                <a:latin typeface="DejaVu Sans"/>
              </a:defRPr>
            </a:pPr>
            <a:r>
              <a:t>Decision quality</a:t>
            </a:r>
          </a:p>
        </p:txBody>
      </p:sp>
      <p:sp>
        <p:nvSpPr>
          <p:cNvPr id="10" name="TextBox 9"/>
          <p:cNvSpPr txBox="1"/>
          <p:nvPr/>
        </p:nvSpPr>
        <p:spPr>
          <a:xfrm>
            <a:off x="711200" y="3416300"/>
            <a:ext cx="2986310" cy="352552"/>
          </a:xfrm>
          <a:prstGeom prst="rect">
            <a:avLst/>
          </a:prstGeom>
          <a:noFill/>
        </p:spPr>
        <p:txBody>
          <a:bodyPr wrap="none" lIns="0" rIns="0" tIns="0" bIns="0">
            <a:spAutoFit/>
          </a:bodyPr>
          <a:lstStyle/>
          <a:p>
            <a:pPr>
              <a:defRPr sz="1700" b="0">
                <a:solidFill>
                  <a:srgbClr val="52677A"/>
                </a:solidFill>
                <a:latin typeface="DejaVu Sans"/>
              </a:defRPr>
            </a:pPr>
            <a:r>
              <a:t>Count unsupported pivotal</a:t>
            </a:r>
          </a:p>
        </p:txBody>
      </p:sp>
      <p:sp>
        <p:nvSpPr>
          <p:cNvPr id="11" name="TextBox 10"/>
          <p:cNvSpPr txBox="1"/>
          <p:nvPr/>
        </p:nvSpPr>
        <p:spPr>
          <a:xfrm>
            <a:off x="711200" y="3692652"/>
            <a:ext cx="3051776" cy="352552"/>
          </a:xfrm>
          <a:prstGeom prst="rect">
            <a:avLst/>
          </a:prstGeom>
          <a:noFill/>
        </p:spPr>
        <p:txBody>
          <a:bodyPr wrap="none" lIns="0" rIns="0" tIns="0" bIns="0">
            <a:spAutoFit/>
          </a:bodyPr>
          <a:lstStyle/>
          <a:p>
            <a:pPr>
              <a:defRPr sz="1700" b="0">
                <a:solidFill>
                  <a:srgbClr val="52677A"/>
                </a:solidFill>
                <a:latin typeface="DejaVu Sans"/>
              </a:defRPr>
            </a:pPr>
            <a:r>
              <a:t>claims, missed alternatives</a:t>
            </a:r>
          </a:p>
        </p:txBody>
      </p:sp>
      <p:sp>
        <p:nvSpPr>
          <p:cNvPr id="12" name="TextBox 11"/>
          <p:cNvSpPr txBox="1"/>
          <p:nvPr/>
        </p:nvSpPr>
        <p:spPr>
          <a:xfrm>
            <a:off x="711200" y="3969004"/>
            <a:ext cx="2180164" cy="352552"/>
          </a:xfrm>
          <a:prstGeom prst="rect">
            <a:avLst/>
          </a:prstGeom>
          <a:noFill/>
        </p:spPr>
        <p:txBody>
          <a:bodyPr wrap="none" lIns="0" rIns="0" tIns="0" bIns="0">
            <a:spAutoFit/>
          </a:bodyPr>
          <a:lstStyle/>
          <a:p>
            <a:pPr>
              <a:defRPr sz="1700" b="0">
                <a:solidFill>
                  <a:srgbClr val="52677A"/>
                </a:solidFill>
                <a:latin typeface="DejaVu Sans"/>
              </a:defRPr>
            </a:pPr>
            <a:r>
              <a:t>and contradictions.</a:t>
            </a:r>
          </a:p>
        </p:txBody>
      </p:sp>
      <p:sp>
        <p:nvSpPr>
          <p:cNvPr id="13" name="Rounded Rectangle 12"/>
          <p:cNvSpPr/>
          <p:nvPr/>
        </p:nvSpPr>
        <p:spPr>
          <a:xfrm>
            <a:off x="4292600" y="2476500"/>
            <a:ext cx="3606800" cy="2844800"/>
          </a:xfrm>
          <a:prstGeom prst="roundRect">
            <a:avLst>
              <a:gd name="adj" fmla="val 6000"/>
            </a:avLst>
          </a:prstGeom>
          <a:solidFill>
            <a:srgbClr val="F3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92600" y="2476500"/>
            <a:ext cx="63500" cy="2844800"/>
          </a:xfrm>
          <a:prstGeom prst="rect">
            <a:avLst/>
          </a:prstGeom>
          <a:solidFill>
            <a:srgbClr val="08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46600" y="2692400"/>
            <a:ext cx="1120204" cy="401320"/>
          </a:xfrm>
          <a:prstGeom prst="rect">
            <a:avLst/>
          </a:prstGeom>
          <a:noFill/>
        </p:spPr>
        <p:txBody>
          <a:bodyPr wrap="none" lIns="0" rIns="0" tIns="0" bIns="0">
            <a:spAutoFit/>
          </a:bodyPr>
          <a:lstStyle/>
          <a:p>
            <a:pPr>
              <a:defRPr sz="2000" b="1">
                <a:solidFill>
                  <a:srgbClr val="15354C"/>
                </a:solidFill>
                <a:latin typeface="DejaVu Sans"/>
              </a:defRPr>
            </a:pPr>
            <a:r>
              <a:t>Reader</a:t>
            </a:r>
          </a:p>
        </p:txBody>
      </p:sp>
      <p:sp>
        <p:nvSpPr>
          <p:cNvPr id="16" name="TextBox 15"/>
          <p:cNvSpPr txBox="1"/>
          <p:nvPr/>
        </p:nvSpPr>
        <p:spPr>
          <a:xfrm>
            <a:off x="4546600" y="3017520"/>
            <a:ext cx="2198960" cy="401320"/>
          </a:xfrm>
          <a:prstGeom prst="rect">
            <a:avLst/>
          </a:prstGeom>
          <a:noFill/>
        </p:spPr>
        <p:txBody>
          <a:bodyPr wrap="none" lIns="0" rIns="0" tIns="0" bIns="0">
            <a:spAutoFit/>
          </a:bodyPr>
          <a:lstStyle/>
          <a:p>
            <a:pPr>
              <a:defRPr sz="2000" b="1">
                <a:solidFill>
                  <a:srgbClr val="15354C"/>
                </a:solidFill>
                <a:latin typeface="DejaVu Sans"/>
              </a:defRPr>
            </a:pPr>
            <a:r>
              <a:t>understanding</a:t>
            </a:r>
          </a:p>
        </p:txBody>
      </p:sp>
      <p:sp>
        <p:nvSpPr>
          <p:cNvPr id="17" name="TextBox 16"/>
          <p:cNvSpPr txBox="1"/>
          <p:nvPr/>
        </p:nvSpPr>
        <p:spPr>
          <a:xfrm>
            <a:off x="4546600" y="3416300"/>
            <a:ext cx="3198310" cy="352552"/>
          </a:xfrm>
          <a:prstGeom prst="rect">
            <a:avLst/>
          </a:prstGeom>
          <a:noFill/>
        </p:spPr>
        <p:txBody>
          <a:bodyPr wrap="none" lIns="0" rIns="0" tIns="0" bIns="0">
            <a:spAutoFit/>
          </a:bodyPr>
          <a:lstStyle/>
          <a:p>
            <a:pPr>
              <a:defRPr sz="1700" b="0">
                <a:solidFill>
                  <a:srgbClr val="52677A"/>
                </a:solidFill>
                <a:latin typeface="DejaVu Sans"/>
              </a:defRPr>
            </a:pPr>
            <a:r>
              <a:t>Can a newcomer explain the</a:t>
            </a:r>
          </a:p>
        </p:txBody>
      </p:sp>
      <p:sp>
        <p:nvSpPr>
          <p:cNvPr id="18" name="TextBox 17"/>
          <p:cNvSpPr txBox="1"/>
          <p:nvPr/>
        </p:nvSpPr>
        <p:spPr>
          <a:xfrm>
            <a:off x="4546600" y="3692652"/>
            <a:ext cx="2823964" cy="352552"/>
          </a:xfrm>
          <a:prstGeom prst="rect">
            <a:avLst/>
          </a:prstGeom>
          <a:noFill/>
        </p:spPr>
        <p:txBody>
          <a:bodyPr wrap="none" lIns="0" rIns="0" tIns="0" bIns="0">
            <a:spAutoFit/>
          </a:bodyPr>
          <a:lstStyle/>
          <a:p>
            <a:pPr>
              <a:defRPr sz="1700" b="0">
                <a:solidFill>
                  <a:srgbClr val="52677A"/>
                </a:solidFill>
                <a:latin typeface="DejaVu Sans"/>
              </a:defRPr>
            </a:pPr>
            <a:r>
              <a:t>mechanism, tradeoff and</a:t>
            </a:r>
          </a:p>
        </p:txBody>
      </p:sp>
      <p:sp>
        <p:nvSpPr>
          <p:cNvPr id="19" name="TextBox 18"/>
          <p:cNvSpPr txBox="1"/>
          <p:nvPr/>
        </p:nvSpPr>
        <p:spPr>
          <a:xfrm>
            <a:off x="4546600" y="3969004"/>
            <a:ext cx="2158764" cy="352552"/>
          </a:xfrm>
          <a:prstGeom prst="rect">
            <a:avLst/>
          </a:prstGeom>
          <a:noFill/>
        </p:spPr>
        <p:txBody>
          <a:bodyPr wrap="none" lIns="0" rIns="0" tIns="0" bIns="0">
            <a:spAutoFit/>
          </a:bodyPr>
          <a:lstStyle/>
          <a:p>
            <a:pPr>
              <a:defRPr sz="1700" b="0">
                <a:solidFill>
                  <a:srgbClr val="52677A"/>
                </a:solidFill>
                <a:latin typeface="DejaVu Sans"/>
              </a:defRPr>
            </a:pPr>
            <a:r>
              <a:t>reversal condition?</a:t>
            </a:r>
          </a:p>
        </p:txBody>
      </p:sp>
      <p:sp>
        <p:nvSpPr>
          <p:cNvPr id="20" name="Rounded Rectangle 19"/>
          <p:cNvSpPr/>
          <p:nvPr/>
        </p:nvSpPr>
        <p:spPr>
          <a:xfrm>
            <a:off x="8128000" y="2476500"/>
            <a:ext cx="3606800" cy="2844800"/>
          </a:xfrm>
          <a:prstGeom prst="roundRect">
            <a:avLst>
              <a:gd name="adj" fmla="val 6000"/>
            </a:avLst>
          </a:prstGeom>
          <a:solidFill>
            <a:srgbClr val="F3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28000" y="2476500"/>
            <a:ext cx="63500" cy="2844800"/>
          </a:xfrm>
          <a:prstGeom prst="rect">
            <a:avLst/>
          </a:prstGeom>
          <a:solidFill>
            <a:srgbClr val="08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82000" y="2692400"/>
            <a:ext cx="1732136" cy="401320"/>
          </a:xfrm>
          <a:prstGeom prst="rect">
            <a:avLst/>
          </a:prstGeom>
          <a:noFill/>
        </p:spPr>
        <p:txBody>
          <a:bodyPr wrap="none" lIns="0" rIns="0" tIns="0" bIns="0">
            <a:spAutoFit/>
          </a:bodyPr>
          <a:lstStyle/>
          <a:p>
            <a:pPr>
              <a:defRPr sz="2000" b="1">
                <a:solidFill>
                  <a:srgbClr val="15354C"/>
                </a:solidFill>
                <a:latin typeface="DejaVu Sans"/>
              </a:defRPr>
            </a:pPr>
            <a:r>
              <a:t>Total effort</a:t>
            </a:r>
          </a:p>
        </p:txBody>
      </p:sp>
      <p:sp>
        <p:nvSpPr>
          <p:cNvPr id="23" name="TextBox 22"/>
          <p:cNvSpPr txBox="1"/>
          <p:nvPr/>
        </p:nvSpPr>
        <p:spPr>
          <a:xfrm>
            <a:off x="8382000" y="3416300"/>
            <a:ext cx="3112392" cy="352552"/>
          </a:xfrm>
          <a:prstGeom prst="rect">
            <a:avLst/>
          </a:prstGeom>
          <a:noFill/>
        </p:spPr>
        <p:txBody>
          <a:bodyPr wrap="none" lIns="0" rIns="0" tIns="0" bIns="0">
            <a:spAutoFit/>
          </a:bodyPr>
          <a:lstStyle/>
          <a:p>
            <a:pPr>
              <a:defRPr sz="1700" b="0">
                <a:solidFill>
                  <a:srgbClr val="52677A"/>
                </a:solidFill>
                <a:latin typeface="DejaVu Sans"/>
              </a:defRPr>
            </a:pPr>
            <a:r>
              <a:t>Track author time, reviewer</a:t>
            </a:r>
          </a:p>
        </p:txBody>
      </p:sp>
      <p:sp>
        <p:nvSpPr>
          <p:cNvPr id="24" name="TextBox 23"/>
          <p:cNvSpPr txBox="1"/>
          <p:nvPr/>
        </p:nvSpPr>
        <p:spPr>
          <a:xfrm>
            <a:off x="8382000" y="3692652"/>
            <a:ext cx="2390266" cy="352552"/>
          </a:xfrm>
          <a:prstGeom prst="rect">
            <a:avLst/>
          </a:prstGeom>
          <a:noFill/>
        </p:spPr>
        <p:txBody>
          <a:bodyPr wrap="none" lIns="0" rIns="0" tIns="0" bIns="0">
            <a:spAutoFit/>
          </a:bodyPr>
          <a:lstStyle/>
          <a:p>
            <a:pPr>
              <a:defRPr sz="1700" b="0">
                <a:solidFill>
                  <a:srgbClr val="52677A"/>
                </a:solidFill>
                <a:latin typeface="DejaVu Sans"/>
              </a:defRPr>
            </a:pPr>
            <a:r>
              <a:t>time, model cost and</a:t>
            </a:r>
          </a:p>
        </p:txBody>
      </p:sp>
      <p:sp>
        <p:nvSpPr>
          <p:cNvPr id="25" name="TextBox 24"/>
          <p:cNvSpPr txBox="1"/>
          <p:nvPr/>
        </p:nvSpPr>
        <p:spPr>
          <a:xfrm>
            <a:off x="8382000" y="3969004"/>
            <a:ext cx="2201881" cy="352552"/>
          </a:xfrm>
          <a:prstGeom prst="rect">
            <a:avLst/>
          </a:prstGeom>
          <a:noFill/>
        </p:spPr>
        <p:txBody>
          <a:bodyPr wrap="none" lIns="0" rIns="0" tIns="0" bIns="0">
            <a:spAutoFit/>
          </a:bodyPr>
          <a:lstStyle/>
          <a:p>
            <a:pPr>
              <a:defRPr sz="1700" b="0">
                <a:solidFill>
                  <a:srgbClr val="52677A"/>
                </a:solidFill>
                <a:latin typeface="DejaVu Sans"/>
              </a:defRPr>
            </a:pPr>
            <a:r>
              <a:t>meaningful rework.</a:t>
            </a:r>
          </a:p>
        </p:txBody>
      </p:sp>
      <p:cxnSp>
        <p:nvCxnSpPr>
          <p:cNvPr id="26" name="Connector 25"/>
          <p:cNvCxnSpPr/>
          <p:nvPr/>
        </p:nvCxnSpPr>
        <p:spPr>
          <a:xfrm>
            <a:off x="457200" y="6477000"/>
            <a:ext cx="11277600" cy="0"/>
          </a:xfrm>
          <a:prstGeom prst="line">
            <a:avLst/>
          </a:prstGeom>
          <a:ln w="8890">
            <a:solidFill>
              <a:srgbClr val="D6E1E5"/>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57200" y="6578600"/>
            <a:ext cx="1614090" cy="206248"/>
          </a:xfrm>
          <a:prstGeom prst="rect">
            <a:avLst/>
          </a:prstGeom>
          <a:noFill/>
        </p:spPr>
        <p:txBody>
          <a:bodyPr wrap="none" lIns="0" rIns="0" tIns="0" bIns="0">
            <a:spAutoFit/>
          </a:bodyPr>
          <a:lstStyle/>
          <a:p>
            <a:pPr>
              <a:defRPr sz="800" b="0">
                <a:solidFill>
                  <a:srgbClr val="52677A"/>
                </a:solidFill>
                <a:latin typeface="DejaVu Sans"/>
              </a:defRPr>
            </a:pPr>
            <a:r>
              <a:t>P12 • delivery • Claims: CL11</a:t>
            </a:r>
          </a:p>
        </p:txBody>
      </p:sp>
      <p:sp>
        <p:nvSpPr>
          <p:cNvPr id="28" name="TextBox 27"/>
          <p:cNvSpPr txBox="1"/>
          <p:nvPr/>
        </p:nvSpPr>
        <p:spPr>
          <a:xfrm>
            <a:off x="11377414" y="6578600"/>
            <a:ext cx="458985" cy="206248"/>
          </a:xfrm>
          <a:prstGeom prst="rect">
            <a:avLst/>
          </a:prstGeom>
          <a:noFill/>
        </p:spPr>
        <p:txBody>
          <a:bodyPr wrap="none" lIns="0" rIns="0" tIns="0" bIns="0">
            <a:spAutoFit/>
          </a:bodyPr>
          <a:lstStyle/>
          <a:p>
            <a:pPr>
              <a:defRPr sz="800" b="0">
                <a:solidFill>
                  <a:srgbClr val="52677A"/>
                </a:solidFill>
                <a:latin typeface="DejaVu Sans"/>
              </a:defRPr>
            </a:pPr>
            <a:r>
              <a:t>12 / 15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88900"/>
          </a:xfrm>
          <a:prstGeom prst="rect">
            <a:avLst/>
          </a:prstGeom>
          <a:solidFill>
            <a:srgbClr val="08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92100"/>
            <a:ext cx="1771246" cy="255015"/>
          </a:xfrm>
          <a:prstGeom prst="rect">
            <a:avLst/>
          </a:prstGeom>
          <a:noFill/>
        </p:spPr>
        <p:txBody>
          <a:bodyPr wrap="none" lIns="0" rIns="0" tIns="0" bIns="0">
            <a:spAutoFit/>
          </a:bodyPr>
          <a:lstStyle/>
          <a:p>
            <a:pPr>
              <a:defRPr sz="1100" b="1">
                <a:solidFill>
                  <a:srgbClr val="087F82"/>
                </a:solidFill>
                <a:latin typeface="DejaVu Sans"/>
              </a:defRPr>
            </a:pPr>
            <a:r>
              <a:t>ARCHITECTURE LOOP</a:t>
            </a:r>
          </a:p>
        </p:txBody>
      </p:sp>
      <p:sp>
        <p:nvSpPr>
          <p:cNvPr id="5" name="TextBox 4"/>
          <p:cNvSpPr txBox="1"/>
          <p:nvPr/>
        </p:nvSpPr>
        <p:spPr>
          <a:xfrm>
            <a:off x="457200" y="558800"/>
            <a:ext cx="8218586" cy="547624"/>
          </a:xfrm>
          <a:prstGeom prst="rect">
            <a:avLst/>
          </a:prstGeom>
          <a:noFill/>
        </p:spPr>
        <p:txBody>
          <a:bodyPr wrap="none" lIns="0" rIns="0" tIns="0" bIns="0">
            <a:spAutoFit/>
          </a:bodyPr>
          <a:lstStyle/>
          <a:p>
            <a:pPr>
              <a:defRPr sz="2900" b="1">
                <a:solidFill>
                  <a:srgbClr val="15354C"/>
                </a:solidFill>
                <a:latin typeface="DejaVu Sans"/>
              </a:defRPr>
            </a:pPr>
            <a:r>
              <a:t>My recommendation is a bounded pilot</a:t>
            </a:r>
          </a:p>
        </p:txBody>
      </p:sp>
      <p:sp>
        <p:nvSpPr>
          <p:cNvPr id="6" name="TextBox 5"/>
          <p:cNvSpPr txBox="1"/>
          <p:nvPr/>
        </p:nvSpPr>
        <p:spPr>
          <a:xfrm>
            <a:off x="457200" y="1447800"/>
            <a:ext cx="8252792" cy="401320"/>
          </a:xfrm>
          <a:prstGeom prst="rect">
            <a:avLst/>
          </a:prstGeom>
          <a:noFill/>
        </p:spPr>
        <p:txBody>
          <a:bodyPr wrap="none" lIns="0" rIns="0" tIns="0" bIns="0">
            <a:spAutoFit/>
          </a:bodyPr>
          <a:lstStyle/>
          <a:p>
            <a:pPr>
              <a:defRPr sz="2000" b="0">
                <a:solidFill>
                  <a:srgbClr val="52677A"/>
                </a:solidFill>
                <a:latin typeface="DejaVu Sans"/>
              </a:defRPr>
            </a:pPr>
            <a:r>
              <a:t>Adopt broadly only if the improvement justifies the added work.</a:t>
            </a:r>
          </a:p>
        </p:txBody>
      </p:sp>
      <p:sp>
        <p:nvSpPr>
          <p:cNvPr id="7" name="Rectangle 6"/>
          <p:cNvSpPr/>
          <p:nvPr/>
        </p:nvSpPr>
        <p:spPr>
          <a:xfrm>
            <a:off x="508000" y="2616200"/>
            <a:ext cx="76200" cy="76200"/>
          </a:xfrm>
          <a:prstGeom prst="rect">
            <a:avLst/>
          </a:prstGeom>
          <a:solidFill>
            <a:srgbClr val="08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4700" y="2489200"/>
            <a:ext cx="6517766" cy="417575"/>
          </a:xfrm>
          <a:prstGeom prst="rect">
            <a:avLst/>
          </a:prstGeom>
          <a:noFill/>
        </p:spPr>
        <p:txBody>
          <a:bodyPr wrap="none" lIns="0" rIns="0" tIns="0" bIns="0">
            <a:spAutoFit/>
          </a:bodyPr>
          <a:lstStyle/>
          <a:p>
            <a:pPr>
              <a:defRPr sz="2100" b="0">
                <a:solidFill>
                  <a:srgbClr val="15354C"/>
                </a:solidFill>
                <a:latin typeface="DejaVu Sans"/>
              </a:defRPr>
            </a:pPr>
            <a:r>
              <a:t>Start with one representative architecture brief.</a:t>
            </a:r>
          </a:p>
        </p:txBody>
      </p:sp>
      <p:sp>
        <p:nvSpPr>
          <p:cNvPr id="9" name="Rectangle 8"/>
          <p:cNvSpPr/>
          <p:nvPr/>
        </p:nvSpPr>
        <p:spPr>
          <a:xfrm>
            <a:off x="508000" y="3327400"/>
            <a:ext cx="76200" cy="76200"/>
          </a:xfrm>
          <a:prstGeom prst="rect">
            <a:avLst/>
          </a:prstGeom>
          <a:solidFill>
            <a:srgbClr val="08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4700" y="3200400"/>
            <a:ext cx="9693814" cy="417575"/>
          </a:xfrm>
          <a:prstGeom prst="rect">
            <a:avLst/>
          </a:prstGeom>
          <a:noFill/>
        </p:spPr>
        <p:txBody>
          <a:bodyPr wrap="none" lIns="0" rIns="0" tIns="0" bIns="0">
            <a:spAutoFit/>
          </a:bodyPr>
          <a:lstStyle/>
          <a:p>
            <a:pPr>
              <a:defRPr sz="2100" b="0">
                <a:solidFill>
                  <a:srgbClr val="15354C"/>
                </a:solidFill>
                <a:latin typeface="DejaVu Sans"/>
              </a:defRPr>
            </a:pPr>
            <a:r>
              <a:t>Define acceptable defects, reader understanding and effort in advance.</a:t>
            </a:r>
          </a:p>
        </p:txBody>
      </p:sp>
      <p:sp>
        <p:nvSpPr>
          <p:cNvPr id="11" name="Rectangle 10"/>
          <p:cNvSpPr/>
          <p:nvPr/>
        </p:nvSpPr>
        <p:spPr>
          <a:xfrm>
            <a:off x="508000" y="4038600"/>
            <a:ext cx="76200" cy="76200"/>
          </a:xfrm>
          <a:prstGeom prst="rect">
            <a:avLst/>
          </a:prstGeom>
          <a:solidFill>
            <a:srgbClr val="08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4700" y="3911600"/>
            <a:ext cx="10404580" cy="417575"/>
          </a:xfrm>
          <a:prstGeom prst="rect">
            <a:avLst/>
          </a:prstGeom>
          <a:noFill/>
        </p:spPr>
        <p:txBody>
          <a:bodyPr wrap="none" lIns="0" rIns="0" tIns="0" bIns="0">
            <a:spAutoFit/>
          </a:bodyPr>
          <a:lstStyle/>
          <a:p>
            <a:pPr>
              <a:defRPr sz="2100" b="0">
                <a:solidFill>
                  <a:srgbClr val="15354C"/>
                </a:solidFill>
                <a:latin typeface="DejaVu Sans"/>
              </a:defRPr>
            </a:pPr>
            <a:r>
              <a:t>Use the pilot to decide whether the extra records and checks earn their cost.</a:t>
            </a:r>
          </a:p>
        </p:txBody>
      </p:sp>
      <p:sp>
        <p:nvSpPr>
          <p:cNvPr id="13" name="Rectangle 12"/>
          <p:cNvSpPr/>
          <p:nvPr/>
        </p:nvSpPr>
        <p:spPr>
          <a:xfrm>
            <a:off x="508000" y="4749800"/>
            <a:ext cx="76200" cy="76200"/>
          </a:xfrm>
          <a:prstGeom prst="rect">
            <a:avLst/>
          </a:prstGeom>
          <a:solidFill>
            <a:srgbClr val="08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4700" y="4622800"/>
            <a:ext cx="9804896" cy="417575"/>
          </a:xfrm>
          <a:prstGeom prst="rect">
            <a:avLst/>
          </a:prstGeom>
          <a:noFill/>
        </p:spPr>
        <p:txBody>
          <a:bodyPr wrap="none" lIns="0" rIns="0" tIns="0" bIns="0">
            <a:spAutoFit/>
          </a:bodyPr>
          <a:lstStyle/>
          <a:p>
            <a:pPr>
              <a:defRPr sz="2100" b="0">
                <a:solidFill>
                  <a:srgbClr val="15354C"/>
                </a:solidFill>
                <a:latin typeface="DejaVu Sans"/>
              </a:defRPr>
            </a:pPr>
            <a:r>
              <a:t>Add managed coordination only when a measured constraint requires it.</a:t>
            </a:r>
          </a:p>
        </p:txBody>
      </p:sp>
      <p:cxnSp>
        <p:nvCxnSpPr>
          <p:cNvPr id="15" name="Connector 14"/>
          <p:cNvCxnSpPr/>
          <p:nvPr/>
        </p:nvCxnSpPr>
        <p:spPr>
          <a:xfrm>
            <a:off x="457200" y="6477000"/>
            <a:ext cx="11277600" cy="0"/>
          </a:xfrm>
          <a:prstGeom prst="line">
            <a:avLst/>
          </a:prstGeom>
          <a:ln w="8890">
            <a:solidFill>
              <a:srgbClr val="D6E1E5"/>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57200" y="6578600"/>
            <a:ext cx="1739304" cy="206248"/>
          </a:xfrm>
          <a:prstGeom prst="rect">
            <a:avLst/>
          </a:prstGeom>
          <a:noFill/>
        </p:spPr>
        <p:txBody>
          <a:bodyPr wrap="none" lIns="0" rIns="0" tIns="0" bIns="0">
            <a:spAutoFit/>
          </a:bodyPr>
          <a:lstStyle/>
          <a:p>
            <a:pPr>
              <a:defRPr sz="800" b="0">
                <a:solidFill>
                  <a:srgbClr val="52677A"/>
                </a:solidFill>
                <a:latin typeface="DejaVu Sans"/>
              </a:defRPr>
            </a:pPr>
            <a:r>
              <a:t>P13 • limits • Claims: CL8, CL11</a:t>
            </a:r>
          </a:p>
        </p:txBody>
      </p:sp>
      <p:sp>
        <p:nvSpPr>
          <p:cNvPr id="17" name="TextBox 16"/>
          <p:cNvSpPr txBox="1"/>
          <p:nvPr/>
        </p:nvSpPr>
        <p:spPr>
          <a:xfrm>
            <a:off x="11377414" y="6578600"/>
            <a:ext cx="458985" cy="206248"/>
          </a:xfrm>
          <a:prstGeom prst="rect">
            <a:avLst/>
          </a:prstGeom>
          <a:noFill/>
        </p:spPr>
        <p:txBody>
          <a:bodyPr wrap="none" lIns="0" rIns="0" tIns="0" bIns="0">
            <a:spAutoFit/>
          </a:bodyPr>
          <a:lstStyle/>
          <a:p>
            <a:pPr>
              <a:defRPr sz="800" b="0">
                <a:solidFill>
                  <a:srgbClr val="52677A"/>
                </a:solidFill>
                <a:latin typeface="DejaVu Sans"/>
              </a:defRPr>
            </a:pPr>
            <a:r>
              <a:t>13 / 15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88900"/>
          </a:xfrm>
          <a:prstGeom prst="rect">
            <a:avLst/>
          </a:prstGeom>
          <a:solidFill>
            <a:srgbClr val="08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92100"/>
            <a:ext cx="2466336" cy="255015"/>
          </a:xfrm>
          <a:prstGeom prst="rect">
            <a:avLst/>
          </a:prstGeom>
          <a:noFill/>
        </p:spPr>
        <p:txBody>
          <a:bodyPr wrap="none" lIns="0" rIns="0" tIns="0" bIns="0">
            <a:spAutoFit/>
          </a:bodyPr>
          <a:lstStyle/>
          <a:p>
            <a:pPr>
              <a:defRPr sz="1100" b="1">
                <a:solidFill>
                  <a:srgbClr val="087F82"/>
                </a:solidFill>
                <a:latin typeface="DejaVu Sans"/>
              </a:defRPr>
            </a:pPr>
            <a:r>
              <a:t>APPENDIX / IMPLEMENTATION</a:t>
            </a:r>
          </a:p>
        </p:txBody>
      </p:sp>
      <p:sp>
        <p:nvSpPr>
          <p:cNvPr id="5" name="TextBox 4"/>
          <p:cNvSpPr txBox="1"/>
          <p:nvPr/>
        </p:nvSpPr>
        <p:spPr>
          <a:xfrm>
            <a:off x="457200" y="558800"/>
            <a:ext cx="10621708" cy="547624"/>
          </a:xfrm>
          <a:prstGeom prst="rect">
            <a:avLst/>
          </a:prstGeom>
          <a:noFill/>
        </p:spPr>
        <p:txBody>
          <a:bodyPr wrap="none" lIns="0" rIns="0" tIns="0" bIns="0">
            <a:spAutoFit/>
          </a:bodyPr>
          <a:lstStyle/>
          <a:p>
            <a:pPr>
              <a:defRPr sz="2900" b="1">
                <a:solidFill>
                  <a:srgbClr val="15354C"/>
                </a:solidFill>
                <a:latin typeface="DejaVu Sans"/>
              </a:defRPr>
            </a:pPr>
            <a:r>
              <a:t>The coordinator separates transitions from checks</a:t>
            </a:r>
          </a:p>
        </p:txBody>
      </p:sp>
      <p:sp>
        <p:nvSpPr>
          <p:cNvPr id="6" name="Rectangle 5"/>
          <p:cNvSpPr/>
          <p:nvPr/>
        </p:nvSpPr>
        <p:spPr>
          <a:xfrm>
            <a:off x="2521185" y="1206500"/>
            <a:ext cx="7149629" cy="4826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59506" y="1301044"/>
            <a:ext cx="4035961" cy="262090"/>
          </a:xfrm>
          <a:prstGeom prst="rect">
            <a:avLst/>
          </a:prstGeom>
          <a:noFill/>
        </p:spPr>
        <p:txBody>
          <a:bodyPr wrap="none" lIns="0" rIns="0" tIns="0" bIns="0">
            <a:spAutoFit/>
          </a:bodyPr>
          <a:lstStyle/>
          <a:p>
            <a:pPr>
              <a:defRPr sz="1219" b="1">
                <a:solidFill>
                  <a:srgbClr val="12324A"/>
                </a:solidFill>
                <a:latin typeface="DejaVu Sans"/>
              </a:defRPr>
            </a:pPr>
            <a:r>
              <a:t>C3 · Components inside the local coordinator</a:t>
            </a:r>
          </a:p>
        </p:txBody>
      </p:sp>
      <p:sp>
        <p:nvSpPr>
          <p:cNvPr id="8" name="TextBox 7"/>
          <p:cNvSpPr txBox="1"/>
          <p:nvPr/>
        </p:nvSpPr>
        <p:spPr>
          <a:xfrm>
            <a:off x="2759506" y="1557239"/>
            <a:ext cx="1819759" cy="197743"/>
          </a:xfrm>
          <a:prstGeom prst="rect">
            <a:avLst/>
          </a:prstGeom>
          <a:noFill/>
        </p:spPr>
        <p:txBody>
          <a:bodyPr wrap="none" lIns="0" rIns="0" tIns="0" bIns="0">
            <a:spAutoFit/>
          </a:bodyPr>
          <a:lstStyle/>
          <a:p>
            <a:pPr>
              <a:defRPr sz="797" b="0">
                <a:solidFill>
                  <a:srgbClr val="52677A"/>
                </a:solidFill>
                <a:latin typeface="DejaVu Sans"/>
              </a:defRPr>
            </a:pPr>
            <a:r>
              <a:t>Scope: Local coordinator · Runner</a:t>
            </a:r>
          </a:p>
        </p:txBody>
      </p:sp>
      <p:sp>
        <p:nvSpPr>
          <p:cNvPr id="9" name="Rounded Rectangle 8"/>
          <p:cNvSpPr/>
          <p:nvPr/>
        </p:nvSpPr>
        <p:spPr>
          <a:xfrm>
            <a:off x="2777380" y="1933379"/>
            <a:ext cx="4373190" cy="3425864"/>
          </a:xfrm>
          <a:prstGeom prst="roundRect">
            <a:avLst>
              <a:gd name="adj" fmla="val 6000"/>
            </a:avLst>
          </a:prstGeom>
          <a:solidFill>
            <a:srgbClr val="F4F8FA"/>
          </a:solidFill>
          <a:ln w="8890">
            <a:solidFill>
              <a:srgbClr val="849A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60792" y="1968343"/>
            <a:ext cx="1366792" cy="183444"/>
          </a:xfrm>
          <a:prstGeom prst="rect">
            <a:avLst/>
          </a:prstGeom>
          <a:noFill/>
        </p:spPr>
        <p:txBody>
          <a:bodyPr wrap="none" lIns="0" rIns="0" tIns="0" bIns="0">
            <a:spAutoFit/>
          </a:bodyPr>
          <a:lstStyle/>
          <a:p>
            <a:pPr>
              <a:defRPr sz="703" b="0">
                <a:solidFill>
                  <a:srgbClr val="536C80"/>
                </a:solidFill>
                <a:latin typeface="DejaVu Sans"/>
              </a:defRPr>
            </a:pPr>
            <a:r>
              <a:t>Boundary: Local coordinator</a:t>
            </a:r>
          </a:p>
        </p:txBody>
      </p:sp>
      <p:cxnSp>
        <p:nvCxnSpPr>
          <p:cNvPr id="11" name="Connector 10"/>
          <p:cNvCxnSpPr/>
          <p:nvPr/>
        </p:nvCxnSpPr>
        <p:spPr>
          <a:xfrm flipH="1">
            <a:off x="4099404" y="3202438"/>
            <a:ext cx="448166" cy="983074"/>
          </a:xfrm>
          <a:prstGeom prst="line">
            <a:avLst/>
          </a:prstGeom>
          <a:ln w="11916">
            <a:solidFill>
              <a:srgbClr val="60758B"/>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114897" y="3202438"/>
            <a:ext cx="621650" cy="983074"/>
          </a:xfrm>
          <a:prstGeom prst="line">
            <a:avLst/>
          </a:prstGeom>
          <a:ln w="11916">
            <a:solidFill>
              <a:srgbClr val="60758B"/>
            </a:solidFill>
            <a:tailEnd type="triangle"/>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662012" y="2666216"/>
            <a:ext cx="1846988" cy="0"/>
          </a:xfrm>
          <a:prstGeom prst="line">
            <a:avLst/>
          </a:prstGeom>
          <a:ln w="11916">
            <a:solidFill>
              <a:srgbClr val="60758B"/>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8509000" y="2666216"/>
            <a:ext cx="0" cy="446851"/>
          </a:xfrm>
          <a:prstGeom prst="line">
            <a:avLst/>
          </a:prstGeom>
          <a:ln w="11916">
            <a:solidFill>
              <a:srgbClr val="60758B"/>
            </a:solidFill>
            <a:tailEnd type="triangle"/>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3861740" y="5228166"/>
            <a:ext cx="0" cy="268111"/>
          </a:xfrm>
          <a:prstGeom prst="line">
            <a:avLst/>
          </a:prstGeom>
          <a:ln w="11916">
            <a:solidFill>
              <a:srgbClr val="60758B"/>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3861740" y="5496277"/>
            <a:ext cx="4647260" cy="0"/>
          </a:xfrm>
          <a:prstGeom prst="line">
            <a:avLst/>
          </a:prstGeom>
          <a:ln w="11916">
            <a:solidFill>
              <a:srgbClr val="60758B"/>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8509000" y="4155722"/>
            <a:ext cx="0" cy="1340555"/>
          </a:xfrm>
          <a:prstGeom prst="line">
            <a:avLst/>
          </a:prstGeom>
          <a:ln w="11916">
            <a:solidFill>
              <a:srgbClr val="60758B"/>
            </a:solidFill>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2908456" y="2159783"/>
            <a:ext cx="3753555" cy="1042654"/>
          </a:xfrm>
          <a:prstGeom prst="roundRect">
            <a:avLst>
              <a:gd name="adj" fmla="val 6000"/>
            </a:avLst>
          </a:prstGeom>
          <a:solidFill>
            <a:srgbClr val="08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003785" y="2200706"/>
            <a:ext cx="1373079" cy="190594"/>
          </a:xfrm>
          <a:prstGeom prst="rect">
            <a:avLst/>
          </a:prstGeom>
          <a:noFill/>
        </p:spPr>
        <p:txBody>
          <a:bodyPr wrap="none" lIns="0" rIns="0" tIns="0" bIns="0">
            <a:spAutoFit/>
          </a:bodyPr>
          <a:lstStyle/>
          <a:p>
            <a:pPr>
              <a:defRPr sz="750" b="0">
                <a:solidFill>
                  <a:srgbClr val="DFEDF7"/>
                </a:solidFill>
                <a:latin typeface="DejaVu Sans"/>
              </a:defRPr>
            </a:pPr>
            <a:r>
              <a:t>COMPONENT · Coordinator</a:t>
            </a:r>
          </a:p>
        </p:txBody>
      </p:sp>
      <p:sp>
        <p:nvSpPr>
          <p:cNvPr id="20" name="TextBox 19"/>
          <p:cNvSpPr txBox="1"/>
          <p:nvPr/>
        </p:nvSpPr>
        <p:spPr>
          <a:xfrm>
            <a:off x="3003785" y="2307950"/>
            <a:ext cx="1403614" cy="247791"/>
          </a:xfrm>
          <a:prstGeom prst="rect">
            <a:avLst/>
          </a:prstGeom>
          <a:noFill/>
        </p:spPr>
        <p:txBody>
          <a:bodyPr wrap="none" lIns="0" rIns="0" tIns="0" bIns="0">
            <a:spAutoFit/>
          </a:bodyPr>
          <a:lstStyle/>
          <a:p>
            <a:pPr>
              <a:defRPr sz="1125" b="1">
                <a:solidFill>
                  <a:srgbClr val="FFFFFF"/>
                </a:solidFill>
                <a:latin typeface="DejaVu Sans"/>
              </a:defRPr>
            </a:pPr>
            <a:r>
              <a:t>Run coordinator</a:t>
            </a:r>
          </a:p>
        </p:txBody>
      </p:sp>
      <p:sp>
        <p:nvSpPr>
          <p:cNvPr id="21" name="TextBox 20"/>
          <p:cNvSpPr txBox="1"/>
          <p:nvPr/>
        </p:nvSpPr>
        <p:spPr>
          <a:xfrm>
            <a:off x="3003785" y="2492649"/>
            <a:ext cx="1837689" cy="219192"/>
          </a:xfrm>
          <a:prstGeom prst="rect">
            <a:avLst/>
          </a:prstGeom>
          <a:noFill/>
        </p:spPr>
        <p:txBody>
          <a:bodyPr wrap="none" lIns="0" rIns="0" tIns="0" bIns="0">
            <a:spAutoFit/>
          </a:bodyPr>
          <a:lstStyle/>
          <a:p>
            <a:pPr>
              <a:defRPr sz="938" b="0">
                <a:solidFill>
                  <a:srgbClr val="FFFFFF"/>
                </a:solidFill>
                <a:latin typeface="DejaVu Sans"/>
              </a:defRPr>
            </a:pPr>
            <a:r>
              <a:t>Advances or reopens a stage</a:t>
            </a:r>
          </a:p>
        </p:txBody>
      </p:sp>
      <p:sp>
        <p:nvSpPr>
          <p:cNvPr id="22" name="TextBox 21"/>
          <p:cNvSpPr txBox="1"/>
          <p:nvPr/>
        </p:nvSpPr>
        <p:spPr>
          <a:xfrm>
            <a:off x="3003785" y="2671390"/>
            <a:ext cx="1113812" cy="190594"/>
          </a:xfrm>
          <a:prstGeom prst="rect">
            <a:avLst/>
          </a:prstGeom>
          <a:noFill/>
        </p:spPr>
        <p:txBody>
          <a:bodyPr wrap="none" lIns="0" rIns="0" tIns="0" bIns="0">
            <a:spAutoFit/>
          </a:bodyPr>
          <a:lstStyle/>
          <a:p>
            <a:pPr>
              <a:defRPr sz="750" b="0">
                <a:solidFill>
                  <a:srgbClr val="DFEDF7"/>
                </a:solidFill>
                <a:latin typeface="DejaVu Sans"/>
              </a:defRPr>
            </a:pPr>
            <a:r>
              <a:t>Python; loop.py main</a:t>
            </a:r>
          </a:p>
        </p:txBody>
      </p:sp>
      <p:sp>
        <p:nvSpPr>
          <p:cNvPr id="23" name="Rounded Rectangle 22"/>
          <p:cNvSpPr/>
          <p:nvPr/>
        </p:nvSpPr>
        <p:spPr>
          <a:xfrm>
            <a:off x="2908456" y="4185512"/>
            <a:ext cx="1906567" cy="1042654"/>
          </a:xfrm>
          <a:prstGeom prst="roundRect">
            <a:avLst>
              <a:gd name="adj" fmla="val 6000"/>
            </a:avLst>
          </a:prstGeom>
          <a:solidFill>
            <a:srgbClr val="08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003785" y="4226434"/>
            <a:ext cx="1087932" cy="190594"/>
          </a:xfrm>
          <a:prstGeom prst="rect">
            <a:avLst/>
          </a:prstGeom>
          <a:noFill/>
        </p:spPr>
        <p:txBody>
          <a:bodyPr wrap="none" lIns="0" rIns="0" tIns="0" bIns="0">
            <a:spAutoFit/>
          </a:bodyPr>
          <a:lstStyle/>
          <a:p>
            <a:pPr>
              <a:defRPr sz="750" b="0">
                <a:solidFill>
                  <a:srgbClr val="DFEDF7"/>
                </a:solidFill>
                <a:latin typeface="DejaVu Sans"/>
              </a:defRPr>
            </a:pPr>
            <a:r>
              <a:t>COMPONENT · Gates</a:t>
            </a:r>
          </a:p>
        </p:txBody>
      </p:sp>
      <p:sp>
        <p:nvSpPr>
          <p:cNvPr id="25" name="TextBox 24"/>
          <p:cNvSpPr txBox="1"/>
          <p:nvPr/>
        </p:nvSpPr>
        <p:spPr>
          <a:xfrm>
            <a:off x="3003785" y="4333679"/>
            <a:ext cx="1180118" cy="247791"/>
          </a:xfrm>
          <a:prstGeom prst="rect">
            <a:avLst/>
          </a:prstGeom>
          <a:noFill/>
        </p:spPr>
        <p:txBody>
          <a:bodyPr wrap="none" lIns="0" rIns="0" tIns="0" bIns="0">
            <a:spAutoFit/>
          </a:bodyPr>
          <a:lstStyle/>
          <a:p>
            <a:pPr>
              <a:defRPr sz="1125" b="1">
                <a:solidFill>
                  <a:srgbClr val="FFFFFF"/>
                </a:solidFill>
                <a:latin typeface="DejaVu Sans"/>
              </a:defRPr>
            </a:pPr>
            <a:r>
              <a:t>Quality gates</a:t>
            </a:r>
          </a:p>
        </p:txBody>
      </p:sp>
      <p:sp>
        <p:nvSpPr>
          <p:cNvPr id="26" name="TextBox 25"/>
          <p:cNvSpPr txBox="1"/>
          <p:nvPr/>
        </p:nvSpPr>
        <p:spPr>
          <a:xfrm>
            <a:off x="3003785" y="4518377"/>
            <a:ext cx="1277611" cy="219192"/>
          </a:xfrm>
          <a:prstGeom prst="rect">
            <a:avLst/>
          </a:prstGeom>
          <a:noFill/>
        </p:spPr>
        <p:txBody>
          <a:bodyPr wrap="none" lIns="0" rIns="0" tIns="0" bIns="0">
            <a:spAutoFit/>
          </a:bodyPr>
          <a:lstStyle/>
          <a:p>
            <a:pPr>
              <a:defRPr sz="938" b="0">
                <a:solidFill>
                  <a:srgbClr val="FFFFFF"/>
                </a:solidFill>
                <a:latin typeface="DejaVu Sans"/>
              </a:defRPr>
            </a:pPr>
            <a:r>
              <a:t>Checks records and</a:t>
            </a:r>
          </a:p>
        </p:txBody>
      </p:sp>
      <p:sp>
        <p:nvSpPr>
          <p:cNvPr id="27" name="TextBox 26"/>
          <p:cNvSpPr txBox="1"/>
          <p:nvPr/>
        </p:nvSpPr>
        <p:spPr>
          <a:xfrm>
            <a:off x="3003785" y="4661370"/>
            <a:ext cx="1111031" cy="219192"/>
          </a:xfrm>
          <a:prstGeom prst="rect">
            <a:avLst/>
          </a:prstGeom>
          <a:noFill/>
        </p:spPr>
        <p:txBody>
          <a:bodyPr wrap="none" lIns="0" rIns="0" tIns="0" bIns="0">
            <a:spAutoFit/>
          </a:bodyPr>
          <a:lstStyle/>
          <a:p>
            <a:pPr>
              <a:defRPr sz="938" b="0">
                <a:solidFill>
                  <a:srgbClr val="FFFFFF"/>
                </a:solidFill>
                <a:latin typeface="DejaVu Sans"/>
              </a:defRPr>
            </a:pPr>
            <a:r>
              <a:t>review freshness</a:t>
            </a:r>
          </a:p>
        </p:txBody>
      </p:sp>
      <p:sp>
        <p:nvSpPr>
          <p:cNvPr id="28" name="TextBox 27"/>
          <p:cNvSpPr txBox="1"/>
          <p:nvPr/>
        </p:nvSpPr>
        <p:spPr>
          <a:xfrm>
            <a:off x="3003785" y="4840111"/>
            <a:ext cx="906305" cy="190594"/>
          </a:xfrm>
          <a:prstGeom prst="rect">
            <a:avLst/>
          </a:prstGeom>
          <a:noFill/>
        </p:spPr>
        <p:txBody>
          <a:bodyPr wrap="none" lIns="0" rIns="0" tIns="0" bIns="0">
            <a:spAutoFit/>
          </a:bodyPr>
          <a:lstStyle/>
          <a:p>
            <a:pPr>
              <a:defRPr sz="750" b="0">
                <a:solidFill>
                  <a:srgbClr val="DFEDF7"/>
                </a:solidFill>
                <a:latin typeface="DejaVu Sans"/>
              </a:defRPr>
            </a:pPr>
            <a:r>
              <a:t>Python; gates.py</a:t>
            </a:r>
          </a:p>
        </p:txBody>
      </p:sp>
      <p:sp>
        <p:nvSpPr>
          <p:cNvPr id="29" name="Rounded Rectangle 28"/>
          <p:cNvSpPr/>
          <p:nvPr/>
        </p:nvSpPr>
        <p:spPr>
          <a:xfrm>
            <a:off x="5112925" y="4185512"/>
            <a:ext cx="1906567" cy="1042654"/>
          </a:xfrm>
          <a:prstGeom prst="roundRect">
            <a:avLst>
              <a:gd name="adj" fmla="val 6000"/>
            </a:avLst>
          </a:prstGeom>
          <a:solidFill>
            <a:srgbClr val="08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208254" y="4226434"/>
            <a:ext cx="1205370" cy="190594"/>
          </a:xfrm>
          <a:prstGeom prst="rect">
            <a:avLst/>
          </a:prstGeom>
          <a:noFill/>
        </p:spPr>
        <p:txBody>
          <a:bodyPr wrap="none" lIns="0" rIns="0" tIns="0" bIns="0">
            <a:spAutoFit/>
          </a:bodyPr>
          <a:lstStyle/>
          <a:p>
            <a:pPr>
              <a:defRPr sz="750" b="0">
                <a:solidFill>
                  <a:srgbClr val="DFEDF7"/>
                </a:solidFill>
                <a:latin typeface="DejaVu Sans"/>
              </a:defRPr>
            </a:pPr>
            <a:r>
              <a:t>COMPONENT · Prompts</a:t>
            </a:r>
          </a:p>
        </p:txBody>
      </p:sp>
      <p:sp>
        <p:nvSpPr>
          <p:cNvPr id="31" name="TextBox 30"/>
          <p:cNvSpPr txBox="1"/>
          <p:nvPr/>
        </p:nvSpPr>
        <p:spPr>
          <a:xfrm>
            <a:off x="5208254" y="4333679"/>
            <a:ext cx="1501921" cy="247791"/>
          </a:xfrm>
          <a:prstGeom prst="rect">
            <a:avLst/>
          </a:prstGeom>
          <a:noFill/>
        </p:spPr>
        <p:txBody>
          <a:bodyPr wrap="none" lIns="0" rIns="0" tIns="0" bIns="0">
            <a:spAutoFit/>
          </a:bodyPr>
          <a:lstStyle/>
          <a:p>
            <a:pPr>
              <a:defRPr sz="1125" b="1">
                <a:solidFill>
                  <a:srgbClr val="FFFFFF"/>
                </a:solidFill>
                <a:latin typeface="DejaVu Sans"/>
              </a:defRPr>
            </a:pPr>
            <a:r>
              <a:t>Prompt assembly</a:t>
            </a:r>
          </a:p>
        </p:txBody>
      </p:sp>
      <p:sp>
        <p:nvSpPr>
          <p:cNvPr id="32" name="TextBox 31"/>
          <p:cNvSpPr txBox="1"/>
          <p:nvPr/>
        </p:nvSpPr>
        <p:spPr>
          <a:xfrm>
            <a:off x="5208254" y="4518377"/>
            <a:ext cx="1509416" cy="219192"/>
          </a:xfrm>
          <a:prstGeom prst="rect">
            <a:avLst/>
          </a:prstGeom>
          <a:noFill/>
        </p:spPr>
        <p:txBody>
          <a:bodyPr wrap="none" lIns="0" rIns="0" tIns="0" bIns="0">
            <a:spAutoFit/>
          </a:bodyPr>
          <a:lstStyle/>
          <a:p>
            <a:pPr>
              <a:defRPr sz="938" b="0">
                <a:solidFill>
                  <a:srgbClr val="FFFFFF"/>
                </a:solidFill>
                <a:latin typeface="DejaVu Sans"/>
              </a:defRPr>
            </a:pPr>
            <a:r>
              <a:t>Emits the current stage</a:t>
            </a:r>
          </a:p>
        </p:txBody>
      </p:sp>
      <p:sp>
        <p:nvSpPr>
          <p:cNvPr id="33" name="TextBox 32"/>
          <p:cNvSpPr txBox="1"/>
          <p:nvPr/>
        </p:nvSpPr>
        <p:spPr>
          <a:xfrm>
            <a:off x="5208254" y="4661370"/>
            <a:ext cx="352430" cy="219192"/>
          </a:xfrm>
          <a:prstGeom prst="rect">
            <a:avLst/>
          </a:prstGeom>
          <a:noFill/>
        </p:spPr>
        <p:txBody>
          <a:bodyPr wrap="none" lIns="0" rIns="0" tIns="0" bIns="0">
            <a:spAutoFit/>
          </a:bodyPr>
          <a:lstStyle/>
          <a:p>
            <a:pPr>
              <a:defRPr sz="938" b="0">
                <a:solidFill>
                  <a:srgbClr val="FFFFFF"/>
                </a:solidFill>
                <a:latin typeface="DejaVu Sans"/>
              </a:defRPr>
            </a:pPr>
            <a:r>
              <a:t>task</a:t>
            </a:r>
          </a:p>
        </p:txBody>
      </p:sp>
      <p:sp>
        <p:nvSpPr>
          <p:cNvPr id="34" name="TextBox 33"/>
          <p:cNvSpPr txBox="1"/>
          <p:nvPr/>
        </p:nvSpPr>
        <p:spPr>
          <a:xfrm>
            <a:off x="5208254" y="4840111"/>
            <a:ext cx="1106271" cy="190594"/>
          </a:xfrm>
          <a:prstGeom prst="rect">
            <a:avLst/>
          </a:prstGeom>
          <a:noFill/>
        </p:spPr>
        <p:txBody>
          <a:bodyPr wrap="none" lIns="0" rIns="0" tIns="0" bIns="0">
            <a:spAutoFit/>
          </a:bodyPr>
          <a:lstStyle/>
          <a:p>
            <a:pPr>
              <a:defRPr sz="750" b="0">
                <a:solidFill>
                  <a:srgbClr val="DFEDF7"/>
                </a:solidFill>
                <a:latin typeface="DejaVu Sans"/>
              </a:defRPr>
            </a:pPr>
            <a:r>
              <a:t>Python; emit_prompt</a:t>
            </a:r>
          </a:p>
        </p:txBody>
      </p:sp>
      <p:sp>
        <p:nvSpPr>
          <p:cNvPr id="35" name="Rounded Rectangle 34"/>
          <p:cNvSpPr/>
          <p:nvPr/>
        </p:nvSpPr>
        <p:spPr>
          <a:xfrm>
            <a:off x="7555716" y="3113067"/>
            <a:ext cx="1906567" cy="1042654"/>
          </a:xfrm>
          <a:prstGeom prst="roundRect">
            <a:avLst>
              <a:gd name="adj" fmla="val 6000"/>
            </a:avLst>
          </a:prstGeom>
          <a:solidFill>
            <a:srgbClr val="2563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51044" y="3153990"/>
            <a:ext cx="1008802" cy="190594"/>
          </a:xfrm>
          <a:prstGeom prst="rect">
            <a:avLst/>
          </a:prstGeom>
          <a:noFill/>
        </p:spPr>
        <p:txBody>
          <a:bodyPr wrap="none" lIns="0" rIns="0" tIns="0" bIns="0">
            <a:spAutoFit/>
          </a:bodyPr>
          <a:lstStyle/>
          <a:p>
            <a:pPr>
              <a:defRPr sz="750" b="0">
                <a:solidFill>
                  <a:srgbClr val="DFEDF7"/>
                </a:solidFill>
                <a:latin typeface="DejaVu Sans"/>
              </a:defRPr>
            </a:pPr>
            <a:r>
              <a:t>CONTAINER · Store</a:t>
            </a:r>
          </a:p>
        </p:txBody>
      </p:sp>
      <p:sp>
        <p:nvSpPr>
          <p:cNvPr id="37" name="TextBox 36"/>
          <p:cNvSpPr txBox="1"/>
          <p:nvPr/>
        </p:nvSpPr>
        <p:spPr>
          <a:xfrm>
            <a:off x="7651044" y="3261234"/>
            <a:ext cx="944404" cy="247791"/>
          </a:xfrm>
          <a:prstGeom prst="rect">
            <a:avLst/>
          </a:prstGeom>
          <a:noFill/>
        </p:spPr>
        <p:txBody>
          <a:bodyPr wrap="none" lIns="0" rIns="0" tIns="0" bIns="0">
            <a:spAutoFit/>
          </a:bodyPr>
          <a:lstStyle/>
          <a:p>
            <a:pPr>
              <a:defRPr sz="1125" b="1">
                <a:solidFill>
                  <a:srgbClr val="FFFFFF"/>
                </a:solidFill>
                <a:latin typeface="DejaVu Sans"/>
              </a:defRPr>
            </a:pPr>
            <a:r>
              <a:t>Run folder</a:t>
            </a:r>
          </a:p>
        </p:txBody>
      </p:sp>
      <p:sp>
        <p:nvSpPr>
          <p:cNvPr id="38" name="TextBox 37"/>
          <p:cNvSpPr txBox="1"/>
          <p:nvPr/>
        </p:nvSpPr>
        <p:spPr>
          <a:xfrm>
            <a:off x="7651044" y="3445933"/>
            <a:ext cx="1568298" cy="219192"/>
          </a:xfrm>
          <a:prstGeom prst="rect">
            <a:avLst/>
          </a:prstGeom>
          <a:noFill/>
        </p:spPr>
        <p:txBody>
          <a:bodyPr wrap="none" lIns="0" rIns="0" tIns="0" bIns="0">
            <a:spAutoFit/>
          </a:bodyPr>
          <a:lstStyle/>
          <a:p>
            <a:pPr>
              <a:defRPr sz="938" b="0">
                <a:solidFill>
                  <a:srgbClr val="FFFFFF"/>
                </a:solidFill>
                <a:latin typeface="DejaVu Sans"/>
              </a:defRPr>
            </a:pPr>
            <a:r>
              <a:t>Stores evidence, design,</a:t>
            </a:r>
          </a:p>
        </p:txBody>
      </p:sp>
      <p:sp>
        <p:nvSpPr>
          <p:cNvPr id="39" name="TextBox 38"/>
          <p:cNvSpPr txBox="1"/>
          <p:nvPr/>
        </p:nvSpPr>
        <p:spPr>
          <a:xfrm>
            <a:off x="7651044" y="3588925"/>
            <a:ext cx="1157869" cy="219192"/>
          </a:xfrm>
          <a:prstGeom prst="rect">
            <a:avLst/>
          </a:prstGeom>
          <a:noFill/>
        </p:spPr>
        <p:txBody>
          <a:bodyPr wrap="none" lIns="0" rIns="0" tIns="0" bIns="0">
            <a:spAutoFit/>
          </a:bodyPr>
          <a:lstStyle/>
          <a:p>
            <a:pPr>
              <a:defRPr sz="938" b="0">
                <a:solidFill>
                  <a:srgbClr val="FFFFFF"/>
                </a:solidFill>
                <a:latin typeface="DejaVu Sans"/>
              </a:defRPr>
            </a:pPr>
            <a:r>
              <a:t>story and outputs</a:t>
            </a:r>
          </a:p>
        </p:txBody>
      </p:sp>
      <p:sp>
        <p:nvSpPr>
          <p:cNvPr id="40" name="TextBox 39"/>
          <p:cNvSpPr txBox="1"/>
          <p:nvPr/>
        </p:nvSpPr>
        <p:spPr>
          <a:xfrm>
            <a:off x="7651044" y="3767666"/>
            <a:ext cx="1324251" cy="190594"/>
          </a:xfrm>
          <a:prstGeom prst="rect">
            <a:avLst/>
          </a:prstGeom>
          <a:noFill/>
        </p:spPr>
        <p:txBody>
          <a:bodyPr wrap="none" lIns="0" rIns="0" tIns="0" bIns="0">
            <a:spAutoFit/>
          </a:bodyPr>
          <a:lstStyle/>
          <a:p>
            <a:pPr>
              <a:defRPr sz="750" b="0">
                <a:solidFill>
                  <a:srgbClr val="DFEDF7"/>
                </a:solidFill>
                <a:latin typeface="DejaVu Sans"/>
              </a:defRPr>
            </a:pPr>
            <a:r>
              <a:t>JSON, Markdown and files</a:t>
            </a:r>
          </a:p>
        </p:txBody>
      </p:sp>
      <p:sp>
        <p:nvSpPr>
          <p:cNvPr id="41" name="Rounded Rectangle 40"/>
          <p:cNvSpPr/>
          <p:nvPr/>
        </p:nvSpPr>
        <p:spPr>
          <a:xfrm>
            <a:off x="3111029" y="3589709"/>
            <a:ext cx="1441841" cy="262153"/>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236008" y="3582967"/>
            <a:ext cx="1293484" cy="176294"/>
          </a:xfrm>
          <a:prstGeom prst="rect">
            <a:avLst/>
          </a:prstGeom>
          <a:noFill/>
        </p:spPr>
        <p:txBody>
          <a:bodyPr wrap="none" lIns="0" rIns="0" tIns="0" bIns="0">
            <a:spAutoFit/>
          </a:bodyPr>
          <a:lstStyle/>
          <a:p>
            <a:pPr>
              <a:defRPr sz="656" b="0">
                <a:solidFill>
                  <a:srgbClr val="344F63"/>
                </a:solidFill>
                <a:latin typeface="DejaVu Sans"/>
              </a:defRPr>
            </a:pPr>
            <a:r>
              <a:t>Requests validation · Python</a:t>
            </a:r>
          </a:p>
        </p:txBody>
      </p:sp>
      <p:sp>
        <p:nvSpPr>
          <p:cNvPr id="43" name="TextBox 42"/>
          <p:cNvSpPr txBox="1"/>
          <p:nvPr/>
        </p:nvSpPr>
        <p:spPr>
          <a:xfrm>
            <a:off x="3760288" y="3690212"/>
            <a:ext cx="244924" cy="176294"/>
          </a:xfrm>
          <a:prstGeom prst="rect">
            <a:avLst/>
          </a:prstGeom>
          <a:noFill/>
        </p:spPr>
        <p:txBody>
          <a:bodyPr wrap="none" lIns="0" rIns="0" tIns="0" bIns="0">
            <a:spAutoFit/>
          </a:bodyPr>
          <a:lstStyle/>
          <a:p>
            <a:pPr>
              <a:defRPr sz="656" b="0">
                <a:solidFill>
                  <a:srgbClr val="344F63"/>
                </a:solidFill>
                <a:latin typeface="DejaVu Sans"/>
              </a:defRPr>
            </a:pPr>
            <a:r>
              <a:t>call</a:t>
            </a:r>
          </a:p>
        </p:txBody>
      </p:sp>
      <p:sp>
        <p:nvSpPr>
          <p:cNvPr id="44" name="Rounded Rectangle 43"/>
          <p:cNvSpPr/>
          <p:nvPr/>
        </p:nvSpPr>
        <p:spPr>
          <a:xfrm>
            <a:off x="5315498" y="3589709"/>
            <a:ext cx="1441841" cy="262153"/>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428992" y="3582967"/>
            <a:ext cx="1316455" cy="176294"/>
          </a:xfrm>
          <a:prstGeom prst="rect">
            <a:avLst/>
          </a:prstGeom>
          <a:noFill/>
        </p:spPr>
        <p:txBody>
          <a:bodyPr wrap="none" lIns="0" rIns="0" tIns="0" bIns="0">
            <a:spAutoFit/>
          </a:bodyPr>
          <a:lstStyle/>
          <a:p>
            <a:pPr>
              <a:defRPr sz="656" b="0">
                <a:solidFill>
                  <a:srgbClr val="344F63"/>
                </a:solidFill>
                <a:latin typeface="DejaVu Sans"/>
              </a:defRPr>
            </a:pPr>
            <a:r>
              <a:t>Requests stage task · Python</a:t>
            </a:r>
          </a:p>
        </p:txBody>
      </p:sp>
      <p:sp>
        <p:nvSpPr>
          <p:cNvPr id="46" name="TextBox 45"/>
          <p:cNvSpPr txBox="1"/>
          <p:nvPr/>
        </p:nvSpPr>
        <p:spPr>
          <a:xfrm>
            <a:off x="5964757" y="3690212"/>
            <a:ext cx="244924" cy="176294"/>
          </a:xfrm>
          <a:prstGeom prst="rect">
            <a:avLst/>
          </a:prstGeom>
          <a:noFill/>
        </p:spPr>
        <p:txBody>
          <a:bodyPr wrap="none" lIns="0" rIns="0" tIns="0" bIns="0">
            <a:spAutoFit/>
          </a:bodyPr>
          <a:lstStyle/>
          <a:p>
            <a:pPr>
              <a:defRPr sz="656" b="0">
                <a:solidFill>
                  <a:srgbClr val="344F63"/>
                </a:solidFill>
                <a:latin typeface="DejaVu Sans"/>
              </a:defRPr>
            </a:pPr>
            <a:r>
              <a:t>call</a:t>
            </a:r>
          </a:p>
        </p:txBody>
      </p:sp>
      <p:sp>
        <p:nvSpPr>
          <p:cNvPr id="47" name="Rounded Rectangle 46"/>
          <p:cNvSpPr/>
          <p:nvPr/>
        </p:nvSpPr>
        <p:spPr>
          <a:xfrm>
            <a:off x="6852669" y="2487475"/>
            <a:ext cx="1584834" cy="154908"/>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018455" y="2480733"/>
            <a:ext cx="1354862" cy="176294"/>
          </a:xfrm>
          <a:prstGeom prst="rect">
            <a:avLst/>
          </a:prstGeom>
          <a:noFill/>
        </p:spPr>
        <p:txBody>
          <a:bodyPr wrap="none" lIns="0" rIns="0" tIns="0" bIns="0">
            <a:spAutoFit/>
          </a:bodyPr>
          <a:lstStyle/>
          <a:p>
            <a:pPr>
              <a:defRPr sz="656" b="0">
                <a:solidFill>
                  <a:srgbClr val="344F63"/>
                </a:solidFill>
                <a:latin typeface="DejaVu Sans"/>
              </a:defRPr>
            </a:pPr>
            <a:r>
              <a:t>Persists run state · Filesystem</a:t>
            </a:r>
          </a:p>
        </p:txBody>
      </p:sp>
      <p:sp>
        <p:nvSpPr>
          <p:cNvPr id="49" name="Rounded Rectangle 48"/>
          <p:cNvSpPr/>
          <p:nvPr/>
        </p:nvSpPr>
        <p:spPr>
          <a:xfrm>
            <a:off x="7925113" y="4662154"/>
            <a:ext cx="1346513" cy="262153"/>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021081" y="4655412"/>
            <a:ext cx="1256176" cy="176294"/>
          </a:xfrm>
          <a:prstGeom prst="rect">
            <a:avLst/>
          </a:prstGeom>
          <a:noFill/>
        </p:spPr>
        <p:txBody>
          <a:bodyPr wrap="none" lIns="0" rIns="0" tIns="0" bIns="0">
            <a:spAutoFit/>
          </a:bodyPr>
          <a:lstStyle/>
          <a:p>
            <a:pPr>
              <a:defRPr sz="656" b="0">
                <a:solidFill>
                  <a:srgbClr val="344F63"/>
                </a:solidFill>
                <a:latin typeface="DejaVu Sans"/>
              </a:defRPr>
            </a:pPr>
            <a:r>
              <a:t>Reads records and hashes ·</a:t>
            </a:r>
          </a:p>
        </p:txBody>
      </p:sp>
      <p:sp>
        <p:nvSpPr>
          <p:cNvPr id="51" name="TextBox 50"/>
          <p:cNvSpPr txBox="1"/>
          <p:nvPr/>
        </p:nvSpPr>
        <p:spPr>
          <a:xfrm>
            <a:off x="8374769" y="4762656"/>
            <a:ext cx="548800" cy="176294"/>
          </a:xfrm>
          <a:prstGeom prst="rect">
            <a:avLst/>
          </a:prstGeom>
          <a:noFill/>
        </p:spPr>
        <p:txBody>
          <a:bodyPr wrap="none" lIns="0" rIns="0" tIns="0" bIns="0">
            <a:spAutoFit/>
          </a:bodyPr>
          <a:lstStyle/>
          <a:p>
            <a:pPr>
              <a:defRPr sz="656" b="0">
                <a:solidFill>
                  <a:srgbClr val="344F63"/>
                </a:solidFill>
                <a:latin typeface="DejaVu Sans"/>
              </a:defRPr>
            </a:pPr>
            <a:r>
              <a:t>Filesystem</a:t>
            </a:r>
          </a:p>
        </p:txBody>
      </p:sp>
      <p:sp>
        <p:nvSpPr>
          <p:cNvPr id="52" name="TextBox 51"/>
          <p:cNvSpPr txBox="1"/>
          <p:nvPr/>
        </p:nvSpPr>
        <p:spPr>
          <a:xfrm>
            <a:off x="2759506" y="5507409"/>
            <a:ext cx="5887394" cy="176294"/>
          </a:xfrm>
          <a:prstGeom prst="rect">
            <a:avLst/>
          </a:prstGeom>
          <a:noFill/>
        </p:spPr>
        <p:txBody>
          <a:bodyPr wrap="none" lIns="0" rIns="0" tIns="0" bIns="0">
            <a:spAutoFit/>
          </a:bodyPr>
          <a:lstStyle/>
          <a:p>
            <a:pPr>
              <a:defRPr sz="656" b="0">
                <a:solidFill>
                  <a:srgbClr val="52677A"/>
                </a:solidFill>
                <a:latin typeface="DejaVu Sans"/>
              </a:defRPr>
            </a:pPr>
            <a:r>
              <a:t>Teal = Python component within the selected coordinator. Blue = supporting data store. Outlined boundary marks the selected container.</a:t>
            </a:r>
          </a:p>
        </p:txBody>
      </p:sp>
      <p:sp>
        <p:nvSpPr>
          <p:cNvPr id="53" name="TextBox 52"/>
          <p:cNvSpPr txBox="1"/>
          <p:nvPr/>
        </p:nvSpPr>
        <p:spPr>
          <a:xfrm>
            <a:off x="457200" y="5981700"/>
            <a:ext cx="7558447" cy="320040"/>
          </a:xfrm>
          <a:prstGeom prst="rect">
            <a:avLst/>
          </a:prstGeom>
          <a:noFill/>
        </p:spPr>
        <p:txBody>
          <a:bodyPr wrap="none" lIns="0" rIns="0" tIns="0" bIns="0">
            <a:spAutoFit/>
          </a:bodyPr>
          <a:lstStyle/>
          <a:p>
            <a:pPr>
              <a:defRPr sz="1500" b="1">
                <a:solidFill>
                  <a:srgbClr val="15354C"/>
                </a:solidFill>
                <a:latin typeface="DejaVu Sans"/>
              </a:defRPr>
            </a:pPr>
            <a:r>
              <a:t>C3 zooms into the runner; the folder remains a supporting container.</a:t>
            </a:r>
          </a:p>
        </p:txBody>
      </p:sp>
      <p:cxnSp>
        <p:nvCxnSpPr>
          <p:cNvPr id="54" name="Connector 53"/>
          <p:cNvCxnSpPr/>
          <p:nvPr/>
        </p:nvCxnSpPr>
        <p:spPr>
          <a:xfrm>
            <a:off x="457200" y="6477000"/>
            <a:ext cx="11277600" cy="0"/>
          </a:xfrm>
          <a:prstGeom prst="line">
            <a:avLst/>
          </a:prstGeom>
          <a:ln w="8890">
            <a:solidFill>
              <a:srgbClr val="D6E1E5"/>
            </a:solidFill>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457200" y="6578600"/>
            <a:ext cx="2017464" cy="206248"/>
          </a:xfrm>
          <a:prstGeom prst="rect">
            <a:avLst/>
          </a:prstGeom>
          <a:noFill/>
        </p:spPr>
        <p:txBody>
          <a:bodyPr wrap="none" lIns="0" rIns="0" tIns="0" bIns="0">
            <a:spAutoFit/>
          </a:bodyPr>
          <a:lstStyle/>
          <a:p>
            <a:pPr>
              <a:defRPr sz="800" b="0">
                <a:solidFill>
                  <a:srgbClr val="52677A"/>
                </a:solidFill>
                <a:latin typeface="DejaVu Sans"/>
              </a:defRPr>
            </a:pPr>
            <a:r>
              <a:t>P14 • architecture • Claims: CL1, CL6</a:t>
            </a:r>
          </a:p>
        </p:txBody>
      </p:sp>
      <p:sp>
        <p:nvSpPr>
          <p:cNvPr id="56" name="TextBox 55"/>
          <p:cNvSpPr txBox="1"/>
          <p:nvPr/>
        </p:nvSpPr>
        <p:spPr>
          <a:xfrm>
            <a:off x="11377414" y="6578600"/>
            <a:ext cx="458985" cy="206248"/>
          </a:xfrm>
          <a:prstGeom prst="rect">
            <a:avLst/>
          </a:prstGeom>
          <a:noFill/>
        </p:spPr>
        <p:txBody>
          <a:bodyPr wrap="none" lIns="0" rIns="0" tIns="0" bIns="0">
            <a:spAutoFit/>
          </a:bodyPr>
          <a:lstStyle/>
          <a:p>
            <a:pPr>
              <a:defRPr sz="800" b="0">
                <a:solidFill>
                  <a:srgbClr val="52677A"/>
                </a:solidFill>
                <a:latin typeface="DejaVu Sans"/>
              </a:defRPr>
            </a:pPr>
            <a:r>
              <a:t>14 / 15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88900"/>
          </a:xfrm>
          <a:prstGeom prst="rect">
            <a:avLst/>
          </a:prstGeom>
          <a:solidFill>
            <a:srgbClr val="08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92100"/>
            <a:ext cx="2466336" cy="255015"/>
          </a:xfrm>
          <a:prstGeom prst="rect">
            <a:avLst/>
          </a:prstGeom>
          <a:noFill/>
        </p:spPr>
        <p:txBody>
          <a:bodyPr wrap="none" lIns="0" rIns="0" tIns="0" bIns="0">
            <a:spAutoFit/>
          </a:bodyPr>
          <a:lstStyle/>
          <a:p>
            <a:pPr>
              <a:defRPr sz="1100" b="1">
                <a:solidFill>
                  <a:srgbClr val="087F82"/>
                </a:solidFill>
                <a:latin typeface="DejaVu Sans"/>
              </a:defRPr>
            </a:pPr>
            <a:r>
              <a:t>APPENDIX / IMPLEMENTATION</a:t>
            </a:r>
          </a:p>
        </p:txBody>
      </p:sp>
      <p:sp>
        <p:nvSpPr>
          <p:cNvPr id="5" name="TextBox 4"/>
          <p:cNvSpPr txBox="1"/>
          <p:nvPr/>
        </p:nvSpPr>
        <p:spPr>
          <a:xfrm>
            <a:off x="457200" y="558800"/>
            <a:ext cx="10210607" cy="547624"/>
          </a:xfrm>
          <a:prstGeom prst="rect">
            <a:avLst/>
          </a:prstGeom>
          <a:noFill/>
        </p:spPr>
        <p:txBody>
          <a:bodyPr wrap="none" lIns="0" rIns="0" tIns="0" bIns="0">
            <a:spAutoFit/>
          </a:bodyPr>
          <a:lstStyle/>
          <a:p>
            <a:pPr>
              <a:defRPr sz="2900" b="1">
                <a:solidFill>
                  <a:srgbClr val="15354C"/>
                </a:solidFill>
                <a:latin typeface="DejaVu Sans"/>
              </a:defRPr>
            </a:pPr>
            <a:r>
              <a:t>Review freshness is implemented in four classes</a:t>
            </a:r>
          </a:p>
        </p:txBody>
      </p:sp>
      <p:sp>
        <p:nvSpPr>
          <p:cNvPr id="6" name="Rectangle 5"/>
          <p:cNvSpPr/>
          <p:nvPr/>
        </p:nvSpPr>
        <p:spPr>
          <a:xfrm>
            <a:off x="2689411" y="1206500"/>
            <a:ext cx="6813176" cy="4826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916517" y="1295997"/>
            <a:ext cx="2601749" cy="253342"/>
          </a:xfrm>
          <a:prstGeom prst="rect">
            <a:avLst/>
          </a:prstGeom>
          <a:noFill/>
        </p:spPr>
        <p:txBody>
          <a:bodyPr wrap="none" lIns="0" rIns="0" tIns="0" bIns="0">
            <a:spAutoFit/>
          </a:bodyPr>
          <a:lstStyle/>
          <a:p>
            <a:pPr>
              <a:defRPr sz="1162" b="1">
                <a:solidFill>
                  <a:srgbClr val="12324A"/>
                </a:solidFill>
                <a:latin typeface="DejaVu Sans"/>
              </a:defRPr>
            </a:pPr>
            <a:r>
              <a:t>C4 · Code within quality gates</a:t>
            </a:r>
          </a:p>
        </p:txBody>
      </p:sp>
      <p:sp>
        <p:nvSpPr>
          <p:cNvPr id="8" name="TextBox 7"/>
          <p:cNvSpPr txBox="1"/>
          <p:nvPr/>
        </p:nvSpPr>
        <p:spPr>
          <a:xfrm>
            <a:off x="2916517" y="1540136"/>
            <a:ext cx="1475831" cy="192024"/>
          </a:xfrm>
          <a:prstGeom prst="rect">
            <a:avLst/>
          </a:prstGeom>
          <a:noFill/>
        </p:spPr>
        <p:txBody>
          <a:bodyPr wrap="none" lIns="0" rIns="0" tIns="0" bIns="0">
            <a:spAutoFit/>
          </a:bodyPr>
          <a:lstStyle/>
          <a:p>
            <a:pPr>
              <a:defRPr sz="760" b="0">
                <a:solidFill>
                  <a:srgbClr val="52677A"/>
                </a:solidFill>
                <a:latin typeface="DejaVu Sans"/>
              </a:defRPr>
            </a:pPr>
            <a:r>
              <a:t>Scope: Quality gates · Gates</a:t>
            </a:r>
          </a:p>
        </p:txBody>
      </p:sp>
      <p:sp>
        <p:nvSpPr>
          <p:cNvPr id="9" name="Rounded Rectangle 8"/>
          <p:cNvSpPr/>
          <p:nvPr/>
        </p:nvSpPr>
        <p:spPr>
          <a:xfrm>
            <a:off x="2933550" y="1842396"/>
            <a:ext cx="6353287" cy="3690470"/>
          </a:xfrm>
          <a:prstGeom prst="roundRect">
            <a:avLst>
              <a:gd name="adj" fmla="val 6000"/>
            </a:avLst>
          </a:prstGeom>
          <a:solidFill>
            <a:srgbClr val="F4F8FA"/>
          </a:solidFill>
          <a:ln w="8890">
            <a:solidFill>
              <a:srgbClr val="849A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13037" y="1875117"/>
            <a:ext cx="1135303" cy="178397"/>
          </a:xfrm>
          <a:prstGeom prst="rect">
            <a:avLst/>
          </a:prstGeom>
          <a:noFill/>
        </p:spPr>
        <p:txBody>
          <a:bodyPr wrap="none" lIns="0" rIns="0" tIns="0" bIns="0">
            <a:spAutoFit/>
          </a:bodyPr>
          <a:lstStyle/>
          <a:p>
            <a:pPr>
              <a:defRPr sz="670" b="0">
                <a:solidFill>
                  <a:srgbClr val="536C80"/>
                </a:solidFill>
                <a:latin typeface="DejaVu Sans"/>
              </a:defRPr>
            </a:pPr>
            <a:r>
              <a:t>Boundary: Quality gates</a:t>
            </a:r>
          </a:p>
        </p:txBody>
      </p:sp>
      <p:cxnSp>
        <p:nvCxnSpPr>
          <p:cNvPr id="11" name="Connector 10"/>
          <p:cNvCxnSpPr/>
          <p:nvPr/>
        </p:nvCxnSpPr>
        <p:spPr>
          <a:xfrm>
            <a:off x="5585011" y="2640105"/>
            <a:ext cx="1305859" cy="0"/>
          </a:xfrm>
          <a:prstGeom prst="line">
            <a:avLst/>
          </a:prstGeom>
          <a:ln w="11355">
            <a:solidFill>
              <a:srgbClr val="60758B"/>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4227998" y="3222064"/>
            <a:ext cx="59726" cy="1021977"/>
          </a:xfrm>
          <a:prstGeom prst="line">
            <a:avLst/>
          </a:prstGeom>
          <a:ln w="11355">
            <a:solidFill>
              <a:srgbClr val="60758B"/>
            </a:solidFill>
            <a:tailEnd type="triangle"/>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308042" y="3222064"/>
            <a:ext cx="1732051" cy="1021977"/>
          </a:xfrm>
          <a:prstGeom prst="line">
            <a:avLst/>
          </a:prstGeom>
          <a:ln w="11355">
            <a:solidFill>
              <a:srgbClr val="60758B"/>
            </a:solidFill>
            <a:tailEnd type="triangle"/>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8026400" y="3222064"/>
            <a:ext cx="0" cy="1021977"/>
          </a:xfrm>
          <a:prstGeom prst="line">
            <a:avLst/>
          </a:prstGeom>
          <a:ln w="11355">
            <a:solidFill>
              <a:srgbClr val="60758B"/>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058458" y="2058147"/>
            <a:ext cx="2526552" cy="1163917"/>
          </a:xfrm>
          <a:prstGeom prst="roundRect">
            <a:avLst>
              <a:gd name="adj" fmla="val 6000"/>
            </a:avLst>
          </a:prstGeom>
          <a:solidFill>
            <a:srgbClr val="6553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149301" y="2096545"/>
            <a:ext cx="1000841" cy="185210"/>
          </a:xfrm>
          <a:prstGeom prst="rect">
            <a:avLst/>
          </a:prstGeom>
          <a:noFill/>
        </p:spPr>
        <p:txBody>
          <a:bodyPr wrap="none" lIns="0" rIns="0" tIns="0" bIns="0">
            <a:spAutoFit/>
          </a:bodyPr>
          <a:lstStyle/>
          <a:p>
            <a:pPr>
              <a:defRPr sz="715" b="0">
                <a:solidFill>
                  <a:srgbClr val="DFEDF7"/>
                </a:solidFill>
                <a:latin typeface="DejaVu Sans"/>
              </a:defRPr>
            </a:pPr>
            <a:r>
              <a:t>CODE · EngineClass</a:t>
            </a:r>
          </a:p>
        </p:txBody>
      </p:sp>
      <p:sp>
        <p:nvSpPr>
          <p:cNvPr id="17" name="TextBox 16"/>
          <p:cNvSpPr txBox="1"/>
          <p:nvPr/>
        </p:nvSpPr>
        <p:spPr>
          <a:xfrm>
            <a:off x="3149301" y="2198743"/>
            <a:ext cx="986714" cy="239716"/>
          </a:xfrm>
          <a:prstGeom prst="rect">
            <a:avLst/>
          </a:prstGeom>
          <a:noFill/>
        </p:spPr>
        <p:txBody>
          <a:bodyPr wrap="none" lIns="0" rIns="0" tIns="0" bIns="0">
            <a:spAutoFit/>
          </a:bodyPr>
          <a:lstStyle/>
          <a:p>
            <a:pPr>
              <a:defRPr sz="1072" b="1">
                <a:solidFill>
                  <a:srgbClr val="FFFFFF"/>
                </a:solidFill>
                <a:latin typeface="DejaVu Sans"/>
              </a:defRPr>
            </a:pPr>
            <a:r>
              <a:t>GateEngine</a:t>
            </a:r>
          </a:p>
        </p:txBody>
      </p:sp>
      <p:sp>
        <p:nvSpPr>
          <p:cNvPr id="18" name="TextBox 17"/>
          <p:cNvSpPr txBox="1"/>
          <p:nvPr/>
        </p:nvSpPr>
        <p:spPr>
          <a:xfrm>
            <a:off x="3149301" y="2374750"/>
            <a:ext cx="1291577" cy="212463"/>
          </a:xfrm>
          <a:prstGeom prst="rect">
            <a:avLst/>
          </a:prstGeom>
          <a:noFill/>
        </p:spPr>
        <p:txBody>
          <a:bodyPr wrap="none" lIns="0" rIns="0" tIns="0" bIns="0">
            <a:spAutoFit/>
          </a:bodyPr>
          <a:lstStyle/>
          <a:p>
            <a:pPr>
              <a:defRPr sz="894" b="0">
                <a:solidFill>
                  <a:srgbClr val="FFFFFF"/>
                </a:solidFill>
                <a:latin typeface="DejaVu Sans"/>
              </a:defRPr>
            </a:pPr>
            <a:r>
              <a:t>gates.py:GateEngine</a:t>
            </a:r>
          </a:p>
        </p:txBody>
      </p:sp>
      <p:sp>
        <p:nvSpPr>
          <p:cNvPr id="19" name="TextBox 18"/>
          <p:cNvSpPr txBox="1"/>
          <p:nvPr/>
        </p:nvSpPr>
        <p:spPr>
          <a:xfrm>
            <a:off x="3149301" y="2545080"/>
            <a:ext cx="2131358" cy="185210"/>
          </a:xfrm>
          <a:prstGeom prst="rect">
            <a:avLst/>
          </a:prstGeom>
          <a:noFill/>
        </p:spPr>
        <p:txBody>
          <a:bodyPr wrap="none" lIns="0" rIns="0" tIns="0" bIns="0">
            <a:spAutoFit/>
          </a:bodyPr>
          <a:lstStyle/>
          <a:p>
            <a:pPr>
              <a:defRPr sz="715" b="0">
                <a:solidFill>
                  <a:srgbClr val="DFEDF7"/>
                </a:solidFill>
                <a:latin typeface="DejaVu Sans"/>
              </a:defRPr>
            </a:pPr>
            <a:r>
              <a:t>check(stage) / require(condition, code, path,</a:t>
            </a:r>
          </a:p>
        </p:txBody>
      </p:sp>
      <p:sp>
        <p:nvSpPr>
          <p:cNvPr id="20" name="TextBox 19"/>
          <p:cNvSpPr txBox="1"/>
          <p:nvPr/>
        </p:nvSpPr>
        <p:spPr>
          <a:xfrm>
            <a:off x="3149301" y="2658632"/>
            <a:ext cx="545299" cy="185210"/>
          </a:xfrm>
          <a:prstGeom prst="rect">
            <a:avLst/>
          </a:prstGeom>
          <a:noFill/>
        </p:spPr>
        <p:txBody>
          <a:bodyPr wrap="none" lIns="0" rIns="0" tIns="0" bIns="0">
            <a:spAutoFit/>
          </a:bodyPr>
          <a:lstStyle/>
          <a:p>
            <a:pPr>
              <a:defRPr sz="715" b="0">
                <a:solidFill>
                  <a:srgbClr val="DFEDF7"/>
                </a:solidFill>
                <a:latin typeface="DejaVu Sans"/>
              </a:defRPr>
            </a:pPr>
            <a:r>
              <a:t>message)</a:t>
            </a:r>
          </a:p>
        </p:txBody>
      </p:sp>
      <p:sp>
        <p:nvSpPr>
          <p:cNvPr id="21" name="Rounded Rectangle 20"/>
          <p:cNvSpPr/>
          <p:nvPr/>
        </p:nvSpPr>
        <p:spPr>
          <a:xfrm>
            <a:off x="6890870" y="2058147"/>
            <a:ext cx="2271058" cy="1163917"/>
          </a:xfrm>
          <a:prstGeom prst="roundRect">
            <a:avLst>
              <a:gd name="adj" fmla="val 6000"/>
            </a:avLst>
          </a:prstGeom>
          <a:solidFill>
            <a:srgbClr val="6553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81712" y="2096545"/>
            <a:ext cx="931601" cy="185210"/>
          </a:xfrm>
          <a:prstGeom prst="rect">
            <a:avLst/>
          </a:prstGeom>
          <a:noFill/>
        </p:spPr>
        <p:txBody>
          <a:bodyPr wrap="none" lIns="0" rIns="0" tIns="0" bIns="0">
            <a:spAutoFit/>
          </a:bodyPr>
          <a:lstStyle/>
          <a:p>
            <a:pPr>
              <a:defRPr sz="715" b="0">
                <a:solidFill>
                  <a:srgbClr val="DFEDF7"/>
                </a:solidFill>
                <a:latin typeface="DejaVu Sans"/>
              </a:defRPr>
            </a:pPr>
            <a:r>
              <a:t>CODE · StoreClass</a:t>
            </a:r>
          </a:p>
        </p:txBody>
      </p:sp>
      <p:sp>
        <p:nvSpPr>
          <p:cNvPr id="23" name="TextBox 22"/>
          <p:cNvSpPr txBox="1"/>
          <p:nvPr/>
        </p:nvSpPr>
        <p:spPr>
          <a:xfrm>
            <a:off x="6981712" y="2198743"/>
            <a:ext cx="1099756" cy="239716"/>
          </a:xfrm>
          <a:prstGeom prst="rect">
            <a:avLst/>
          </a:prstGeom>
          <a:noFill/>
        </p:spPr>
        <p:txBody>
          <a:bodyPr wrap="none" lIns="0" rIns="0" tIns="0" bIns="0">
            <a:spAutoFit/>
          </a:bodyPr>
          <a:lstStyle/>
          <a:p>
            <a:pPr>
              <a:defRPr sz="1072" b="1">
                <a:solidFill>
                  <a:srgbClr val="FFFFFF"/>
                </a:solidFill>
                <a:latin typeface="DejaVu Sans"/>
              </a:defRPr>
            </a:pPr>
            <a:r>
              <a:t>ArtifactStore</a:t>
            </a:r>
          </a:p>
        </p:txBody>
      </p:sp>
      <p:sp>
        <p:nvSpPr>
          <p:cNvPr id="24" name="TextBox 23"/>
          <p:cNvSpPr txBox="1"/>
          <p:nvPr/>
        </p:nvSpPr>
        <p:spPr>
          <a:xfrm>
            <a:off x="6981712" y="2374750"/>
            <a:ext cx="1350017" cy="212463"/>
          </a:xfrm>
          <a:prstGeom prst="rect">
            <a:avLst/>
          </a:prstGeom>
          <a:noFill/>
        </p:spPr>
        <p:txBody>
          <a:bodyPr wrap="none" lIns="0" rIns="0" tIns="0" bIns="0">
            <a:spAutoFit/>
          </a:bodyPr>
          <a:lstStyle/>
          <a:p>
            <a:pPr>
              <a:defRPr sz="894" b="0">
                <a:solidFill>
                  <a:srgbClr val="FFFFFF"/>
                </a:solidFill>
                <a:latin typeface="DejaVu Sans"/>
              </a:defRPr>
            </a:pPr>
            <a:r>
              <a:t>gates.py:ArtifactStore</a:t>
            </a:r>
          </a:p>
        </p:txBody>
      </p:sp>
      <p:sp>
        <p:nvSpPr>
          <p:cNvPr id="25" name="TextBox 24"/>
          <p:cNvSpPr txBox="1"/>
          <p:nvPr/>
        </p:nvSpPr>
        <p:spPr>
          <a:xfrm>
            <a:off x="6981712" y="2545080"/>
            <a:ext cx="1493599" cy="185210"/>
          </a:xfrm>
          <a:prstGeom prst="rect">
            <a:avLst/>
          </a:prstGeom>
          <a:noFill/>
        </p:spPr>
        <p:txBody>
          <a:bodyPr wrap="none" lIns="0" rIns="0" tIns="0" bIns="0">
            <a:spAutoFit/>
          </a:bodyPr>
          <a:lstStyle/>
          <a:p>
            <a:pPr>
              <a:defRPr sz="715" b="0">
                <a:solidFill>
                  <a:srgbClr val="DFEDF7"/>
                </a:solidFill>
                <a:latin typeface="DejaVu Sans"/>
              </a:defRPr>
            </a:pPr>
            <a:r>
              <a:t>read(relative) / path(relative) /</a:t>
            </a:r>
          </a:p>
        </p:txBody>
      </p:sp>
      <p:sp>
        <p:nvSpPr>
          <p:cNvPr id="26" name="TextBox 25"/>
          <p:cNvSpPr txBox="1"/>
          <p:nvPr/>
        </p:nvSpPr>
        <p:spPr>
          <a:xfrm>
            <a:off x="6981712" y="2658632"/>
            <a:ext cx="651622" cy="185210"/>
          </a:xfrm>
          <a:prstGeom prst="rect">
            <a:avLst/>
          </a:prstGeom>
          <a:noFill/>
        </p:spPr>
        <p:txBody>
          <a:bodyPr wrap="none" lIns="0" rIns="0" tIns="0" bIns="0">
            <a:spAutoFit/>
          </a:bodyPr>
          <a:lstStyle/>
          <a:p>
            <a:pPr>
              <a:defRPr sz="715" b="0">
                <a:solidFill>
                  <a:srgbClr val="DFEDF7"/>
                </a:solidFill>
                <a:latin typeface="DejaVu Sans"/>
              </a:defRPr>
            </a:pPr>
            <a:r>
              <a:t>fingerprint()</a:t>
            </a:r>
          </a:p>
        </p:txBody>
      </p:sp>
      <p:sp>
        <p:nvSpPr>
          <p:cNvPr id="27" name="Rounded Rectangle 26"/>
          <p:cNvSpPr/>
          <p:nvPr/>
        </p:nvSpPr>
        <p:spPr>
          <a:xfrm>
            <a:off x="3058458" y="4244041"/>
            <a:ext cx="2271058" cy="1163917"/>
          </a:xfrm>
          <a:prstGeom prst="roundRect">
            <a:avLst>
              <a:gd name="adj" fmla="val 6000"/>
            </a:avLst>
          </a:prstGeom>
          <a:solidFill>
            <a:srgbClr val="6553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149301" y="4282440"/>
            <a:ext cx="1022709" cy="185210"/>
          </a:xfrm>
          <a:prstGeom prst="rect">
            <a:avLst/>
          </a:prstGeom>
          <a:noFill/>
        </p:spPr>
        <p:txBody>
          <a:bodyPr wrap="none" lIns="0" rIns="0" tIns="0" bIns="0">
            <a:spAutoFit/>
          </a:bodyPr>
          <a:lstStyle/>
          <a:p>
            <a:pPr>
              <a:defRPr sz="715" b="0">
                <a:solidFill>
                  <a:srgbClr val="DFEDF7"/>
                </a:solidFill>
                <a:latin typeface="DejaVu Sans"/>
              </a:defRPr>
            </a:pPr>
            <a:r>
              <a:t>CODE · FindingClass</a:t>
            </a:r>
          </a:p>
        </p:txBody>
      </p:sp>
      <p:sp>
        <p:nvSpPr>
          <p:cNvPr id="29" name="TextBox 28"/>
          <p:cNvSpPr txBox="1"/>
          <p:nvPr/>
        </p:nvSpPr>
        <p:spPr>
          <a:xfrm>
            <a:off x="3149301" y="4384637"/>
            <a:ext cx="677193" cy="239716"/>
          </a:xfrm>
          <a:prstGeom prst="rect">
            <a:avLst/>
          </a:prstGeom>
          <a:noFill/>
        </p:spPr>
        <p:txBody>
          <a:bodyPr wrap="none" lIns="0" rIns="0" tIns="0" bIns="0">
            <a:spAutoFit/>
          </a:bodyPr>
          <a:lstStyle/>
          <a:p>
            <a:pPr>
              <a:defRPr sz="1072" b="1">
                <a:solidFill>
                  <a:srgbClr val="FFFFFF"/>
                </a:solidFill>
                <a:latin typeface="DejaVu Sans"/>
              </a:defRPr>
            </a:pPr>
            <a:r>
              <a:t>Finding</a:t>
            </a:r>
          </a:p>
        </p:txBody>
      </p:sp>
      <p:sp>
        <p:nvSpPr>
          <p:cNvPr id="30" name="TextBox 29"/>
          <p:cNvSpPr txBox="1"/>
          <p:nvPr/>
        </p:nvSpPr>
        <p:spPr>
          <a:xfrm>
            <a:off x="3149301" y="4560644"/>
            <a:ext cx="1046950" cy="212463"/>
          </a:xfrm>
          <a:prstGeom prst="rect">
            <a:avLst/>
          </a:prstGeom>
          <a:noFill/>
        </p:spPr>
        <p:txBody>
          <a:bodyPr wrap="none" lIns="0" rIns="0" tIns="0" bIns="0">
            <a:spAutoFit/>
          </a:bodyPr>
          <a:lstStyle/>
          <a:p>
            <a:pPr>
              <a:defRPr sz="894" b="0">
                <a:solidFill>
                  <a:srgbClr val="FFFFFF"/>
                </a:solidFill>
                <a:latin typeface="DejaVu Sans"/>
              </a:defRPr>
            </a:pPr>
            <a:r>
              <a:t>gates.py:Finding</a:t>
            </a:r>
          </a:p>
        </p:txBody>
      </p:sp>
      <p:sp>
        <p:nvSpPr>
          <p:cNvPr id="31" name="TextBox 30"/>
          <p:cNvSpPr txBox="1"/>
          <p:nvPr/>
        </p:nvSpPr>
        <p:spPr>
          <a:xfrm>
            <a:off x="3149301" y="4730974"/>
            <a:ext cx="1710991" cy="185210"/>
          </a:xfrm>
          <a:prstGeom prst="rect">
            <a:avLst/>
          </a:prstGeom>
          <a:noFill/>
        </p:spPr>
        <p:txBody>
          <a:bodyPr wrap="none" lIns="0" rIns="0" tIns="0" bIns="0">
            <a:spAutoFit/>
          </a:bodyPr>
          <a:lstStyle/>
          <a:p>
            <a:pPr>
              <a:defRPr sz="715" b="0">
                <a:solidFill>
                  <a:srgbClr val="DFEDF7"/>
                </a:solidFill>
                <a:latin typeface="DejaVu Sans"/>
              </a:defRPr>
            </a:pPr>
            <a:r>
              <a:t>code: str / path: str / message: str /</a:t>
            </a:r>
          </a:p>
        </p:txBody>
      </p:sp>
      <p:sp>
        <p:nvSpPr>
          <p:cNvPr id="32" name="TextBox 31"/>
          <p:cNvSpPr txBox="1"/>
          <p:nvPr/>
        </p:nvSpPr>
        <p:spPr>
          <a:xfrm>
            <a:off x="3149301" y="4844527"/>
            <a:ext cx="477566" cy="185210"/>
          </a:xfrm>
          <a:prstGeom prst="rect">
            <a:avLst/>
          </a:prstGeom>
          <a:noFill/>
        </p:spPr>
        <p:txBody>
          <a:bodyPr wrap="none" lIns="0" rIns="0" tIns="0" bIns="0">
            <a:spAutoFit/>
          </a:bodyPr>
          <a:lstStyle/>
          <a:p>
            <a:pPr>
              <a:defRPr sz="715" b="0">
                <a:solidFill>
                  <a:srgbClr val="DFEDF7"/>
                </a:solidFill>
                <a:latin typeface="DejaVu Sans"/>
              </a:defRPr>
            </a:pPr>
            <a:r>
              <a:t>to_dict()</a:t>
            </a:r>
          </a:p>
        </p:txBody>
      </p:sp>
      <p:sp>
        <p:nvSpPr>
          <p:cNvPr id="33" name="Rounded Rectangle 32"/>
          <p:cNvSpPr/>
          <p:nvPr/>
        </p:nvSpPr>
        <p:spPr>
          <a:xfrm>
            <a:off x="6890870" y="4244041"/>
            <a:ext cx="2271058" cy="1163917"/>
          </a:xfrm>
          <a:prstGeom prst="roundRect">
            <a:avLst>
              <a:gd name="adj" fmla="val 6000"/>
            </a:avLst>
          </a:prstGeom>
          <a:solidFill>
            <a:srgbClr val="6553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981712" y="4282440"/>
            <a:ext cx="984607" cy="185210"/>
          </a:xfrm>
          <a:prstGeom prst="rect">
            <a:avLst/>
          </a:prstGeom>
          <a:noFill/>
        </p:spPr>
        <p:txBody>
          <a:bodyPr wrap="none" lIns="0" rIns="0" tIns="0" bIns="0">
            <a:spAutoFit/>
          </a:bodyPr>
          <a:lstStyle/>
          <a:p>
            <a:pPr>
              <a:defRPr sz="715" b="0">
                <a:solidFill>
                  <a:srgbClr val="DFEDF7"/>
                </a:solidFill>
                <a:latin typeface="DejaVu Sans"/>
              </a:defRPr>
            </a:pPr>
            <a:r>
              <a:t>CODE · StampClass</a:t>
            </a:r>
          </a:p>
        </p:txBody>
      </p:sp>
      <p:sp>
        <p:nvSpPr>
          <p:cNvPr id="35" name="TextBox 34"/>
          <p:cNvSpPr txBox="1"/>
          <p:nvPr/>
        </p:nvSpPr>
        <p:spPr>
          <a:xfrm>
            <a:off x="6981712" y="4384637"/>
            <a:ext cx="1147529" cy="239716"/>
          </a:xfrm>
          <a:prstGeom prst="rect">
            <a:avLst/>
          </a:prstGeom>
          <a:noFill/>
        </p:spPr>
        <p:txBody>
          <a:bodyPr wrap="none" lIns="0" rIns="0" tIns="0" bIns="0">
            <a:spAutoFit/>
          </a:bodyPr>
          <a:lstStyle/>
          <a:p>
            <a:pPr>
              <a:defRPr sz="1072" b="1">
                <a:solidFill>
                  <a:srgbClr val="FFFFFF"/>
                </a:solidFill>
                <a:latin typeface="DejaVu Sans"/>
              </a:defRPr>
            </a:pPr>
            <a:r>
              <a:t>ReviewStamp</a:t>
            </a:r>
          </a:p>
        </p:txBody>
      </p:sp>
      <p:sp>
        <p:nvSpPr>
          <p:cNvPr id="36" name="TextBox 35"/>
          <p:cNvSpPr txBox="1"/>
          <p:nvPr/>
        </p:nvSpPr>
        <p:spPr>
          <a:xfrm>
            <a:off x="6981712" y="4560644"/>
            <a:ext cx="1409565" cy="212463"/>
          </a:xfrm>
          <a:prstGeom prst="rect">
            <a:avLst/>
          </a:prstGeom>
          <a:noFill/>
        </p:spPr>
        <p:txBody>
          <a:bodyPr wrap="none" lIns="0" rIns="0" tIns="0" bIns="0">
            <a:spAutoFit/>
          </a:bodyPr>
          <a:lstStyle/>
          <a:p>
            <a:pPr>
              <a:defRPr sz="894" b="0">
                <a:solidFill>
                  <a:srgbClr val="FFFFFF"/>
                </a:solidFill>
                <a:latin typeface="DejaVu Sans"/>
              </a:defRPr>
            </a:pPr>
            <a:r>
              <a:t>gates.py:ReviewStamp</a:t>
            </a:r>
          </a:p>
        </p:txBody>
      </p:sp>
      <p:sp>
        <p:nvSpPr>
          <p:cNvPr id="37" name="TextBox 36"/>
          <p:cNvSpPr txBox="1"/>
          <p:nvPr/>
        </p:nvSpPr>
        <p:spPr>
          <a:xfrm>
            <a:off x="6981712" y="4730974"/>
            <a:ext cx="1832883" cy="185210"/>
          </a:xfrm>
          <a:prstGeom prst="rect">
            <a:avLst/>
          </a:prstGeom>
          <a:noFill/>
        </p:spPr>
        <p:txBody>
          <a:bodyPr wrap="none" lIns="0" rIns="0" tIns="0" bIns="0">
            <a:spAutoFit/>
          </a:bodyPr>
          <a:lstStyle/>
          <a:p>
            <a:pPr>
              <a:defRPr sz="715" b="0">
                <a:solidFill>
                  <a:srgbClr val="DFEDF7"/>
                </a:solidFill>
                <a:latin typeface="DejaVu Sans"/>
              </a:defRPr>
            </a:pPr>
            <a:r>
              <a:t>source_fingerprint: str / reviewer: str /</a:t>
            </a:r>
          </a:p>
        </p:txBody>
      </p:sp>
      <p:sp>
        <p:nvSpPr>
          <p:cNvPr id="38" name="TextBox 37"/>
          <p:cNvSpPr txBox="1"/>
          <p:nvPr/>
        </p:nvSpPr>
        <p:spPr>
          <a:xfrm>
            <a:off x="6981712" y="4844527"/>
            <a:ext cx="1320519" cy="185210"/>
          </a:xfrm>
          <a:prstGeom prst="rect">
            <a:avLst/>
          </a:prstGeom>
          <a:noFill/>
        </p:spPr>
        <p:txBody>
          <a:bodyPr wrap="none" lIns="0" rIns="0" tIns="0" bIns="0">
            <a:spAutoFit/>
          </a:bodyPr>
          <a:lstStyle/>
          <a:p>
            <a:pPr>
              <a:defRPr sz="715" b="0">
                <a:solidFill>
                  <a:srgbClr val="DFEDF7"/>
                </a:solidFill>
                <a:latin typeface="DejaVu Sans"/>
              </a:defRPr>
            </a:pPr>
            <a:r>
              <a:t>mode: str / matches(store)</a:t>
            </a:r>
          </a:p>
        </p:txBody>
      </p:sp>
      <p:sp>
        <p:nvSpPr>
          <p:cNvPr id="39" name="Rounded Rectangle 38"/>
          <p:cNvSpPr/>
          <p:nvPr/>
        </p:nvSpPr>
        <p:spPr>
          <a:xfrm>
            <a:off x="5630432" y="2540747"/>
            <a:ext cx="1101463" cy="147618"/>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728441" y="2533724"/>
            <a:ext cx="1007046" cy="171584"/>
          </a:xfrm>
          <a:prstGeom prst="rect">
            <a:avLst/>
          </a:prstGeom>
          <a:noFill/>
        </p:spPr>
        <p:txBody>
          <a:bodyPr wrap="none" lIns="0" rIns="0" tIns="0" bIns="0">
            <a:spAutoFit/>
          </a:bodyPr>
          <a:lstStyle/>
          <a:p>
            <a:pPr>
              <a:defRPr sz="625" b="0">
                <a:solidFill>
                  <a:srgbClr val="344F63"/>
                </a:solidFill>
                <a:latin typeface="DejaVu Sans"/>
              </a:defRPr>
            </a:pPr>
            <a:r>
              <a:t>Reads and fingerprints</a:t>
            </a:r>
          </a:p>
        </p:txBody>
      </p:sp>
      <p:sp>
        <p:nvSpPr>
          <p:cNvPr id="41" name="Rounded Rectangle 40"/>
          <p:cNvSpPr/>
          <p:nvPr/>
        </p:nvSpPr>
        <p:spPr>
          <a:xfrm>
            <a:off x="3824941" y="3619500"/>
            <a:ext cx="738094" cy="147618"/>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923080" y="3612477"/>
            <a:ext cx="643416" cy="171584"/>
          </a:xfrm>
          <a:prstGeom prst="rect">
            <a:avLst/>
          </a:prstGeom>
          <a:noFill/>
        </p:spPr>
        <p:txBody>
          <a:bodyPr wrap="none" lIns="0" rIns="0" tIns="0" bIns="0">
            <a:spAutoFit/>
          </a:bodyPr>
          <a:lstStyle/>
          <a:p>
            <a:pPr>
              <a:defRPr sz="625" b="0">
                <a:solidFill>
                  <a:srgbClr val="344F63"/>
                </a:solidFill>
                <a:latin typeface="DejaVu Sans"/>
              </a:defRPr>
            </a:pPr>
            <a:r>
              <a:t>Emits failures</a:t>
            </a:r>
          </a:p>
        </p:txBody>
      </p:sp>
      <p:sp>
        <p:nvSpPr>
          <p:cNvPr id="43" name="Rounded Rectangle 42"/>
          <p:cNvSpPr/>
          <p:nvPr/>
        </p:nvSpPr>
        <p:spPr>
          <a:xfrm>
            <a:off x="5567978" y="3733052"/>
            <a:ext cx="1056042" cy="147618"/>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647313" y="3726030"/>
            <a:ext cx="998973" cy="171584"/>
          </a:xfrm>
          <a:prstGeom prst="rect">
            <a:avLst/>
          </a:prstGeom>
          <a:noFill/>
        </p:spPr>
        <p:txBody>
          <a:bodyPr wrap="none" lIns="0" rIns="0" tIns="0" bIns="0">
            <a:spAutoFit/>
          </a:bodyPr>
          <a:lstStyle/>
          <a:p>
            <a:pPr>
              <a:defRPr sz="625" b="0">
                <a:solidFill>
                  <a:srgbClr val="344F63"/>
                </a:solidFill>
                <a:latin typeface="DejaVu Sans"/>
              </a:defRPr>
            </a:pPr>
            <a:r>
              <a:t>Checks review binding</a:t>
            </a:r>
          </a:p>
        </p:txBody>
      </p:sp>
      <p:sp>
        <p:nvSpPr>
          <p:cNvPr id="45" name="Rounded Rectangle 44"/>
          <p:cNvSpPr/>
          <p:nvPr/>
        </p:nvSpPr>
        <p:spPr>
          <a:xfrm>
            <a:off x="7498378" y="3647888"/>
            <a:ext cx="1056042" cy="147618"/>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581575" y="3640865"/>
            <a:ext cx="991249" cy="171584"/>
          </a:xfrm>
          <a:prstGeom prst="rect">
            <a:avLst/>
          </a:prstGeom>
          <a:noFill/>
        </p:spPr>
        <p:txBody>
          <a:bodyPr wrap="none" lIns="0" rIns="0" tIns="0" bIns="0">
            <a:spAutoFit/>
          </a:bodyPr>
          <a:lstStyle/>
          <a:p>
            <a:pPr>
              <a:defRPr sz="625" b="0">
                <a:solidFill>
                  <a:srgbClr val="344F63"/>
                </a:solidFill>
                <a:latin typeface="DejaVu Sans"/>
              </a:defRPr>
            </a:pPr>
            <a:r>
              <a:t>Compares fingerprints</a:t>
            </a:r>
          </a:p>
        </p:txBody>
      </p:sp>
      <p:sp>
        <p:nvSpPr>
          <p:cNvPr id="47" name="TextBox 46"/>
          <p:cNvSpPr txBox="1"/>
          <p:nvPr/>
        </p:nvSpPr>
        <p:spPr>
          <a:xfrm>
            <a:off x="2916517" y="5531522"/>
            <a:ext cx="5450015" cy="171584"/>
          </a:xfrm>
          <a:prstGeom prst="rect">
            <a:avLst/>
          </a:prstGeom>
          <a:noFill/>
        </p:spPr>
        <p:txBody>
          <a:bodyPr wrap="none" lIns="0" rIns="0" tIns="0" bIns="0">
            <a:spAutoFit/>
          </a:bodyPr>
          <a:lstStyle/>
          <a:p>
            <a:pPr>
              <a:defRPr sz="625" b="0">
                <a:solidFill>
                  <a:srgbClr val="52677A"/>
                </a:solidFill>
                <a:latin typeface="DejaVu Sans"/>
              </a:defRPr>
            </a:pPr>
            <a:r>
              <a:t>Purple = implemented Python class in gates.py. Members show selected methods or fields. Arrows show directed code dependencies.</a:t>
            </a:r>
          </a:p>
        </p:txBody>
      </p:sp>
      <p:sp>
        <p:nvSpPr>
          <p:cNvPr id="48" name="TextBox 47"/>
          <p:cNvSpPr txBox="1"/>
          <p:nvPr/>
        </p:nvSpPr>
        <p:spPr>
          <a:xfrm>
            <a:off x="457200" y="5981700"/>
            <a:ext cx="7074011" cy="320040"/>
          </a:xfrm>
          <a:prstGeom prst="rect">
            <a:avLst/>
          </a:prstGeom>
          <a:noFill/>
        </p:spPr>
        <p:txBody>
          <a:bodyPr wrap="none" lIns="0" rIns="0" tIns="0" bIns="0">
            <a:spAutoFit/>
          </a:bodyPr>
          <a:lstStyle/>
          <a:p>
            <a:pPr>
              <a:defRPr sz="1500" b="1">
                <a:solidFill>
                  <a:srgbClr val="15354C"/>
                </a:solidFill>
                <a:latin typeface="DejaVu Sans"/>
              </a:defRPr>
            </a:pPr>
            <a:r>
              <a:t>C4 shows selected real code in gates.py, not a deployment view.</a:t>
            </a:r>
          </a:p>
        </p:txBody>
      </p:sp>
      <p:cxnSp>
        <p:nvCxnSpPr>
          <p:cNvPr id="49" name="Connector 48"/>
          <p:cNvCxnSpPr/>
          <p:nvPr/>
        </p:nvCxnSpPr>
        <p:spPr>
          <a:xfrm>
            <a:off x="457200" y="6477000"/>
            <a:ext cx="11277600" cy="0"/>
          </a:xfrm>
          <a:prstGeom prst="line">
            <a:avLst/>
          </a:prstGeom>
          <a:ln w="8890">
            <a:solidFill>
              <a:srgbClr val="D6E1E5"/>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457200" y="6578600"/>
            <a:ext cx="2338883" cy="206248"/>
          </a:xfrm>
          <a:prstGeom prst="rect">
            <a:avLst/>
          </a:prstGeom>
          <a:noFill/>
        </p:spPr>
        <p:txBody>
          <a:bodyPr wrap="none" lIns="0" rIns="0" tIns="0" bIns="0">
            <a:spAutoFit/>
          </a:bodyPr>
          <a:lstStyle/>
          <a:p>
            <a:pPr>
              <a:defRPr sz="800" b="0">
                <a:solidFill>
                  <a:srgbClr val="52677A"/>
                </a:solidFill>
                <a:latin typeface="DejaVu Sans"/>
              </a:defRPr>
            </a:pPr>
            <a:r>
              <a:t>P15 • architecture • Claims: CL1, CL6, CL10</a:t>
            </a:r>
          </a:p>
        </p:txBody>
      </p:sp>
      <p:sp>
        <p:nvSpPr>
          <p:cNvPr id="51" name="TextBox 50"/>
          <p:cNvSpPr txBox="1"/>
          <p:nvPr/>
        </p:nvSpPr>
        <p:spPr>
          <a:xfrm>
            <a:off x="11377414" y="6578600"/>
            <a:ext cx="458985" cy="206248"/>
          </a:xfrm>
          <a:prstGeom prst="rect">
            <a:avLst/>
          </a:prstGeom>
          <a:noFill/>
        </p:spPr>
        <p:txBody>
          <a:bodyPr wrap="none" lIns="0" rIns="0" tIns="0" bIns="0">
            <a:spAutoFit/>
          </a:bodyPr>
          <a:lstStyle/>
          <a:p>
            <a:pPr>
              <a:defRPr sz="800" b="0">
                <a:solidFill>
                  <a:srgbClr val="52677A"/>
                </a:solidFill>
                <a:latin typeface="DejaVu Sans"/>
              </a:defRPr>
            </a:pPr>
            <a:r>
              <a:t>15 / 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Architecture Loop: make the decision reviewable</dc:title>
  <dc:subject>A portable architecture research and publication workflow · 6 October 2026</dc:subject>
  <dc:creator>Architecture Loop</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
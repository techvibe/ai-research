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follows the accompanying first-person white paper. It presents a design proposal, not a validated production platform. Product evidence was reviewed on 6 October 2026. The narrative begins with the challenge to control-plane necessity and ends with an evidence-gated investment decision.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§2. A counterexample disproves the universal claim that every enterprise workflow needs a new centralized control plane. A protected dependency-upgrade PR can succeed through existing systems. Conversely, an ambiguous production effect still requires authorization and reconciliation somewhere. This is a distinction between function and topology.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§§2.2–2.4. My conclusion is conditional. I also challenge my own thin-layer recommendation: removal experiments must be permitted. Coordination is an investment, not an architectural virtue.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§§3.1–3.3. Cursor live documentation supports Enterprise with version 3.21.9 or later, unlike an older indexed result. Copilot Fleet SDK binding is experimental. Claude teams are confirmed, but detailed team semantics were not independently retrieved. Do not rank these products as universally strongest or infer production maturity from advertised scale.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§3.4. ChatDev 2.0 differs from its legacy virtual software company. Role simulation and workflow configuration are useful patterns, but are not evidence of enterprise production guarantees. Select one state owner and one primary harness initially.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§4.1 and Appendix A. These contracts express enterprise semantics independently of a vendor’s hidden plan or session. A planning result is a proposal; an evidence result is a supported observation; an action authorization is permission for a bound external effect.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§4.3 / Figure 1. This is a C4 system-context view. The system can be domain operated. The harness is external because its lifecycle and trust boundary differ from the delivery system. References [22] establishes the C4 notation levels.</a:t>
            </a:r>
          </a:p>
          <a:p>
            <a:r>
              <a:t>Presenter emphasis:</a:t>
            </a:r>
          </a:p>
          <a:p>
            <a:r>
              <a:t>People own outcomes.</a:t>
            </a:r>
          </a:p>
          <a:p>
            <a:r>
              <a:t>Harnesses reason and create.</a:t>
            </a:r>
          </a:p>
          <a:p>
            <a:r>
              <a:t>Enterprise systems authorize and execute.</a:t>
            </a:r>
          </a:p>
          <a:p>
            <a:r>
              <a:t>Service observations establish results.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§§4.2 and 4.4 / Figure 2. Target logical implementation, not the minimum Stage 1 deployment. A gateway is ineffective if agents retain alternate privileged routes. Credentials, management-network paths and protected verification jobs must enforce the boundary. Database/object store roles should reuse established services.</a:t>
            </a:r>
          </a:p>
          <a:p>
            <a:r>
              <a:t>Presenter emphasis:</a:t>
            </a:r>
          </a:p>
          <a:p>
            <a:r>
              <a:t>Outcome Service: add only if state has gaps.</a:t>
            </a:r>
          </a:p>
          <a:p>
            <a:r>
              <a:t>Worker Gateway: native harness integration.</a:t>
            </a:r>
          </a:p>
          <a:p>
            <a:r>
              <a:t>Action Gateway: existing executor can supply it.</a:t>
            </a:r>
          </a:p>
          <a:p>
            <a:r>
              <a:t>Workflow Runner: optional.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§4.5 / Figure 3. This zooms into the Outcome Service container. Separate modules do not imply microservices. Enterprise readiness depends on ownership and enforceable behavior rather than the number of boxes.</a:t>
            </a:r>
          </a:p>
          <a:p>
            <a:r>
              <a:t>Presenter emphasis:</a:t>
            </a:r>
          </a:p>
          <a:p>
            <a:r>
              <a:t>Planning proposes.</a:t>
            </a:r>
          </a:p>
          <a:p>
            <a:r>
              <a:t>Verification checks exact evidence.</a:t>
            </a:r>
          </a:p>
          <a:p>
            <a:r>
              <a:t>Policy authorizes.</a:t>
            </a:r>
          </a:p>
          <a:p>
            <a:r>
              <a:t>Reconciliation resolves uncertain effects.</a:t>
            </a:r>
          </a:p>
          <a:p>
            <a:r>
              <a:t>Start as modules in one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§4.6 / Figure 4. Planned interfaces, not deployed code. ActionDispatcher depends on ActionRequest, PolicyAuthority, ActionExecutor and EffectRepository. Use request hashes, optimistic versions, outbox/inbox, operation IDs and fencing where supported. There is no universal exactly-once transaction across arbitrary tools.</a:t>
            </a:r>
          </a:p>
          <a:p>
            <a:r>
              <a:t>Presenter emphasis:</a:t>
            </a:r>
          </a:p>
          <a:p>
            <a:r>
              <a:t>Reserve a unique operation.</a:t>
            </a:r>
          </a:p>
          <a:p>
            <a:r>
              <a:t>Recheck current authority.</a:t>
            </a:r>
          </a:p>
          <a:p>
            <a:r>
              <a:t>Apply with executor guarantees.</a:t>
            </a:r>
          </a:p>
          <a:p>
            <a:r>
              <a:t>Inspect after lost response.</a:t>
            </a:r>
          </a:p>
          <a:p>
            <a:r>
              <a:t>Do not retry unknown non-idempotent effects.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§§5.1, 7.3. Agent completion and business completion are separate. Defined, Active, Waiting, Ready for Action, Acting, Observing, Completed, Failed, Cancelled and Indeterminate are coarse outcome states. Domain acceptance defines their criteria.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§§6.1–6.2. Local checks reduce rework but do not automatically become release evidence. Protected suites and independent producers prevent the builder from defining success through its own assertions. SLSA provenance provides build lineage, not a correctness guarantee. Source [25].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§§6.3 and 7.1. Also test duplicate events, unavailable policy, unavailable telemetry, cancellation with in-flight effects, and cross-domain access. A controller may finish a previously authorized bounded safety sequence during an outage; new privileged actions remain blocked.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§6.4. Vector retrieval is optional. Access checks, freshness, deletion and demonstrable improvement justify adding it. A successful run can propose knowledge; it does not grant permission to rewrite policy.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§§8.1–8.3. Illustrative pilot: 20–30 comparable tasks where diversity permits, and a proposed 20% median human-effort reduction without material quality decline. These are proposed targets, not empirical forecasts. Small cohorts cannot prove rare-event safety.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§§8.4–8.7. No fixed delivery dates without team and readiness information. Every stage has standalone value and stopping criteria. Central portfolio scheduling appears only if observed domain coordination requires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§7.3. Each family has distinct evidence, risk, and recovery rules. Data and irreversible migration actions require additional domain validation. Success with upgrades does not authorize production database repair.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§10. Distinguish product redundancy from function redundancy. Evaluate isolation, provenance, concurrency, cancellation, authorization, observation and recovery before retiring an incumbent. Keep one reversible workflow migration route.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§9. PR count alone is not value. Include failed and abandoned tasks. Distinguish commit-to-production lead time from production workflow duration. The paper’s 80-hour net savings example is illustrative arithmetic, not a forecast.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§§11–13. Test removal of the custom service, single-agent versus fleet, native state versus outer workflow, memory versus no memory, and incumbent versus replacement execution. These tests can overturn the design. The recommendation is an actionable pilot, not a request to build every target component.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paper §1.3 and Appendix C. The slide deck and paper are a cohesive design proposal. The live Cursor page superseded an indexed restriction. AutoGen maintenance status was checked in the maintained repository. Claude team existence is verified; detailed team lifecycle guarantees remain a validation question.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URLs, supported claims and implementation questions are in white paper Appendix C. All references were consulted on 6 October 2026.</a:t>
            </a:r>
          </a:p>
          <a:p>
            <a:r>
              <a:t>[1] Cursor, Introducing Projects — https://cursor.com/blog/projects — Coordinator, persistent context and recurring work</a:t>
            </a:r>
          </a:p>
          <a:p>
            <a:r>
              <a:t>[2] GitHub, Fleet mode — https://docs.github.com/en/copilot/how-tos/copilot-sdk/features/fleet-mode — Parent/subagent pattern, explicit task dependencies, experimental binding and suitability limits</a:t>
            </a:r>
          </a:p>
          <a:p>
            <a:r>
              <a:t>[3] Anthropic, Agent SDK overview — https://code.claude.com/docs/en/agent-sdk/overview — Programmable coding loop, tools, sessions, hooks, permissions, MCP and subagents</a:t>
            </a:r>
          </a:p>
          <a:p>
            <a:r>
              <a:t>[4] Anthropic, Claude Opus 4.6 announcement — https://www.anthropic.com/news/claude-opus-4-6 — Existence of Claude Code agent teams; does not establish current detailed team semantics</a:t>
            </a:r>
          </a:p>
          <a:p>
            <a:r>
              <a:t>[5] OpenAI, Agents API architecture — https://developers.openai.com/api/docs/guides/agents-api/architecture — Managed harness, application server and environment separation</a:t>
            </a:r>
          </a:p>
          <a:p>
            <a:r>
              <a:t>[6] OpenAI, Agents overview — https://developers.openai.com/api/docs/guides/agents — Agents API versus Agents SDK and application-owned orchestration choices</a:t>
            </a:r>
          </a:p>
          <a:p>
            <a:r>
              <a:t>[7] Factory, Missions overview — https://docs.factory.com/missions/overview — Planned mission orchestration for bounded multi-feature work</a:t>
            </a:r>
          </a:p>
          <a:p>
            <a:r>
              <a:t>[8] Factory, Planning and Validation — https://docs.factory.com/missions/planning — Milestones, validation workers and configurable validation</a:t>
            </a:r>
          </a:p>
          <a:p>
            <a:r>
              <a:t>[9] Factory, Running in the Factory App — https://docs.factory.com/missions/running-app — Mission visibility, resumption and remote Droid Computers</a:t>
            </a:r>
          </a:p>
          <a:p>
            <a:r>
              <a:t>[10] Kiro, Invoking as sub-agents — https://kiro.dev/docs/custom-agents/subagents/ — Independent contexts, shared workspace, dependencies and bounded review loops</a:t>
            </a:r>
          </a:p>
          <a:p>
            <a:r>
              <a:t>[11] AWS, DevOps Agent expansion — https://aws.amazon.com/about-aws/whats-new/2026/06/aws-devops-agent-custom-agents/ — Custom SRE agents, bring-your-own subagents, MCP/A2A operational access</a:t>
            </a:r>
          </a:p>
          <a:p>
            <a:r>
              <a:t>[12] Google ADK, Workflows — https://adk.dev/workflows/ — Graph, dynamic, collaborative and template workflows</a:t>
            </a:r>
          </a:p>
          <a:p>
            <a:r>
              <a:t>[13] LangChain, LangGraph Persistence — https://docs.langchain.com/oss/python/langgraph/persistence — Checkpointers and longer-term stores</a:t>
            </a:r>
          </a:p>
          <a:p>
            <a:r>
              <a:t>[14] LangChain, Deep Agents overview — https://docs.langchain.com/oss/javascript/deepagents/overview — Harness facilities, context, tools, delegation and steering</a:t>
            </a:r>
          </a:p>
          <a:p>
            <a:r>
              <a:t>[15] Microsoft, AutoGen maintained repository — https://github.com/microsoft/autogen — Maintenance status and recommendation to use Microsoft Agent Framework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URLs, supported claims and implementation questions are in white paper Appendix C. All references were consulted on 6 October 2026.</a:t>
            </a:r>
          </a:p>
          <a:p>
            <a:r>
              <a:t>[16] Microsoft, Agent Framework checkpoints — https://learn.microsoft.com/en-us/agent-framework/workflows/checkpoints — Workflow checkpoint and restore capabilities</a:t>
            </a:r>
          </a:p>
          <a:p>
            <a:r>
              <a:t>[17] CrewAI, Flows — https://docs.crewai.com/en/concepts/flows — Structured/event-driven flows and state persistence</a:t>
            </a:r>
          </a:p>
          <a:p>
            <a:r>
              <a:t>[18] OpenHands, software-agent SDK — https://github.com/OpenHands/software-agent-sdk — Modular software-agent SDK and execution infrastructure</a:t>
            </a:r>
          </a:p>
          <a:p>
            <a:r>
              <a:t>[19] OpenHands, delegation example — https://github.com/OpenHands/software-agent-sdk/blob/main/examples/01_standalone_sdk/25_agent_delegation.py — Maintained example of software-agent delegation</a:t>
            </a:r>
          </a:p>
          <a:p>
            <a:r>
              <a:t>[20] FoundationAgents, MetaGPT — https://github.com/FoundationAgents/MetaGPT — Role-based software organization and structured operating procedures</a:t>
            </a:r>
          </a:p>
          <a:p>
            <a:r>
              <a:t>[21] OpenBMB, ChatDev — https://github.com/OpenBMB/ChatDev — Legacy virtual software company versus current 2.0 configurable platform</a:t>
            </a:r>
          </a:p>
          <a:p>
            <a:r>
              <a:t>[22] C4 model, Diagrams — https://c4model.com/diagrams — Context/container/component/code levels and selective use</a:t>
            </a:r>
          </a:p>
          <a:p>
            <a:r>
              <a:t>[23] MCP, Security Best Practices — https://modelcontextprotocol.io/docs/2025-11-25/tutorials/security/security_best_practices — Tool security considerations including confused deputy and token handling</a:t>
            </a:r>
          </a:p>
          <a:p>
            <a:r>
              <a:t>[24] A2A, Specification — https://a2a-protocol.org/latest/specification/ — Agent cards, task communication, authentication and capability semantics</a:t>
            </a:r>
          </a:p>
          <a:p>
            <a:r>
              <a:t>[25] SLSA, Provenance v1.1 — https://slsa.dev/spec/v1.1/provenance — Build input and producer provenance structure</a:t>
            </a:r>
          </a:p>
          <a:p>
            <a:r>
              <a:t>[26] Temporal, Workflow Execution — https://docs.temporal.io/workflow-execution — Event-history replay and durable workflow recovery</a:t>
            </a:r>
          </a:p>
          <a:p>
            <a:r>
              <a:t>[27] Factory, Missions Reference — https://docs.factory.com/missions/reference — Configuration inheritance and headless mission execution</a:t>
            </a:r>
          </a:p>
          <a:p>
            <a:r>
              <a:t>[28] OpenAI, Agents API overview — https://developers.openai.com/api/docs/guides/agents-api/overview — Managed sessions, context management, delegation and recovery</a:t>
            </a:r>
          </a:p>
          <a:p>
            <a:r>
              <a:t>[29] Cursor, Projects documentation — https://cursor.com/docs/agent/projects — Live Enterprise/version and legacy Privacy Mode restrictions; discrepancy with indexed snapshot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A SMALL ARCHITECTURE THAT GROWS THROUGH OUTCOMES</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Enterprise Agentic Delivery</a:t>
            </a:r>
          </a:p>
        </p:txBody>
      </p:sp>
      <p:sp>
        <p:nvSpPr>
          <p:cNvPr id="5" name="TextBox 4"/>
          <p:cNvSpPr txBox="1"/>
          <p:nvPr/>
        </p:nvSpPr>
        <p:spPr>
          <a:xfrm>
            <a:off x="640080" y="2103120"/>
            <a:ext cx="10881360" cy="3749039"/>
          </a:xfrm>
          <a:prstGeom prst="rect">
            <a:avLst/>
          </a:prstGeom>
          <a:noFill/>
        </p:spPr>
        <p:txBody>
          <a:bodyPr wrap="square" lIns="0" rIns="0">
            <a:spAutoFit/>
          </a:bodyPr>
          <a:lstStyle/>
          <a:p>
            <a:pPr>
              <a:spcAft>
                <a:spcPts val="900"/>
              </a:spcAft>
              <a:defRPr sz="2300" b="0">
                <a:solidFill>
                  <a:srgbClr val="132B45"/>
                </a:solidFill>
                <a:latin typeface="Aptos"/>
              </a:defRPr>
            </a:pPr>
            <a:r>
              <a:t>I start with one useful outcome.</a:t>
            </a:r>
          </a:p>
          <a:p>
            <a:pPr>
              <a:spcAft>
                <a:spcPts val="900"/>
              </a:spcAft>
              <a:defRPr sz="2300" b="0">
                <a:solidFill>
                  <a:srgbClr val="132B45"/>
                </a:solidFill>
                <a:latin typeface="Aptos"/>
              </a:defRPr>
            </a:pPr>
            <a:r>
              <a:t>I keep authority, evidence and recovery explicit.</a:t>
            </a:r>
          </a:p>
          <a:p>
            <a:pPr>
              <a:spcAft>
                <a:spcPts val="900"/>
              </a:spcAft>
              <a:defRPr sz="2300" b="0">
                <a:solidFill>
                  <a:srgbClr val="132B45"/>
                </a:solidFill>
                <a:latin typeface="Aptos"/>
              </a:defRPr>
            </a:pPr>
            <a:r>
              <a:t>I add coordination only when a measured gap requires it.</a:t>
            </a:r>
          </a:p>
        </p:txBody>
      </p:sp>
      <p:sp>
        <p:nvSpPr>
          <p:cNvPr id="6" name="TextBox 5"/>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7" name="TextBox 6"/>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THE CORE FINDING</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A control-plane product is optional. Its responsibilities may still be needed.</a:t>
            </a:r>
          </a:p>
        </p:txBody>
      </p:sp>
      <p:sp>
        <p:nvSpPr>
          <p:cNvPr id="5" name="TextBox 4"/>
          <p:cNvSpPr txBox="1"/>
          <p:nvPr/>
        </p:nvSpPr>
        <p:spPr>
          <a:xfrm>
            <a:off x="594360" y="2011680"/>
            <a:ext cx="5120640" cy="530352"/>
          </a:xfrm>
          <a:prstGeom prst="rect">
            <a:avLst/>
          </a:prstGeom>
          <a:noFill/>
        </p:spPr>
        <p:txBody>
          <a:bodyPr wrap="square" lIns="0" rIns="0">
            <a:spAutoFit/>
          </a:bodyPr>
          <a:lstStyle/>
          <a:p>
            <a:pPr>
              <a:spcAft>
                <a:spcPts val="900"/>
              </a:spcAft>
              <a:defRPr sz="2000" b="1">
                <a:solidFill>
                  <a:srgbClr val="087F8C"/>
                </a:solidFill>
                <a:latin typeface="Aptos"/>
              </a:defRPr>
            </a:pPr>
            <a:r>
              <a:t>Remove the mandatory platform</a:t>
            </a:r>
          </a:p>
        </p:txBody>
      </p:sp>
      <p:sp>
        <p:nvSpPr>
          <p:cNvPr id="6" name="TextBox 5"/>
          <p:cNvSpPr txBox="1"/>
          <p:nvPr/>
        </p:nvSpPr>
        <p:spPr>
          <a:xfrm>
            <a:off x="594360" y="2724912"/>
            <a:ext cx="5120640" cy="3273552"/>
          </a:xfrm>
          <a:prstGeom prst="rect">
            <a:avLst/>
          </a:prstGeom>
          <a:noFill/>
        </p:spPr>
        <p:txBody>
          <a:bodyPr wrap="square" lIns="0" rIns="0">
            <a:spAutoFit/>
          </a:bodyPr>
          <a:lstStyle/>
          <a:p>
            <a:pPr>
              <a:spcAft>
                <a:spcPts val="900"/>
              </a:spcAft>
              <a:defRPr sz="1800" b="0">
                <a:solidFill>
                  <a:srgbClr val="132B45"/>
                </a:solidFill>
                <a:latin typeface="Aptos"/>
              </a:defRPr>
            </a:pPr>
            <a:r>
              <a:t>Existing IAM, repository rules, builds, release controllers and telemetry can supply control functions.</a:t>
            </a:r>
          </a:p>
        </p:txBody>
      </p:sp>
      <p:sp>
        <p:nvSpPr>
          <p:cNvPr id="7" name="TextBox 6"/>
          <p:cNvSpPr txBox="1"/>
          <p:nvPr/>
        </p:nvSpPr>
        <p:spPr>
          <a:xfrm>
            <a:off x="6080760" y="2011680"/>
            <a:ext cx="5120640" cy="530352"/>
          </a:xfrm>
          <a:prstGeom prst="rect">
            <a:avLst/>
          </a:prstGeom>
          <a:noFill/>
        </p:spPr>
        <p:txBody>
          <a:bodyPr wrap="square" lIns="0" rIns="0">
            <a:spAutoFit/>
          </a:bodyPr>
          <a:lstStyle/>
          <a:p>
            <a:pPr>
              <a:spcAft>
                <a:spcPts val="900"/>
              </a:spcAft>
              <a:defRPr sz="2000" b="1">
                <a:solidFill>
                  <a:srgbClr val="087F8C"/>
                </a:solidFill>
                <a:latin typeface="Aptos"/>
              </a:defRPr>
            </a:pPr>
            <a:r>
              <a:t>Keep consequences explicit</a:t>
            </a:r>
          </a:p>
        </p:txBody>
      </p:sp>
      <p:sp>
        <p:nvSpPr>
          <p:cNvPr id="8" name="TextBox 7"/>
          <p:cNvSpPr txBox="1"/>
          <p:nvPr/>
        </p:nvSpPr>
        <p:spPr>
          <a:xfrm>
            <a:off x="6080760" y="2724912"/>
            <a:ext cx="5120640" cy="3273552"/>
          </a:xfrm>
          <a:prstGeom prst="rect">
            <a:avLst/>
          </a:prstGeom>
          <a:noFill/>
        </p:spPr>
        <p:txBody>
          <a:bodyPr wrap="square" lIns="0" rIns="0">
            <a:spAutoFit/>
          </a:bodyPr>
          <a:lstStyle/>
          <a:p>
            <a:pPr>
              <a:spcAft>
                <a:spcPts val="900"/>
              </a:spcAft>
              <a:defRPr sz="1800" b="0">
                <a:solidFill>
                  <a:srgbClr val="132B45"/>
                </a:solidFill>
                <a:latin typeface="Aptos"/>
              </a:defRPr>
            </a:pPr>
            <a:r>
              <a:t>For consequential work, define authority, exact-change evidence, durable progress and recovery.</a:t>
            </a:r>
          </a:p>
        </p:txBody>
      </p:sp>
      <p:sp>
        <p:nvSpPr>
          <p:cNvPr id="9" name="TextBox 8"/>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10" name="TextBox 9"/>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DISCONFIRMATION</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I tested both sides of the argument.</a:t>
            </a:r>
          </a:p>
        </p:txBody>
      </p:sp>
      <p:sp>
        <p:nvSpPr>
          <p:cNvPr id="5" name="TextBox 4"/>
          <p:cNvSpPr txBox="1"/>
          <p:nvPr/>
        </p:nvSpPr>
        <p:spPr>
          <a:xfrm>
            <a:off x="594360" y="2011680"/>
            <a:ext cx="3413759" cy="530352"/>
          </a:xfrm>
          <a:prstGeom prst="rect">
            <a:avLst/>
          </a:prstGeom>
          <a:noFill/>
        </p:spPr>
        <p:txBody>
          <a:bodyPr wrap="square" lIns="0" rIns="0">
            <a:spAutoFit/>
          </a:bodyPr>
          <a:lstStyle/>
          <a:p>
            <a:pPr>
              <a:spcAft>
                <a:spcPts val="900"/>
              </a:spcAft>
              <a:defRPr sz="2000" b="1">
                <a:solidFill>
                  <a:srgbClr val="087F8C"/>
                </a:solidFill>
                <a:latin typeface="Aptos"/>
              </a:defRPr>
            </a:pPr>
            <a:r>
              <a:t>A mandatory central plane</a:t>
            </a:r>
          </a:p>
        </p:txBody>
      </p:sp>
      <p:sp>
        <p:nvSpPr>
          <p:cNvPr id="6" name="TextBox 5"/>
          <p:cNvSpPr txBox="1"/>
          <p:nvPr/>
        </p:nvSpPr>
        <p:spPr>
          <a:xfrm>
            <a:off x="594360" y="2724912"/>
            <a:ext cx="3413759" cy="3273552"/>
          </a:xfrm>
          <a:prstGeom prst="rect">
            <a:avLst/>
          </a:prstGeom>
          <a:noFill/>
        </p:spPr>
        <p:txBody>
          <a:bodyPr wrap="square" lIns="0" rIns="0">
            <a:spAutoFit/>
          </a:bodyPr>
          <a:lstStyle/>
          <a:p>
            <a:pPr>
              <a:spcAft>
                <a:spcPts val="900"/>
              </a:spcAft>
              <a:defRPr sz="1800" b="0">
                <a:solidFill>
                  <a:srgbClr val="132B45"/>
                </a:solidFill>
                <a:latin typeface="Aptos"/>
              </a:defRPr>
            </a:pPr>
            <a:r>
              <a:t>Disconfirmed by workflows already governed and recoverable through existing systems.</a:t>
            </a:r>
          </a:p>
        </p:txBody>
      </p:sp>
      <p:sp>
        <p:nvSpPr>
          <p:cNvPr id="7" name="TextBox 6"/>
          <p:cNvSpPr txBox="1"/>
          <p:nvPr/>
        </p:nvSpPr>
        <p:spPr>
          <a:xfrm>
            <a:off x="4251960" y="2011680"/>
            <a:ext cx="3413759" cy="530352"/>
          </a:xfrm>
          <a:prstGeom prst="rect">
            <a:avLst/>
          </a:prstGeom>
          <a:noFill/>
        </p:spPr>
        <p:txBody>
          <a:bodyPr wrap="square" lIns="0" rIns="0">
            <a:spAutoFit/>
          </a:bodyPr>
          <a:lstStyle/>
          <a:p>
            <a:pPr>
              <a:spcAft>
                <a:spcPts val="900"/>
              </a:spcAft>
              <a:defRPr sz="2000" b="1">
                <a:solidFill>
                  <a:srgbClr val="087F8C"/>
                </a:solidFill>
                <a:latin typeface="Aptos"/>
              </a:defRPr>
            </a:pPr>
            <a:r>
              <a:t>Harnesses remove all controls</a:t>
            </a:r>
          </a:p>
        </p:txBody>
      </p:sp>
      <p:sp>
        <p:nvSpPr>
          <p:cNvPr id="8" name="TextBox 7"/>
          <p:cNvSpPr txBox="1"/>
          <p:nvPr/>
        </p:nvSpPr>
        <p:spPr>
          <a:xfrm>
            <a:off x="4251960" y="2724912"/>
            <a:ext cx="3413759" cy="3273552"/>
          </a:xfrm>
          <a:prstGeom prst="rect">
            <a:avLst/>
          </a:prstGeom>
          <a:noFill/>
        </p:spPr>
        <p:txBody>
          <a:bodyPr wrap="square" lIns="0" rIns="0">
            <a:spAutoFit/>
          </a:bodyPr>
          <a:lstStyle/>
          <a:p>
            <a:pPr>
              <a:spcAft>
                <a:spcPts val="900"/>
              </a:spcAft>
              <a:defRPr sz="1800" b="0">
                <a:solidFill>
                  <a:srgbClr val="132B45"/>
                </a:solidFill>
                <a:latin typeface="Aptos"/>
              </a:defRPr>
            </a:pPr>
            <a:r>
              <a:t>Disconfirmed by stale approvals, uncertain external effects and conflicting workers.</a:t>
            </a:r>
          </a:p>
        </p:txBody>
      </p:sp>
      <p:sp>
        <p:nvSpPr>
          <p:cNvPr id="9" name="TextBox 8"/>
          <p:cNvSpPr txBox="1"/>
          <p:nvPr/>
        </p:nvSpPr>
        <p:spPr>
          <a:xfrm>
            <a:off x="7909560" y="2011680"/>
            <a:ext cx="3413759" cy="530352"/>
          </a:xfrm>
          <a:prstGeom prst="rect">
            <a:avLst/>
          </a:prstGeom>
          <a:noFill/>
        </p:spPr>
        <p:txBody>
          <a:bodyPr wrap="square" lIns="0" rIns="0">
            <a:spAutoFit/>
          </a:bodyPr>
          <a:lstStyle/>
          <a:p>
            <a:pPr>
              <a:spcAft>
                <a:spcPts val="900"/>
              </a:spcAft>
              <a:defRPr sz="2000" b="1">
                <a:solidFill>
                  <a:srgbClr val="087F8C"/>
                </a:solidFill>
                <a:latin typeface="Aptos"/>
              </a:defRPr>
            </a:pPr>
            <a:r>
              <a:t>A thin layer always helps</a:t>
            </a:r>
          </a:p>
        </p:txBody>
      </p:sp>
      <p:sp>
        <p:nvSpPr>
          <p:cNvPr id="10" name="TextBox 9"/>
          <p:cNvSpPr txBox="1"/>
          <p:nvPr/>
        </p:nvSpPr>
        <p:spPr>
          <a:xfrm>
            <a:off x="7909560" y="2724912"/>
            <a:ext cx="3413759" cy="3273552"/>
          </a:xfrm>
          <a:prstGeom prst="rect">
            <a:avLst/>
          </a:prstGeom>
          <a:noFill/>
        </p:spPr>
        <p:txBody>
          <a:bodyPr wrap="square" lIns="0" rIns="0">
            <a:spAutoFit/>
          </a:bodyPr>
          <a:lstStyle/>
          <a:p>
            <a:pPr>
              <a:spcAft>
                <a:spcPts val="900"/>
              </a:spcAft>
              <a:defRPr sz="1800" b="0">
                <a:solidFill>
                  <a:srgbClr val="132B45"/>
                </a:solidFill>
                <a:latin typeface="Aptos"/>
              </a:defRPr>
            </a:pPr>
            <a:r>
              <a:t>Reject it if it duplicates reliable existing state and costs more than it saves.</a:t>
            </a:r>
          </a:p>
        </p:txBody>
      </p:sp>
      <p:sp>
        <p:nvSpPr>
          <p:cNvPr id="11" name="TextBox 10"/>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12" name="TextBox 11"/>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LANDSCAPE / PRODUCTS</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The harnesses offer complementary patterns.</a:t>
            </a:r>
          </a:p>
        </p:txBody>
      </p:sp>
      <p:sp>
        <p:nvSpPr>
          <p:cNvPr id="5" name="TextBox 4"/>
          <p:cNvSpPr txBox="1"/>
          <p:nvPr/>
        </p:nvSpPr>
        <p:spPr>
          <a:xfrm>
            <a:off x="594360" y="2011680"/>
            <a:ext cx="5120640" cy="530352"/>
          </a:xfrm>
          <a:prstGeom prst="rect">
            <a:avLst/>
          </a:prstGeom>
          <a:noFill/>
        </p:spPr>
        <p:txBody>
          <a:bodyPr wrap="square" lIns="0" rIns="0">
            <a:spAutoFit/>
          </a:bodyPr>
          <a:lstStyle/>
          <a:p>
            <a:pPr>
              <a:spcAft>
                <a:spcPts val="900"/>
              </a:spcAft>
              <a:defRPr sz="2000" b="1">
                <a:solidFill>
                  <a:srgbClr val="087F8C"/>
                </a:solidFill>
                <a:latin typeface="Aptos"/>
              </a:defRPr>
            </a:pPr>
            <a:r>
              <a:t>Fleet and specialists</a:t>
            </a:r>
          </a:p>
        </p:txBody>
      </p:sp>
      <p:sp>
        <p:nvSpPr>
          <p:cNvPr id="6" name="TextBox 5"/>
          <p:cNvSpPr txBox="1"/>
          <p:nvPr/>
        </p:nvSpPr>
        <p:spPr>
          <a:xfrm>
            <a:off x="594360" y="2724912"/>
            <a:ext cx="5120640" cy="3273552"/>
          </a:xfrm>
          <a:prstGeom prst="rect">
            <a:avLst/>
          </a:prstGeom>
          <a:noFill/>
        </p:spPr>
        <p:txBody>
          <a:bodyPr wrap="square" lIns="0" rIns="0">
            <a:spAutoFit/>
          </a:bodyPr>
          <a:lstStyle/>
          <a:p>
            <a:pPr>
              <a:spcAft>
                <a:spcPts val="900"/>
              </a:spcAft>
              <a:defRPr sz="1800" b="0">
                <a:solidFill>
                  <a:srgbClr val="132B45"/>
                </a:solidFill>
                <a:latin typeface="Aptos"/>
              </a:defRPr>
            </a:pPr>
            <a:r>
              <a:t>Cursor: direction separate from execution.</a:t>
            </a:r>
          </a:p>
          <a:p>
            <a:pPr>
              <a:spcAft>
                <a:spcPts val="900"/>
              </a:spcAft>
              <a:defRPr sz="1800" b="0">
                <a:solidFill>
                  <a:srgbClr val="132B45"/>
                </a:solidFill>
                <a:latin typeface="Aptos"/>
              </a:defRPr>
            </a:pPr>
            <a:r>
              <a:t>Copilot: explicit dependencies.</a:t>
            </a:r>
          </a:p>
          <a:p>
            <a:pPr>
              <a:spcAft>
                <a:spcPts val="900"/>
              </a:spcAft>
              <a:defRPr sz="1800" b="0">
                <a:solidFill>
                  <a:srgbClr val="132B45"/>
                </a:solidFill>
                <a:latin typeface="Aptos"/>
              </a:defRPr>
            </a:pPr>
            <a:r>
              <a:t>Claude: coding loop and bounded specialists.</a:t>
            </a:r>
          </a:p>
        </p:txBody>
      </p:sp>
      <p:sp>
        <p:nvSpPr>
          <p:cNvPr id="7" name="TextBox 6"/>
          <p:cNvSpPr txBox="1"/>
          <p:nvPr/>
        </p:nvSpPr>
        <p:spPr>
          <a:xfrm>
            <a:off x="6080760" y="2011680"/>
            <a:ext cx="5120640" cy="530352"/>
          </a:xfrm>
          <a:prstGeom prst="rect">
            <a:avLst/>
          </a:prstGeom>
          <a:noFill/>
        </p:spPr>
        <p:txBody>
          <a:bodyPr wrap="square" lIns="0" rIns="0">
            <a:spAutoFit/>
          </a:bodyPr>
          <a:lstStyle/>
          <a:p>
            <a:pPr>
              <a:spcAft>
                <a:spcPts val="900"/>
              </a:spcAft>
              <a:defRPr sz="2000" b="1">
                <a:solidFill>
                  <a:srgbClr val="087F8C"/>
                </a:solidFill>
                <a:latin typeface="Aptos"/>
              </a:defRPr>
            </a:pPr>
            <a:r>
              <a:t>Managed and missions</a:t>
            </a:r>
          </a:p>
        </p:txBody>
      </p:sp>
      <p:sp>
        <p:nvSpPr>
          <p:cNvPr id="8" name="TextBox 7"/>
          <p:cNvSpPr txBox="1"/>
          <p:nvPr/>
        </p:nvSpPr>
        <p:spPr>
          <a:xfrm>
            <a:off x="6080760" y="2724912"/>
            <a:ext cx="5120640" cy="3273552"/>
          </a:xfrm>
          <a:prstGeom prst="rect">
            <a:avLst/>
          </a:prstGeom>
          <a:noFill/>
        </p:spPr>
        <p:txBody>
          <a:bodyPr wrap="square" lIns="0" rIns="0">
            <a:spAutoFit/>
          </a:bodyPr>
          <a:lstStyle/>
          <a:p>
            <a:pPr>
              <a:spcAft>
                <a:spcPts val="900"/>
              </a:spcAft>
              <a:defRPr sz="1800" b="0">
                <a:solidFill>
                  <a:srgbClr val="132B45"/>
                </a:solidFill>
                <a:latin typeface="Aptos"/>
              </a:defRPr>
            </a:pPr>
            <a:r>
              <a:t>Codex: managed harness with environment choice.</a:t>
            </a:r>
          </a:p>
          <a:p>
            <a:pPr>
              <a:spcAft>
                <a:spcPts val="900"/>
              </a:spcAft>
              <a:defRPr sz="1800" b="0">
                <a:solidFill>
                  <a:srgbClr val="132B45"/>
                </a:solidFill>
                <a:latin typeface="Aptos"/>
              </a:defRPr>
            </a:pPr>
            <a:r>
              <a:t>Factory: planned milestones and validators.</a:t>
            </a:r>
          </a:p>
          <a:p>
            <a:pPr>
              <a:spcAft>
                <a:spcPts val="900"/>
              </a:spcAft>
              <a:defRPr sz="1800" b="0">
                <a:solidFill>
                  <a:srgbClr val="132B45"/>
                </a:solidFill>
                <a:latin typeface="Aptos"/>
              </a:defRPr>
            </a:pPr>
            <a:r>
              <a:t>Kiro / AWS: development-to-operations access.</a:t>
            </a:r>
          </a:p>
        </p:txBody>
      </p:sp>
      <p:sp>
        <p:nvSpPr>
          <p:cNvPr id="9" name="TextBox 8"/>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White paper references [1–11, 27–29] · Capabilities are documented; enterprise fit requires validation.</a:t>
            </a:r>
          </a:p>
        </p:txBody>
      </p:sp>
      <p:sp>
        <p:nvSpPr>
          <p:cNvPr id="10" name="TextBox 9"/>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LANDSCAPE / FRAMEWORKS AND OPEN DESIGNS</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Frameworks are alternatives, not layers to accumulate.</a:t>
            </a:r>
          </a:p>
        </p:txBody>
      </p:sp>
      <p:sp>
        <p:nvSpPr>
          <p:cNvPr id="5" name="TextBox 4"/>
          <p:cNvSpPr txBox="1"/>
          <p:nvPr/>
        </p:nvSpPr>
        <p:spPr>
          <a:xfrm>
            <a:off x="594360" y="2011680"/>
            <a:ext cx="5120640" cy="530352"/>
          </a:xfrm>
          <a:prstGeom prst="rect">
            <a:avLst/>
          </a:prstGeom>
          <a:noFill/>
        </p:spPr>
        <p:txBody>
          <a:bodyPr wrap="square" lIns="0" rIns="0">
            <a:spAutoFit/>
          </a:bodyPr>
          <a:lstStyle/>
          <a:p>
            <a:pPr>
              <a:spcAft>
                <a:spcPts val="900"/>
              </a:spcAft>
              <a:defRPr sz="2000" b="1">
                <a:solidFill>
                  <a:srgbClr val="087F8C"/>
                </a:solidFill>
                <a:latin typeface="Aptos"/>
              </a:defRPr>
            </a:pPr>
            <a:r>
              <a:t>State and composition</a:t>
            </a:r>
          </a:p>
        </p:txBody>
      </p:sp>
      <p:sp>
        <p:nvSpPr>
          <p:cNvPr id="6" name="TextBox 5"/>
          <p:cNvSpPr txBox="1"/>
          <p:nvPr/>
        </p:nvSpPr>
        <p:spPr>
          <a:xfrm>
            <a:off x="594360" y="2724912"/>
            <a:ext cx="5120640" cy="3273552"/>
          </a:xfrm>
          <a:prstGeom prst="rect">
            <a:avLst/>
          </a:prstGeom>
          <a:noFill/>
        </p:spPr>
        <p:txBody>
          <a:bodyPr wrap="square" lIns="0" rIns="0">
            <a:spAutoFit/>
          </a:bodyPr>
          <a:lstStyle/>
          <a:p>
            <a:pPr>
              <a:spcAft>
                <a:spcPts val="900"/>
              </a:spcAft>
              <a:defRPr sz="1800" b="0">
                <a:solidFill>
                  <a:srgbClr val="132B45"/>
                </a:solidFill>
                <a:latin typeface="Aptos"/>
              </a:defRPr>
            </a:pPr>
            <a:r>
              <a:t>ADK: agents with deterministic nodes.</a:t>
            </a:r>
          </a:p>
          <a:p>
            <a:pPr>
              <a:spcAft>
                <a:spcPts val="900"/>
              </a:spcAft>
              <a:defRPr sz="1800" b="0">
                <a:solidFill>
                  <a:srgbClr val="132B45"/>
                </a:solidFill>
                <a:latin typeface="Aptos"/>
              </a:defRPr>
            </a:pPr>
            <a:r>
              <a:t>LangGraph / Deep Agents: checkpoints and harness.</a:t>
            </a:r>
          </a:p>
          <a:p>
            <a:pPr>
              <a:spcAft>
                <a:spcPts val="900"/>
              </a:spcAft>
              <a:defRPr sz="1800" b="0">
                <a:solidFill>
                  <a:srgbClr val="132B45"/>
                </a:solidFill>
                <a:latin typeface="Aptos"/>
              </a:defRPr>
            </a:pPr>
            <a:r>
              <a:t>Microsoft Agent Framework: maintained successor to AutoGen.</a:t>
            </a:r>
          </a:p>
        </p:txBody>
      </p:sp>
      <p:sp>
        <p:nvSpPr>
          <p:cNvPr id="7" name="TextBox 6"/>
          <p:cNvSpPr txBox="1"/>
          <p:nvPr/>
        </p:nvSpPr>
        <p:spPr>
          <a:xfrm>
            <a:off x="6080760" y="2011680"/>
            <a:ext cx="5120640" cy="530352"/>
          </a:xfrm>
          <a:prstGeom prst="rect">
            <a:avLst/>
          </a:prstGeom>
          <a:noFill/>
        </p:spPr>
        <p:txBody>
          <a:bodyPr wrap="square" lIns="0" rIns="0">
            <a:spAutoFit/>
          </a:bodyPr>
          <a:lstStyle/>
          <a:p>
            <a:pPr>
              <a:spcAft>
                <a:spcPts val="900"/>
              </a:spcAft>
              <a:defRPr sz="2000" b="1">
                <a:solidFill>
                  <a:srgbClr val="087F8C"/>
                </a:solidFill>
                <a:latin typeface="Aptos"/>
              </a:defRPr>
            </a:pPr>
            <a:r>
              <a:t>Open and configurable</a:t>
            </a:r>
          </a:p>
        </p:txBody>
      </p:sp>
      <p:sp>
        <p:nvSpPr>
          <p:cNvPr id="8" name="TextBox 7"/>
          <p:cNvSpPr txBox="1"/>
          <p:nvPr/>
        </p:nvSpPr>
        <p:spPr>
          <a:xfrm>
            <a:off x="6080760" y="2724912"/>
            <a:ext cx="5120640" cy="3273552"/>
          </a:xfrm>
          <a:prstGeom prst="rect">
            <a:avLst/>
          </a:prstGeom>
          <a:noFill/>
        </p:spPr>
        <p:txBody>
          <a:bodyPr wrap="square" lIns="0" rIns="0">
            <a:spAutoFit/>
          </a:bodyPr>
          <a:lstStyle/>
          <a:p>
            <a:pPr>
              <a:spcAft>
                <a:spcPts val="900"/>
              </a:spcAft>
              <a:defRPr sz="1800" b="0">
                <a:solidFill>
                  <a:srgbClr val="132B45"/>
                </a:solidFill>
                <a:latin typeface="Aptos"/>
              </a:defRPr>
            </a:pPr>
            <a:r>
              <a:t>CrewAI: crews within flows.</a:t>
            </a:r>
          </a:p>
          <a:p>
            <a:pPr>
              <a:spcAft>
                <a:spcPts val="900"/>
              </a:spcAft>
              <a:defRPr sz="1800" b="0">
                <a:solidFill>
                  <a:srgbClr val="132B45"/>
                </a:solidFill>
                <a:latin typeface="Aptos"/>
              </a:defRPr>
            </a:pPr>
            <a:r>
              <a:t>OpenHands: modular software-agent runtime.</a:t>
            </a:r>
          </a:p>
          <a:p>
            <a:pPr>
              <a:spcAft>
                <a:spcPts val="900"/>
              </a:spcAft>
              <a:defRPr sz="1800" b="0">
                <a:solidFill>
                  <a:srgbClr val="132B45"/>
                </a:solidFill>
                <a:latin typeface="Aptos"/>
              </a:defRPr>
            </a:pPr>
            <a:r>
              <a:t>MetaGPT / ChatDev: explicit roles and configurable collaboration.</a:t>
            </a:r>
          </a:p>
        </p:txBody>
      </p:sp>
      <p:sp>
        <p:nvSpPr>
          <p:cNvPr id="9" name="TextBox 8"/>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White paper references [12–21] · AutoGen is in maintenance mode.</a:t>
            </a:r>
          </a:p>
        </p:txBody>
      </p:sp>
      <p:sp>
        <p:nvSpPr>
          <p:cNvPr id="10" name="TextBox 9"/>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THE STABLE ENTERPRISE BOUNDARY</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Three contracts keep the architecture small.</a:t>
            </a:r>
          </a:p>
        </p:txBody>
      </p:sp>
      <p:sp>
        <p:nvSpPr>
          <p:cNvPr id="5" name="TextBox 4"/>
          <p:cNvSpPr txBox="1"/>
          <p:nvPr/>
        </p:nvSpPr>
        <p:spPr>
          <a:xfrm>
            <a:off x="594360" y="2011680"/>
            <a:ext cx="3413759" cy="530352"/>
          </a:xfrm>
          <a:prstGeom prst="rect">
            <a:avLst/>
          </a:prstGeom>
          <a:noFill/>
        </p:spPr>
        <p:txBody>
          <a:bodyPr wrap="square" lIns="0" rIns="0">
            <a:spAutoFit/>
          </a:bodyPr>
          <a:lstStyle/>
          <a:p>
            <a:pPr>
              <a:spcAft>
                <a:spcPts val="900"/>
              </a:spcAft>
              <a:defRPr sz="2000" b="1">
                <a:solidFill>
                  <a:srgbClr val="087F8C"/>
                </a:solidFill>
                <a:latin typeface="Aptos"/>
              </a:defRPr>
            </a:pPr>
            <a:r>
              <a:t>Outcome</a:t>
            </a:r>
          </a:p>
        </p:txBody>
      </p:sp>
      <p:sp>
        <p:nvSpPr>
          <p:cNvPr id="6" name="TextBox 5"/>
          <p:cNvSpPr txBox="1"/>
          <p:nvPr/>
        </p:nvSpPr>
        <p:spPr>
          <a:xfrm>
            <a:off x="594360" y="2724912"/>
            <a:ext cx="3413759" cy="3273552"/>
          </a:xfrm>
          <a:prstGeom prst="rect">
            <a:avLst/>
          </a:prstGeom>
          <a:noFill/>
        </p:spPr>
        <p:txBody>
          <a:bodyPr wrap="square" lIns="0" rIns="0">
            <a:spAutoFit/>
          </a:bodyPr>
          <a:lstStyle/>
          <a:p>
            <a:pPr>
              <a:spcAft>
                <a:spcPts val="900"/>
              </a:spcAft>
              <a:defRPr sz="1800" b="0">
                <a:solidFill>
                  <a:srgbClr val="132B45"/>
                </a:solidFill>
                <a:latin typeface="Aptos"/>
              </a:defRPr>
            </a:pPr>
            <a:r>
              <a:t>What I want.</a:t>
            </a:r>
          </a:p>
          <a:p>
            <a:pPr>
              <a:spcAft>
                <a:spcPts val="900"/>
              </a:spcAft>
              <a:defRPr sz="1800" b="0">
                <a:solidFill>
                  <a:srgbClr val="132B45"/>
                </a:solidFill>
                <a:latin typeface="Aptos"/>
              </a:defRPr>
            </a:pPr>
            <a:r>
              <a:t>Owner, scope, constraints, acceptance, risk and budget.</a:t>
            </a:r>
          </a:p>
        </p:txBody>
      </p:sp>
      <p:sp>
        <p:nvSpPr>
          <p:cNvPr id="7" name="TextBox 6"/>
          <p:cNvSpPr txBox="1"/>
          <p:nvPr/>
        </p:nvSpPr>
        <p:spPr>
          <a:xfrm>
            <a:off x="4251960" y="2011680"/>
            <a:ext cx="3413759" cy="530352"/>
          </a:xfrm>
          <a:prstGeom prst="rect">
            <a:avLst/>
          </a:prstGeom>
          <a:noFill/>
        </p:spPr>
        <p:txBody>
          <a:bodyPr wrap="square" lIns="0" rIns="0">
            <a:spAutoFit/>
          </a:bodyPr>
          <a:lstStyle/>
          <a:p>
            <a:pPr>
              <a:spcAft>
                <a:spcPts val="900"/>
              </a:spcAft>
              <a:defRPr sz="2000" b="1">
                <a:solidFill>
                  <a:srgbClr val="087F8C"/>
                </a:solidFill>
                <a:latin typeface="Aptos"/>
              </a:defRPr>
            </a:pPr>
            <a:r>
              <a:t>Evidence</a:t>
            </a:r>
          </a:p>
        </p:txBody>
      </p:sp>
      <p:sp>
        <p:nvSpPr>
          <p:cNvPr id="8" name="TextBox 7"/>
          <p:cNvSpPr txBox="1"/>
          <p:nvPr/>
        </p:nvSpPr>
        <p:spPr>
          <a:xfrm>
            <a:off x="4251960" y="2724912"/>
            <a:ext cx="3413759" cy="3273552"/>
          </a:xfrm>
          <a:prstGeom prst="rect">
            <a:avLst/>
          </a:prstGeom>
          <a:noFill/>
        </p:spPr>
        <p:txBody>
          <a:bodyPr wrap="square" lIns="0" rIns="0">
            <a:spAutoFit/>
          </a:bodyPr>
          <a:lstStyle/>
          <a:p>
            <a:pPr>
              <a:spcAft>
                <a:spcPts val="900"/>
              </a:spcAft>
              <a:defRPr sz="1800" b="0">
                <a:solidFill>
                  <a:srgbClr val="132B45"/>
                </a:solidFill>
                <a:latin typeface="Aptos"/>
              </a:defRPr>
            </a:pPr>
            <a:r>
              <a:t>What was established.</a:t>
            </a:r>
          </a:p>
          <a:p>
            <a:pPr>
              <a:spcAft>
                <a:spcPts val="900"/>
              </a:spcAft>
              <a:defRPr sz="1800" b="0">
                <a:solidFill>
                  <a:srgbClr val="132B45"/>
                </a:solidFill>
                <a:latin typeface="Aptos"/>
              </a:defRPr>
            </a:pPr>
            <a:r>
              <a:t>Exact revision/digest, trusted producer, environment and freshness.</a:t>
            </a:r>
          </a:p>
        </p:txBody>
      </p:sp>
      <p:sp>
        <p:nvSpPr>
          <p:cNvPr id="9" name="TextBox 8"/>
          <p:cNvSpPr txBox="1"/>
          <p:nvPr/>
        </p:nvSpPr>
        <p:spPr>
          <a:xfrm>
            <a:off x="7909560" y="2011680"/>
            <a:ext cx="3413759" cy="530352"/>
          </a:xfrm>
          <a:prstGeom prst="rect">
            <a:avLst/>
          </a:prstGeom>
          <a:noFill/>
        </p:spPr>
        <p:txBody>
          <a:bodyPr wrap="square" lIns="0" rIns="0">
            <a:spAutoFit/>
          </a:bodyPr>
          <a:lstStyle/>
          <a:p>
            <a:pPr>
              <a:spcAft>
                <a:spcPts val="900"/>
              </a:spcAft>
              <a:defRPr sz="2000" b="1">
                <a:solidFill>
                  <a:srgbClr val="087F8C"/>
                </a:solidFill>
                <a:latin typeface="Aptos"/>
              </a:defRPr>
            </a:pPr>
            <a:r>
              <a:t>Action</a:t>
            </a:r>
          </a:p>
        </p:txBody>
      </p:sp>
      <p:sp>
        <p:nvSpPr>
          <p:cNvPr id="10" name="TextBox 9"/>
          <p:cNvSpPr txBox="1"/>
          <p:nvPr/>
        </p:nvSpPr>
        <p:spPr>
          <a:xfrm>
            <a:off x="7909560" y="2724912"/>
            <a:ext cx="3413759" cy="3273552"/>
          </a:xfrm>
          <a:prstGeom prst="rect">
            <a:avLst/>
          </a:prstGeom>
          <a:noFill/>
        </p:spPr>
        <p:txBody>
          <a:bodyPr wrap="square" lIns="0" rIns="0">
            <a:spAutoFit/>
          </a:bodyPr>
          <a:lstStyle/>
          <a:p>
            <a:pPr>
              <a:spcAft>
                <a:spcPts val="900"/>
              </a:spcAft>
              <a:defRPr sz="1800" b="0">
                <a:solidFill>
                  <a:srgbClr val="132B45"/>
                </a:solidFill>
                <a:latin typeface="Aptos"/>
              </a:defRPr>
            </a:pPr>
            <a:r>
              <a:t>What may change.</a:t>
            </a:r>
          </a:p>
          <a:p>
            <a:pPr>
              <a:spcAft>
                <a:spcPts val="900"/>
              </a:spcAft>
              <a:defRPr sz="1800" b="0">
                <a:solidFill>
                  <a:srgbClr val="132B45"/>
                </a:solidFill>
                <a:latin typeface="Aptos"/>
              </a:defRPr>
            </a:pPr>
            <a:r>
              <a:t>Bounded effect, authority, preconditions, operation identity and recovery.</a:t>
            </a:r>
          </a:p>
        </p:txBody>
      </p:sp>
      <p:sp>
        <p:nvSpPr>
          <p:cNvPr id="11" name="TextBox 10"/>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12" name="TextBox 11"/>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ARCHITECTURE / CONTEXT</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C1: the system fits into existing enterprise boundaries.</a:t>
            </a:r>
          </a:p>
        </p:txBody>
      </p:sp>
      <p:cxnSp>
        <p:nvCxnSpPr>
          <p:cNvPr id="5" name="Connector 4"/>
          <p:cNvCxnSpPr/>
          <p:nvPr/>
        </p:nvCxnSpPr>
        <p:spPr>
          <a:xfrm>
            <a:off x="6080759" y="2560320"/>
            <a:ext cx="0" cy="86868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3088178" y="4251960"/>
            <a:ext cx="2094807" cy="96012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989222" y="4251960"/>
            <a:ext cx="2119745" cy="96012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080759" y="4251960"/>
            <a:ext cx="0" cy="96012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206240" y="1920240"/>
            <a:ext cx="3749039" cy="64008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Engineer / service owner / operator</a:t>
            </a:r>
          </a:p>
        </p:txBody>
      </p:sp>
      <p:sp>
        <p:nvSpPr>
          <p:cNvPr id="10" name="Rounded Rectangle 9"/>
          <p:cNvSpPr/>
          <p:nvPr/>
        </p:nvSpPr>
        <p:spPr>
          <a:xfrm>
            <a:off x="4206240" y="3429000"/>
            <a:ext cx="3749039" cy="822960"/>
          </a:xfrm>
          <a:prstGeom prst="roundRect">
            <a:avLst/>
          </a:prstGeom>
          <a:solidFill>
            <a:srgbClr val="087F8C"/>
          </a:solidFill>
          <a:ln>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FFFFFF"/>
                </a:solidFill>
                <a:latin typeface="Aptos"/>
              </a:defRPr>
            </a:pPr>
            <a:r>
              <a:t>Enterprise Agentic Delivery</a:t>
            </a:r>
          </a:p>
        </p:txBody>
      </p:sp>
      <p:sp>
        <p:nvSpPr>
          <p:cNvPr id="11" name="Rounded Rectangle 10"/>
          <p:cNvSpPr/>
          <p:nvPr/>
        </p:nvSpPr>
        <p:spPr>
          <a:xfrm>
            <a:off x="502920" y="5212080"/>
            <a:ext cx="3474720" cy="77724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Approved agent harnesses</a:t>
            </a:r>
          </a:p>
        </p:txBody>
      </p:sp>
      <p:sp>
        <p:nvSpPr>
          <p:cNvPr id="12" name="Rounded Rectangle 11"/>
          <p:cNvSpPr/>
          <p:nvPr/>
        </p:nvSpPr>
        <p:spPr>
          <a:xfrm>
            <a:off x="8229600" y="5212080"/>
            <a:ext cx="3474720" cy="77724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Enterprise identity and policy</a:t>
            </a:r>
          </a:p>
        </p:txBody>
      </p:sp>
      <p:sp>
        <p:nvSpPr>
          <p:cNvPr id="13" name="Rounded Rectangle 12"/>
          <p:cNvSpPr/>
          <p:nvPr/>
        </p:nvSpPr>
        <p:spPr>
          <a:xfrm>
            <a:off x="4206240" y="5212080"/>
            <a:ext cx="3749039" cy="77724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Repository, build, release</a:t>
            </a:r>
          </a:p>
          <a:p>
            <a:pPr algn="ctr">
              <a:defRPr sz="1300">
                <a:solidFill>
                  <a:srgbClr val="132B45"/>
                </a:solidFill>
                <a:latin typeface="Aptos"/>
              </a:defRPr>
            </a:pPr>
            <a:r>
              <a:t>and operations systems</a:t>
            </a:r>
          </a:p>
        </p:txBody>
      </p:sp>
      <p:sp>
        <p:nvSpPr>
          <p:cNvPr id="14" name="TextBox 13"/>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15" name="TextBox 14"/>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ARCHITECTURE / CONTAINERS</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C2: reuse trusted executors; keep agents outside production authority.</a:t>
            </a:r>
          </a:p>
        </p:txBody>
      </p:sp>
      <p:cxnSp>
        <p:nvCxnSpPr>
          <p:cNvPr id="5" name="Connector 4"/>
          <p:cNvCxnSpPr/>
          <p:nvPr/>
        </p:nvCxnSpPr>
        <p:spPr>
          <a:xfrm>
            <a:off x="6035040" y="2423160"/>
            <a:ext cx="0" cy="45720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3657600" y="3223260"/>
            <a:ext cx="502920" cy="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080260" y="3566160"/>
            <a:ext cx="0" cy="64008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3200781" y="3566160"/>
            <a:ext cx="1845564" cy="64008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7263765" y="2423160"/>
            <a:ext cx="1638300" cy="45720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909559" y="3223260"/>
            <a:ext cx="411481" cy="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35040" y="3566160"/>
            <a:ext cx="0" cy="64008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909559" y="4594859"/>
            <a:ext cx="411481" cy="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35040" y="4983479"/>
            <a:ext cx="0" cy="502921"/>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909560" y="5783580"/>
            <a:ext cx="118871" cy="0"/>
          </a:xfrm>
          <a:prstGeom prst="line">
            <a:avLst/>
          </a:prstGeom>
          <a:ln w="13970">
            <a:solidFill>
              <a:srgbClr val="8096A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028431" y="3401568"/>
            <a:ext cx="0" cy="2382012"/>
          </a:xfrm>
          <a:prstGeom prst="line">
            <a:avLst/>
          </a:prstGeom>
          <a:ln w="13970">
            <a:solidFill>
              <a:srgbClr val="8096A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7909560" y="3401568"/>
            <a:ext cx="118871" cy="0"/>
          </a:xfrm>
          <a:prstGeom prst="line">
            <a:avLst/>
          </a:prstGeom>
          <a:ln w="13970">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909560" y="3227832"/>
            <a:ext cx="256032" cy="0"/>
          </a:xfrm>
          <a:prstGeom prst="line">
            <a:avLst/>
          </a:prstGeom>
          <a:ln w="13970">
            <a:solidFill>
              <a:srgbClr val="8096A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165592" y="3227832"/>
            <a:ext cx="0" cy="2002536"/>
          </a:xfrm>
          <a:prstGeom prst="line">
            <a:avLst/>
          </a:prstGeom>
          <a:ln w="13970">
            <a:solidFill>
              <a:srgbClr val="8096A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165592" y="5230368"/>
            <a:ext cx="1801368" cy="0"/>
          </a:xfrm>
          <a:prstGeom prst="line">
            <a:avLst/>
          </a:prstGeom>
          <a:ln w="13970">
            <a:solidFill>
              <a:srgbClr val="8096A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966960" y="5230368"/>
            <a:ext cx="0" cy="256032"/>
          </a:xfrm>
          <a:prstGeom prst="line">
            <a:avLst/>
          </a:prstGeom>
          <a:ln w="13970">
            <a:solidFill>
              <a:srgbClr val="8096A8"/>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160520" y="1828800"/>
            <a:ext cx="3749039" cy="59436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Existing IDE / portal / events</a:t>
            </a:r>
          </a:p>
        </p:txBody>
      </p:sp>
      <p:sp>
        <p:nvSpPr>
          <p:cNvPr id="22" name="Rounded Rectangle 21"/>
          <p:cNvSpPr/>
          <p:nvPr/>
        </p:nvSpPr>
        <p:spPr>
          <a:xfrm>
            <a:off x="4160520" y="2880360"/>
            <a:ext cx="3749039" cy="685800"/>
          </a:xfrm>
          <a:prstGeom prst="roundRect">
            <a:avLst/>
          </a:prstGeom>
          <a:solidFill>
            <a:srgbClr val="087F8C"/>
          </a:solidFill>
          <a:ln>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FFFFFF"/>
                </a:solidFill>
                <a:latin typeface="Aptos"/>
              </a:defRPr>
            </a:pPr>
            <a:r>
              <a:t>Outcome Service / API</a:t>
            </a:r>
          </a:p>
        </p:txBody>
      </p:sp>
      <p:sp>
        <p:nvSpPr>
          <p:cNvPr id="23" name="Rounded Rectangle 22"/>
          <p:cNvSpPr/>
          <p:nvPr/>
        </p:nvSpPr>
        <p:spPr>
          <a:xfrm>
            <a:off x="502920" y="2880360"/>
            <a:ext cx="3154680" cy="68580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Worker Gateway</a:t>
            </a:r>
          </a:p>
        </p:txBody>
      </p:sp>
      <p:sp>
        <p:nvSpPr>
          <p:cNvPr id="24" name="Rounded Rectangle 23"/>
          <p:cNvSpPr/>
          <p:nvPr/>
        </p:nvSpPr>
        <p:spPr>
          <a:xfrm>
            <a:off x="502920" y="4206240"/>
            <a:ext cx="3154680" cy="77724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Approved harness</a:t>
            </a:r>
          </a:p>
          <a:p>
            <a:pPr algn="ctr">
              <a:defRPr sz="1300">
                <a:solidFill>
                  <a:srgbClr val="132B45"/>
                </a:solidFill>
                <a:latin typeface="Aptos"/>
              </a:defRPr>
            </a:pPr>
            <a:r>
              <a:t>Isolated workspace</a:t>
            </a:r>
          </a:p>
        </p:txBody>
      </p:sp>
      <p:sp>
        <p:nvSpPr>
          <p:cNvPr id="25" name="Rounded Rectangle 24"/>
          <p:cNvSpPr/>
          <p:nvPr/>
        </p:nvSpPr>
        <p:spPr>
          <a:xfrm>
            <a:off x="8321040" y="1828800"/>
            <a:ext cx="3291840" cy="59436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Outcome database</a:t>
            </a:r>
          </a:p>
        </p:txBody>
      </p:sp>
      <p:sp>
        <p:nvSpPr>
          <p:cNvPr id="26" name="Rounded Rectangle 25"/>
          <p:cNvSpPr/>
          <p:nvPr/>
        </p:nvSpPr>
        <p:spPr>
          <a:xfrm>
            <a:off x="8321040" y="2880360"/>
            <a:ext cx="3291840" cy="68580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Evidence object store</a:t>
            </a:r>
          </a:p>
        </p:txBody>
      </p:sp>
      <p:sp>
        <p:nvSpPr>
          <p:cNvPr id="27" name="Rounded Rectangle 26"/>
          <p:cNvSpPr/>
          <p:nvPr/>
        </p:nvSpPr>
        <p:spPr>
          <a:xfrm>
            <a:off x="4160520" y="4206240"/>
            <a:ext cx="3749039" cy="777240"/>
          </a:xfrm>
          <a:prstGeom prst="roundRect">
            <a:avLst/>
          </a:prstGeom>
          <a:solidFill>
            <a:srgbClr val="087F8C"/>
          </a:solidFill>
          <a:ln>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FFFFFF"/>
                </a:solidFill>
                <a:latin typeface="Aptos"/>
              </a:defRPr>
            </a:pPr>
            <a:r>
              <a:t>Trusted Action Gateway</a:t>
            </a:r>
          </a:p>
        </p:txBody>
      </p:sp>
      <p:sp>
        <p:nvSpPr>
          <p:cNvPr id="28" name="Rounded Rectangle 27"/>
          <p:cNvSpPr/>
          <p:nvPr/>
        </p:nvSpPr>
        <p:spPr>
          <a:xfrm>
            <a:off x="8321040" y="4206240"/>
            <a:ext cx="3291840" cy="77724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IAM / policy authority</a:t>
            </a:r>
          </a:p>
        </p:txBody>
      </p:sp>
      <p:sp>
        <p:nvSpPr>
          <p:cNvPr id="29" name="Rounded Rectangle 28"/>
          <p:cNvSpPr/>
          <p:nvPr/>
        </p:nvSpPr>
        <p:spPr>
          <a:xfrm>
            <a:off x="4160520" y="5486400"/>
            <a:ext cx="3749039" cy="59436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Repository / release executors</a:t>
            </a:r>
          </a:p>
        </p:txBody>
      </p:sp>
      <p:sp>
        <p:nvSpPr>
          <p:cNvPr id="30" name="Rounded Rectangle 29"/>
          <p:cNvSpPr/>
          <p:nvPr/>
        </p:nvSpPr>
        <p:spPr>
          <a:xfrm>
            <a:off x="8321040" y="5486400"/>
            <a:ext cx="3291840" cy="59436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Optional Workflow Runner</a:t>
            </a:r>
          </a:p>
        </p:txBody>
      </p:sp>
      <p:sp>
        <p:nvSpPr>
          <p:cNvPr id="31" name="TextBox 30"/>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32" name="TextBox 31"/>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ARCHITECTURE / COMPONENTS</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C3: deterministic transitions surround flexible planning.</a:t>
            </a:r>
          </a:p>
        </p:txBody>
      </p:sp>
      <p:cxnSp>
        <p:nvCxnSpPr>
          <p:cNvPr id="5" name="Connector 4"/>
          <p:cNvCxnSpPr/>
          <p:nvPr/>
        </p:nvCxnSpPr>
        <p:spPr>
          <a:xfrm>
            <a:off x="6035040" y="2423160"/>
            <a:ext cx="0" cy="64008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3657600" y="3451860"/>
            <a:ext cx="502920" cy="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080260" y="3840480"/>
            <a:ext cx="0" cy="73152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3098915" y="3840480"/>
            <a:ext cx="1917469" cy="73152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909559" y="3451860"/>
            <a:ext cx="411481" cy="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966960" y="3840480"/>
            <a:ext cx="0" cy="73152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7047807" y="3840480"/>
            <a:ext cx="1906385" cy="73152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35040" y="3840480"/>
            <a:ext cx="0" cy="73152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35040" y="5349240"/>
            <a:ext cx="0" cy="411480"/>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160520" y="1828800"/>
            <a:ext cx="3749039" cy="59436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Intake and Contract Validator</a:t>
            </a:r>
          </a:p>
        </p:txBody>
      </p:sp>
      <p:sp>
        <p:nvSpPr>
          <p:cNvPr id="15" name="Rounded Rectangle 14"/>
          <p:cNvSpPr/>
          <p:nvPr/>
        </p:nvSpPr>
        <p:spPr>
          <a:xfrm>
            <a:off x="4160520" y="3063240"/>
            <a:ext cx="3749039" cy="777240"/>
          </a:xfrm>
          <a:prstGeom prst="roundRect">
            <a:avLst/>
          </a:prstGeom>
          <a:solidFill>
            <a:srgbClr val="087F8C"/>
          </a:solidFill>
          <a:ln>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FFFFFF"/>
                </a:solidFill>
                <a:latin typeface="Aptos"/>
              </a:defRPr>
            </a:pPr>
            <a:r>
              <a:t>Transition Engine</a:t>
            </a:r>
          </a:p>
        </p:txBody>
      </p:sp>
      <p:sp>
        <p:nvSpPr>
          <p:cNvPr id="16" name="Rounded Rectangle 15"/>
          <p:cNvSpPr/>
          <p:nvPr/>
        </p:nvSpPr>
        <p:spPr>
          <a:xfrm>
            <a:off x="502920" y="3063240"/>
            <a:ext cx="3154680" cy="77724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Planning and</a:t>
            </a:r>
          </a:p>
          <a:p>
            <a:pPr algn="ctr">
              <a:defRPr sz="1300">
                <a:solidFill>
                  <a:srgbClr val="132B45"/>
                </a:solidFill>
                <a:latin typeface="Aptos"/>
              </a:defRPr>
            </a:pPr>
            <a:r>
              <a:t>Harness Adapter</a:t>
            </a:r>
          </a:p>
        </p:txBody>
      </p:sp>
      <p:sp>
        <p:nvSpPr>
          <p:cNvPr id="17" name="Rounded Rectangle 16"/>
          <p:cNvSpPr/>
          <p:nvPr/>
        </p:nvSpPr>
        <p:spPr>
          <a:xfrm>
            <a:off x="502920" y="4572000"/>
            <a:ext cx="3154680" cy="77724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Evidence Validator</a:t>
            </a:r>
          </a:p>
        </p:txBody>
      </p:sp>
      <p:sp>
        <p:nvSpPr>
          <p:cNvPr id="18" name="Rounded Rectangle 17"/>
          <p:cNvSpPr/>
          <p:nvPr/>
        </p:nvSpPr>
        <p:spPr>
          <a:xfrm>
            <a:off x="8321040" y="3063240"/>
            <a:ext cx="3291840" cy="77724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Policy and Approval</a:t>
            </a:r>
          </a:p>
          <a:p>
            <a:pPr algn="ctr">
              <a:defRPr sz="1300">
                <a:solidFill>
                  <a:srgbClr val="132B45"/>
                </a:solidFill>
                <a:latin typeface="Aptos"/>
              </a:defRPr>
            </a:pPr>
            <a:r>
              <a:t>Connector</a:t>
            </a:r>
          </a:p>
        </p:txBody>
      </p:sp>
      <p:sp>
        <p:nvSpPr>
          <p:cNvPr id="19" name="Rounded Rectangle 18"/>
          <p:cNvSpPr/>
          <p:nvPr/>
        </p:nvSpPr>
        <p:spPr>
          <a:xfrm>
            <a:off x="8321040" y="4572000"/>
            <a:ext cx="3291840" cy="77724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Action Dispatcher</a:t>
            </a:r>
          </a:p>
          <a:p>
            <a:pPr algn="ctr">
              <a:defRPr sz="1300">
                <a:solidFill>
                  <a:srgbClr val="132B45"/>
                </a:solidFill>
                <a:latin typeface="Aptos"/>
              </a:defRPr>
            </a:pPr>
            <a:r>
              <a:t>and Reconciler</a:t>
            </a:r>
          </a:p>
        </p:txBody>
      </p:sp>
      <p:sp>
        <p:nvSpPr>
          <p:cNvPr id="20" name="Rounded Rectangle 19"/>
          <p:cNvSpPr/>
          <p:nvPr/>
        </p:nvSpPr>
        <p:spPr>
          <a:xfrm>
            <a:off x="4160520" y="4572000"/>
            <a:ext cx="3749039" cy="77724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Record Repository</a:t>
            </a:r>
          </a:p>
          <a:p>
            <a:pPr algn="ctr">
              <a:defRPr sz="1300">
                <a:solidFill>
                  <a:srgbClr val="132B45"/>
                </a:solidFill>
                <a:latin typeface="Aptos"/>
              </a:defRPr>
            </a:pPr>
            <a:r>
              <a:t>and Outbox</a:t>
            </a:r>
          </a:p>
        </p:txBody>
      </p:sp>
      <p:sp>
        <p:nvSpPr>
          <p:cNvPr id="21" name="Rounded Rectangle 20"/>
          <p:cNvSpPr/>
          <p:nvPr/>
        </p:nvSpPr>
        <p:spPr>
          <a:xfrm>
            <a:off x="4160520" y="5760720"/>
            <a:ext cx="3749039" cy="50292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Status Projection and Telemetry</a:t>
            </a:r>
          </a:p>
        </p:txBody>
      </p:sp>
      <p:sp>
        <p:nvSpPr>
          <p:cNvPr id="22" name="TextBox 21"/>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23" name="TextBox 22"/>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ARCHITECTURE / CODE</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C4: the code boundary handles uncertainty explicitly.</a:t>
            </a:r>
          </a:p>
        </p:txBody>
      </p:sp>
      <p:cxnSp>
        <p:nvCxnSpPr>
          <p:cNvPr id="5" name="Connector 4"/>
          <p:cNvCxnSpPr/>
          <p:nvPr/>
        </p:nvCxnSpPr>
        <p:spPr>
          <a:xfrm flipV="1">
            <a:off x="6035040" y="2606039"/>
            <a:ext cx="0" cy="868681"/>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3089107" y="4251959"/>
            <a:ext cx="2097105" cy="960121"/>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45266" y="4251959"/>
            <a:ext cx="25267" cy="960121"/>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914548" y="4251959"/>
            <a:ext cx="2172903" cy="960121"/>
          </a:xfrm>
          <a:prstGeom prst="line">
            <a:avLst/>
          </a:prstGeom>
          <a:ln w="15875">
            <a:solidFill>
              <a:srgbClr val="8096A8"/>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160520" y="1828800"/>
            <a:ext cx="3749039" cy="77724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ActionRequest</a:t>
            </a:r>
          </a:p>
          <a:p>
            <a:pPr algn="ctr">
              <a:defRPr sz="1300">
                <a:solidFill>
                  <a:srgbClr val="132B45"/>
                </a:solidFill>
                <a:latin typeface="Aptos"/>
              </a:defRPr>
            </a:pPr>
            <a:r>
              <a:t>operation / artifact / version / decision</a:t>
            </a:r>
          </a:p>
        </p:txBody>
      </p:sp>
      <p:sp>
        <p:nvSpPr>
          <p:cNvPr id="10" name="Rounded Rectangle 9"/>
          <p:cNvSpPr/>
          <p:nvPr/>
        </p:nvSpPr>
        <p:spPr>
          <a:xfrm>
            <a:off x="4160520" y="3474720"/>
            <a:ext cx="3749039" cy="777240"/>
          </a:xfrm>
          <a:prstGeom prst="roundRect">
            <a:avLst/>
          </a:prstGeom>
          <a:solidFill>
            <a:srgbClr val="087F8C"/>
          </a:solidFill>
          <a:ln>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FFFFFF"/>
                </a:solidFill>
                <a:latin typeface="Aptos"/>
              </a:defRPr>
            </a:pPr>
            <a:r>
              <a:t>ActionDispatcher</a:t>
            </a:r>
          </a:p>
          <a:p>
            <a:pPr algn="ctr">
              <a:defRPr sz="1300">
                <a:solidFill>
                  <a:srgbClr val="FFFFFF"/>
                </a:solidFill>
                <a:latin typeface="Aptos"/>
              </a:defRPr>
            </a:pPr>
            <a:r>
              <a:t>submit / reconcile</a:t>
            </a:r>
          </a:p>
        </p:txBody>
      </p:sp>
      <p:sp>
        <p:nvSpPr>
          <p:cNvPr id="11" name="Rounded Rectangle 10"/>
          <p:cNvSpPr/>
          <p:nvPr/>
        </p:nvSpPr>
        <p:spPr>
          <a:xfrm>
            <a:off x="502920" y="5212080"/>
            <a:ext cx="3474720" cy="77724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PolicyAuthority</a:t>
            </a:r>
          </a:p>
          <a:p>
            <a:pPr algn="ctr">
              <a:defRPr sz="1300">
                <a:solidFill>
                  <a:srgbClr val="132B45"/>
                </a:solidFill>
                <a:latin typeface="Aptos"/>
              </a:defRPr>
            </a:pPr>
            <a:r>
              <a:t>authorize</a:t>
            </a:r>
          </a:p>
        </p:txBody>
      </p:sp>
      <p:sp>
        <p:nvSpPr>
          <p:cNvPr id="12" name="Rounded Rectangle 11"/>
          <p:cNvSpPr/>
          <p:nvPr/>
        </p:nvSpPr>
        <p:spPr>
          <a:xfrm>
            <a:off x="4206240" y="5212080"/>
            <a:ext cx="3749039" cy="77724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ActionExecutor</a:t>
            </a:r>
          </a:p>
          <a:p>
            <a:pPr algn="ctr">
              <a:defRPr sz="1300">
                <a:solidFill>
                  <a:srgbClr val="132B45"/>
                </a:solidFill>
                <a:latin typeface="Aptos"/>
              </a:defRPr>
            </a:pPr>
            <a:r>
              <a:t>apply / inspect</a:t>
            </a:r>
          </a:p>
        </p:txBody>
      </p:sp>
      <p:sp>
        <p:nvSpPr>
          <p:cNvPr id="13" name="Rounded Rectangle 12"/>
          <p:cNvSpPr/>
          <p:nvPr/>
        </p:nvSpPr>
        <p:spPr>
          <a:xfrm>
            <a:off x="8229600" y="5212080"/>
            <a:ext cx="3474720" cy="777240"/>
          </a:xfrm>
          <a:prstGeom prst="roundRect">
            <a:avLst/>
          </a:prstGeom>
          <a:solidFill>
            <a:srgbClr val="EDF4F8"/>
          </a:solidFill>
          <a:ln>
            <a:solidFill>
              <a:srgbClr val="8EAABD"/>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54864" bIns="0"/>
          <a:lstStyle/>
          <a:p>
            <a:pPr algn="ctr">
              <a:defRPr sz="1600">
                <a:solidFill>
                  <a:srgbClr val="132B45"/>
                </a:solidFill>
                <a:latin typeface="Aptos"/>
              </a:defRPr>
            </a:pPr>
            <a:r>
              <a:t>EffectRepository</a:t>
            </a:r>
          </a:p>
          <a:p>
            <a:pPr algn="ctr">
              <a:defRPr sz="1300">
                <a:solidFill>
                  <a:srgbClr val="132B45"/>
                </a:solidFill>
                <a:latin typeface="Aptos"/>
              </a:defRPr>
            </a:pPr>
            <a:r>
              <a:t>reserve / record</a:t>
            </a:r>
          </a:p>
        </p:txBody>
      </p:sp>
      <p:sp>
        <p:nvSpPr>
          <p:cNvPr id="14" name="TextBox 13"/>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15" name="TextBox 14"/>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LIFECYCLE</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Completion means the intended outcome was verified.</a:t>
            </a:r>
          </a:p>
        </p:txBody>
      </p:sp>
      <p:sp>
        <p:nvSpPr>
          <p:cNvPr id="5" name="TextBox 4"/>
          <p:cNvSpPr txBox="1"/>
          <p:nvPr/>
        </p:nvSpPr>
        <p:spPr>
          <a:xfrm>
            <a:off x="640080" y="2103120"/>
            <a:ext cx="10881360" cy="3749039"/>
          </a:xfrm>
          <a:prstGeom prst="rect">
            <a:avLst/>
          </a:prstGeom>
          <a:noFill/>
        </p:spPr>
        <p:txBody>
          <a:bodyPr wrap="square" lIns="0" rIns="0">
            <a:spAutoFit/>
          </a:bodyPr>
          <a:lstStyle/>
          <a:p>
            <a:pPr>
              <a:spcAft>
                <a:spcPts val="900"/>
              </a:spcAft>
              <a:defRPr sz="2300" b="0">
                <a:solidFill>
                  <a:srgbClr val="132B45"/>
                </a:solidFill>
                <a:latin typeface="Aptos"/>
              </a:defRPr>
            </a:pPr>
            <a:r>
              <a:t>A paper completes when research and review criteria pass.</a:t>
            </a:r>
          </a:p>
          <a:p>
            <a:pPr>
              <a:spcAft>
                <a:spcPts val="900"/>
              </a:spcAft>
              <a:defRPr sz="2300" b="0">
                <a:solidFill>
                  <a:srgbClr val="132B45"/>
                </a:solidFill>
                <a:latin typeface="Aptos"/>
              </a:defRPr>
            </a:pPr>
            <a:r>
              <a:t>A PR completes when accepted behavior is demonstrated.</a:t>
            </a:r>
          </a:p>
          <a:p>
            <a:pPr>
              <a:spcAft>
                <a:spcPts val="900"/>
              </a:spcAft>
              <a:defRPr sz="2300" b="0">
                <a:solidFill>
                  <a:srgbClr val="132B45"/>
                </a:solidFill>
                <a:latin typeface="Aptos"/>
              </a:defRPr>
            </a:pPr>
            <a:r>
              <a:t>A release completes after its health contract passes.</a:t>
            </a:r>
          </a:p>
          <a:p>
            <a:pPr>
              <a:spcAft>
                <a:spcPts val="900"/>
              </a:spcAft>
              <a:defRPr sz="2300" b="0">
                <a:solidFill>
                  <a:srgbClr val="132B45"/>
                </a:solidFill>
                <a:latin typeface="Aptos"/>
              </a:defRPr>
            </a:pPr>
            <a:r>
              <a:t>An uncertain effect remains Indeterminate until reconciled.</a:t>
            </a:r>
          </a:p>
        </p:txBody>
      </p:sp>
      <p:sp>
        <p:nvSpPr>
          <p:cNvPr id="6" name="TextBox 5"/>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7" name="TextBox 6"/>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EVIDENCE</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Run useful checks early; retain independent enforcement.</a:t>
            </a:r>
          </a:p>
        </p:txBody>
      </p:sp>
      <p:sp>
        <p:nvSpPr>
          <p:cNvPr id="5" name="TextBox 4"/>
          <p:cNvSpPr txBox="1"/>
          <p:nvPr/>
        </p:nvSpPr>
        <p:spPr>
          <a:xfrm>
            <a:off x="594360" y="2011680"/>
            <a:ext cx="5120640" cy="530352"/>
          </a:xfrm>
          <a:prstGeom prst="rect">
            <a:avLst/>
          </a:prstGeom>
          <a:noFill/>
        </p:spPr>
        <p:txBody>
          <a:bodyPr wrap="square" lIns="0" rIns="0">
            <a:spAutoFit/>
          </a:bodyPr>
          <a:lstStyle/>
          <a:p>
            <a:pPr>
              <a:spcAft>
                <a:spcPts val="900"/>
              </a:spcAft>
              <a:defRPr sz="2000" b="1">
                <a:solidFill>
                  <a:srgbClr val="087F8C"/>
                </a:solidFill>
                <a:latin typeface="Aptos"/>
              </a:defRPr>
            </a:pPr>
            <a:r>
              <a:t>At creation</a:t>
            </a:r>
          </a:p>
        </p:txBody>
      </p:sp>
      <p:sp>
        <p:nvSpPr>
          <p:cNvPr id="6" name="TextBox 5"/>
          <p:cNvSpPr txBox="1"/>
          <p:nvPr/>
        </p:nvSpPr>
        <p:spPr>
          <a:xfrm>
            <a:off x="594360" y="2724912"/>
            <a:ext cx="5120640" cy="3273552"/>
          </a:xfrm>
          <a:prstGeom prst="rect">
            <a:avLst/>
          </a:prstGeom>
          <a:noFill/>
        </p:spPr>
        <p:txBody>
          <a:bodyPr wrap="square" lIns="0" rIns="0">
            <a:spAutoFit/>
          </a:bodyPr>
          <a:lstStyle/>
          <a:p>
            <a:pPr>
              <a:spcAft>
                <a:spcPts val="900"/>
              </a:spcAft>
              <a:defRPr sz="1800" b="0">
                <a:solidFill>
                  <a:srgbClr val="132B45"/>
                </a:solidFill>
                <a:latin typeface="Aptos"/>
              </a:defRPr>
            </a:pPr>
            <a:r>
              <a:t>Compile, test contracts, scan dependencies and apply policy before costly shared execution.</a:t>
            </a:r>
          </a:p>
        </p:txBody>
      </p:sp>
      <p:sp>
        <p:nvSpPr>
          <p:cNvPr id="7" name="TextBox 6"/>
          <p:cNvSpPr txBox="1"/>
          <p:nvPr/>
        </p:nvSpPr>
        <p:spPr>
          <a:xfrm>
            <a:off x="6080760" y="2011680"/>
            <a:ext cx="5120640" cy="530352"/>
          </a:xfrm>
          <a:prstGeom prst="rect">
            <a:avLst/>
          </a:prstGeom>
          <a:noFill/>
        </p:spPr>
        <p:txBody>
          <a:bodyPr wrap="square" lIns="0" rIns="0">
            <a:spAutoFit/>
          </a:bodyPr>
          <a:lstStyle/>
          <a:p>
            <a:pPr>
              <a:spcAft>
                <a:spcPts val="900"/>
              </a:spcAft>
              <a:defRPr sz="2000" b="1">
                <a:solidFill>
                  <a:srgbClr val="087F8C"/>
                </a:solidFill>
                <a:latin typeface="Aptos"/>
              </a:defRPr>
            </a:pPr>
            <a:r>
              <a:t>At acceptance</a:t>
            </a:r>
          </a:p>
        </p:txBody>
      </p:sp>
      <p:sp>
        <p:nvSpPr>
          <p:cNvPr id="8" name="TextBox 7"/>
          <p:cNvSpPr txBox="1"/>
          <p:nvPr/>
        </p:nvSpPr>
        <p:spPr>
          <a:xfrm>
            <a:off x="6080760" y="2724912"/>
            <a:ext cx="5120640" cy="3273552"/>
          </a:xfrm>
          <a:prstGeom prst="rect">
            <a:avLst/>
          </a:prstGeom>
          <a:noFill/>
        </p:spPr>
        <p:txBody>
          <a:bodyPr wrap="square" lIns="0" rIns="0">
            <a:spAutoFit/>
          </a:bodyPr>
          <a:lstStyle/>
          <a:p>
            <a:pPr>
              <a:spcAft>
                <a:spcPts val="900"/>
              </a:spcAft>
              <a:defRPr sz="1800" b="0">
                <a:solidFill>
                  <a:srgbClr val="132B45"/>
                </a:solidFill>
                <a:latin typeface="Aptos"/>
              </a:defRPr>
            </a:pPr>
            <a:r>
              <a:t>Bind trusted evidence to revision, artifact, suite, environment and policy. Reject stale or mismatched proof.</a:t>
            </a:r>
          </a:p>
        </p:txBody>
      </p:sp>
      <p:sp>
        <p:nvSpPr>
          <p:cNvPr id="9" name="TextBox 8"/>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10" name="TextBox 9"/>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FAILURE AND SECURITY</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The hard cases are external effects and bypass paths.</a:t>
            </a:r>
          </a:p>
        </p:txBody>
      </p:sp>
      <p:sp>
        <p:nvSpPr>
          <p:cNvPr id="5" name="TextBox 4"/>
          <p:cNvSpPr txBox="1"/>
          <p:nvPr/>
        </p:nvSpPr>
        <p:spPr>
          <a:xfrm>
            <a:off x="594360" y="2011680"/>
            <a:ext cx="3413759" cy="530352"/>
          </a:xfrm>
          <a:prstGeom prst="rect">
            <a:avLst/>
          </a:prstGeom>
          <a:noFill/>
        </p:spPr>
        <p:txBody>
          <a:bodyPr wrap="square" lIns="0" rIns="0">
            <a:spAutoFit/>
          </a:bodyPr>
          <a:lstStyle/>
          <a:p>
            <a:pPr>
              <a:spcAft>
                <a:spcPts val="900"/>
              </a:spcAft>
              <a:defRPr sz="2000" b="1">
                <a:solidFill>
                  <a:srgbClr val="087F8C"/>
                </a:solidFill>
                <a:latin typeface="Aptos"/>
              </a:defRPr>
            </a:pPr>
            <a:r>
              <a:t>Lost response</a:t>
            </a:r>
          </a:p>
        </p:txBody>
      </p:sp>
      <p:sp>
        <p:nvSpPr>
          <p:cNvPr id="6" name="TextBox 5"/>
          <p:cNvSpPr txBox="1"/>
          <p:nvPr/>
        </p:nvSpPr>
        <p:spPr>
          <a:xfrm>
            <a:off x="594360" y="2724912"/>
            <a:ext cx="3413759" cy="3273552"/>
          </a:xfrm>
          <a:prstGeom prst="rect">
            <a:avLst/>
          </a:prstGeom>
          <a:noFill/>
        </p:spPr>
        <p:txBody>
          <a:bodyPr wrap="square" lIns="0" rIns="0">
            <a:spAutoFit/>
          </a:bodyPr>
          <a:lstStyle/>
          <a:p>
            <a:pPr>
              <a:spcAft>
                <a:spcPts val="900"/>
              </a:spcAft>
              <a:defRPr sz="1800" b="0">
                <a:solidFill>
                  <a:srgbClr val="132B45"/>
                </a:solidFill>
                <a:latin typeface="Aptos"/>
              </a:defRPr>
            </a:pPr>
            <a:r>
              <a:t>Inspect the executor operation before retrying. If the result is unknown, stop and reconcile.</a:t>
            </a:r>
          </a:p>
        </p:txBody>
      </p:sp>
      <p:sp>
        <p:nvSpPr>
          <p:cNvPr id="7" name="TextBox 6"/>
          <p:cNvSpPr txBox="1"/>
          <p:nvPr/>
        </p:nvSpPr>
        <p:spPr>
          <a:xfrm>
            <a:off x="4251960" y="2011680"/>
            <a:ext cx="3413759" cy="530352"/>
          </a:xfrm>
          <a:prstGeom prst="rect">
            <a:avLst/>
          </a:prstGeom>
          <a:noFill/>
        </p:spPr>
        <p:txBody>
          <a:bodyPr wrap="square" lIns="0" rIns="0">
            <a:spAutoFit/>
          </a:bodyPr>
          <a:lstStyle/>
          <a:p>
            <a:pPr>
              <a:spcAft>
                <a:spcPts val="900"/>
              </a:spcAft>
              <a:defRPr sz="2000" b="1">
                <a:solidFill>
                  <a:srgbClr val="087F8C"/>
                </a:solidFill>
                <a:latin typeface="Aptos"/>
              </a:defRPr>
            </a:pPr>
            <a:r>
              <a:t>Stale authority</a:t>
            </a:r>
          </a:p>
        </p:txBody>
      </p:sp>
      <p:sp>
        <p:nvSpPr>
          <p:cNvPr id="8" name="TextBox 7"/>
          <p:cNvSpPr txBox="1"/>
          <p:nvPr/>
        </p:nvSpPr>
        <p:spPr>
          <a:xfrm>
            <a:off x="4251960" y="2724912"/>
            <a:ext cx="3413759" cy="3273552"/>
          </a:xfrm>
          <a:prstGeom prst="rect">
            <a:avLst/>
          </a:prstGeom>
          <a:noFill/>
        </p:spPr>
        <p:txBody>
          <a:bodyPr wrap="square" lIns="0" rIns="0">
            <a:spAutoFit/>
          </a:bodyPr>
          <a:lstStyle/>
          <a:p>
            <a:pPr>
              <a:spcAft>
                <a:spcPts val="900"/>
              </a:spcAft>
              <a:defRPr sz="1800" b="0">
                <a:solidFill>
                  <a:srgbClr val="132B45"/>
                </a:solidFill>
                <a:latin typeface="Aptos"/>
              </a:defRPr>
            </a:pPr>
            <a:r>
              <a:t>Bind approvals to digest, target, operation, policy and expiry. Fence stale workers.</a:t>
            </a:r>
          </a:p>
        </p:txBody>
      </p:sp>
      <p:sp>
        <p:nvSpPr>
          <p:cNvPr id="9" name="TextBox 8"/>
          <p:cNvSpPr txBox="1"/>
          <p:nvPr/>
        </p:nvSpPr>
        <p:spPr>
          <a:xfrm>
            <a:off x="7909560" y="2011680"/>
            <a:ext cx="3413759" cy="530352"/>
          </a:xfrm>
          <a:prstGeom prst="rect">
            <a:avLst/>
          </a:prstGeom>
          <a:noFill/>
        </p:spPr>
        <p:txBody>
          <a:bodyPr wrap="square" lIns="0" rIns="0">
            <a:spAutoFit/>
          </a:bodyPr>
          <a:lstStyle/>
          <a:p>
            <a:pPr>
              <a:spcAft>
                <a:spcPts val="900"/>
              </a:spcAft>
              <a:defRPr sz="2000" b="1">
                <a:solidFill>
                  <a:srgbClr val="087F8C"/>
                </a:solidFill>
                <a:latin typeface="Aptos"/>
              </a:defRPr>
            </a:pPr>
            <a:r>
              <a:t>Prompt failure</a:t>
            </a:r>
          </a:p>
        </p:txBody>
      </p:sp>
      <p:sp>
        <p:nvSpPr>
          <p:cNvPr id="10" name="TextBox 9"/>
          <p:cNvSpPr txBox="1"/>
          <p:nvPr/>
        </p:nvSpPr>
        <p:spPr>
          <a:xfrm>
            <a:off x="7909560" y="2724912"/>
            <a:ext cx="3413759" cy="3273552"/>
          </a:xfrm>
          <a:prstGeom prst="rect">
            <a:avLst/>
          </a:prstGeom>
          <a:noFill/>
        </p:spPr>
        <p:txBody>
          <a:bodyPr wrap="square" lIns="0" rIns="0">
            <a:spAutoFit/>
          </a:bodyPr>
          <a:lstStyle/>
          <a:p>
            <a:pPr>
              <a:spcAft>
                <a:spcPts val="900"/>
              </a:spcAft>
              <a:defRPr sz="1800" b="0">
                <a:solidFill>
                  <a:srgbClr val="132B45"/>
                </a:solidFill>
                <a:latin typeface="Aptos"/>
              </a:defRPr>
            </a:pPr>
            <a:r>
              <a:t>Deny privileged paths outside the trusted executor. Treat retrieved instructions as untrusted content.</a:t>
            </a:r>
          </a:p>
        </p:txBody>
      </p:sp>
      <p:sp>
        <p:nvSpPr>
          <p:cNvPr id="11" name="TextBox 10"/>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12" name="TextBox 11"/>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GOVERNED LEARNING</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Memory improves work only if its learning can be evaluated and reversed.</a:t>
            </a:r>
          </a:p>
        </p:txBody>
      </p:sp>
      <p:sp>
        <p:nvSpPr>
          <p:cNvPr id="5" name="TextBox 4"/>
          <p:cNvSpPr txBox="1"/>
          <p:nvPr/>
        </p:nvSpPr>
        <p:spPr>
          <a:xfrm>
            <a:off x="640080" y="2103120"/>
            <a:ext cx="10881360" cy="3749039"/>
          </a:xfrm>
          <a:prstGeom prst="rect">
            <a:avLst/>
          </a:prstGeom>
          <a:noFill/>
        </p:spPr>
        <p:txBody>
          <a:bodyPr wrap="square" lIns="0" rIns="0">
            <a:spAutoFit/>
          </a:bodyPr>
          <a:lstStyle/>
          <a:p>
            <a:pPr>
              <a:spcAft>
                <a:spcPts val="900"/>
              </a:spcAft>
              <a:defRPr sz="2300" b="0">
                <a:solidFill>
                  <a:srgbClr val="132B45"/>
                </a:solidFill>
                <a:latin typeface="Aptos"/>
              </a:defRPr>
            </a:pPr>
            <a:r>
              <a:t>Keep authoritative workflow state out of semantic memory.</a:t>
            </a:r>
          </a:p>
          <a:p>
            <a:pPr>
              <a:spcAft>
                <a:spcPts val="900"/>
              </a:spcAft>
              <a:defRPr sz="2300" b="0">
                <a:solidFill>
                  <a:srgbClr val="132B45"/>
                </a:solidFill>
                <a:latin typeface="Aptos"/>
              </a:defRPr>
            </a:pPr>
            <a:r>
              <a:t>Promote verified procedures with source, scope, owner and expiry.</a:t>
            </a:r>
          </a:p>
          <a:p>
            <a:pPr>
              <a:spcAft>
                <a:spcPts val="900"/>
              </a:spcAft>
              <a:defRPr sz="2300" b="0">
                <a:solidFill>
                  <a:srgbClr val="132B45"/>
                </a:solidFill>
                <a:latin typeface="Aptos"/>
              </a:defRPr>
            </a:pPr>
            <a:r>
              <a:t>Evaluate instruction changes on held-out cases.</a:t>
            </a:r>
          </a:p>
          <a:p>
            <a:pPr>
              <a:spcAft>
                <a:spcPts val="900"/>
              </a:spcAft>
              <a:defRPr sz="2300" b="0">
                <a:solidFill>
                  <a:srgbClr val="132B45"/>
                </a:solidFill>
                <a:latin typeface="Aptos"/>
              </a:defRPr>
            </a:pPr>
            <a:r>
              <a:t>Use a small cohort and retain the prior version.</a:t>
            </a:r>
          </a:p>
        </p:txBody>
      </p:sp>
      <p:sp>
        <p:nvSpPr>
          <p:cNvPr id="6" name="TextBox 5"/>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7" name="TextBox 6"/>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BUILD THROUGH VALUE GATES</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Stages 0–2 already deliver useful results.</a:t>
            </a:r>
          </a:p>
        </p:txBody>
      </p:sp>
      <p:sp>
        <p:nvSpPr>
          <p:cNvPr id="5" name="TextBox 4"/>
          <p:cNvSpPr txBox="1"/>
          <p:nvPr/>
        </p:nvSpPr>
        <p:spPr>
          <a:xfrm>
            <a:off x="594360" y="2011680"/>
            <a:ext cx="3413759" cy="530352"/>
          </a:xfrm>
          <a:prstGeom prst="rect">
            <a:avLst/>
          </a:prstGeom>
          <a:noFill/>
        </p:spPr>
        <p:txBody>
          <a:bodyPr wrap="square" lIns="0" rIns="0">
            <a:spAutoFit/>
          </a:bodyPr>
          <a:lstStyle/>
          <a:p>
            <a:pPr>
              <a:spcAft>
                <a:spcPts val="900"/>
              </a:spcAft>
              <a:defRPr sz="2000" b="1">
                <a:solidFill>
                  <a:srgbClr val="087F8C"/>
                </a:solidFill>
                <a:latin typeface="Aptos"/>
              </a:defRPr>
            </a:pPr>
            <a:r>
              <a:t>0 / Understand</a:t>
            </a:r>
          </a:p>
        </p:txBody>
      </p:sp>
      <p:sp>
        <p:nvSpPr>
          <p:cNvPr id="6" name="TextBox 5"/>
          <p:cNvSpPr txBox="1"/>
          <p:nvPr/>
        </p:nvSpPr>
        <p:spPr>
          <a:xfrm>
            <a:off x="594360" y="2724912"/>
            <a:ext cx="3413759" cy="3273552"/>
          </a:xfrm>
          <a:prstGeom prst="rect">
            <a:avLst/>
          </a:prstGeom>
          <a:noFill/>
        </p:spPr>
        <p:txBody>
          <a:bodyPr wrap="square" lIns="0" rIns="0">
            <a:spAutoFit/>
          </a:bodyPr>
          <a:lstStyle/>
          <a:p>
            <a:pPr>
              <a:spcAft>
                <a:spcPts val="900"/>
              </a:spcAft>
              <a:defRPr sz="1800" b="0">
                <a:solidFill>
                  <a:srgbClr val="132B45"/>
                </a:solidFill>
                <a:latin typeface="Aptos"/>
              </a:defRPr>
            </a:pPr>
            <a:r>
              <a:t>Baseline one frequent outcome.</a:t>
            </a:r>
          </a:p>
          <a:p>
            <a:pPr>
              <a:spcAft>
                <a:spcPts val="900"/>
              </a:spcAft>
              <a:defRPr sz="1800" b="0">
                <a:solidFill>
                  <a:srgbClr val="132B45"/>
                </a:solidFill>
                <a:latin typeface="Aptos"/>
              </a:defRPr>
            </a:pPr>
            <a:r>
              <a:t>Identify tests, authority and actual waiting costs.</a:t>
            </a:r>
          </a:p>
          <a:p>
            <a:pPr>
              <a:spcAft>
                <a:spcPts val="900"/>
              </a:spcAft>
              <a:defRPr sz="1800" b="0">
                <a:solidFill>
                  <a:srgbClr val="132B45"/>
                </a:solidFill>
                <a:latin typeface="Aptos"/>
              </a:defRPr>
            </a:pPr>
            <a:r>
              <a:t>Use a script if sufficient.</a:t>
            </a:r>
          </a:p>
        </p:txBody>
      </p:sp>
      <p:sp>
        <p:nvSpPr>
          <p:cNvPr id="7" name="TextBox 6"/>
          <p:cNvSpPr txBox="1"/>
          <p:nvPr/>
        </p:nvSpPr>
        <p:spPr>
          <a:xfrm>
            <a:off x="4251960" y="2011680"/>
            <a:ext cx="3413759" cy="530352"/>
          </a:xfrm>
          <a:prstGeom prst="rect">
            <a:avLst/>
          </a:prstGeom>
          <a:noFill/>
        </p:spPr>
        <p:txBody>
          <a:bodyPr wrap="square" lIns="0" rIns="0">
            <a:spAutoFit/>
          </a:bodyPr>
          <a:lstStyle/>
          <a:p>
            <a:pPr>
              <a:spcAft>
                <a:spcPts val="900"/>
              </a:spcAft>
              <a:defRPr sz="2000" b="1">
                <a:solidFill>
                  <a:srgbClr val="087F8C"/>
                </a:solidFill>
                <a:latin typeface="Aptos"/>
              </a:defRPr>
            </a:pPr>
            <a:r>
              <a:t>1 / Improve creation</a:t>
            </a:r>
          </a:p>
        </p:txBody>
      </p:sp>
      <p:sp>
        <p:nvSpPr>
          <p:cNvPr id="8" name="TextBox 7"/>
          <p:cNvSpPr txBox="1"/>
          <p:nvPr/>
        </p:nvSpPr>
        <p:spPr>
          <a:xfrm>
            <a:off x="4251960" y="2724912"/>
            <a:ext cx="3413759" cy="3273552"/>
          </a:xfrm>
          <a:prstGeom prst="rect">
            <a:avLst/>
          </a:prstGeom>
          <a:noFill/>
        </p:spPr>
        <p:txBody>
          <a:bodyPr wrap="square" lIns="0" rIns="0">
            <a:spAutoFit/>
          </a:bodyPr>
          <a:lstStyle/>
          <a:p>
            <a:pPr>
              <a:spcAft>
                <a:spcPts val="900"/>
              </a:spcAft>
              <a:defRPr sz="1800" b="0">
                <a:solidFill>
                  <a:srgbClr val="132B45"/>
                </a:solidFill>
                <a:latin typeface="Aptos"/>
              </a:defRPr>
            </a:pPr>
            <a:r>
              <a:t>One harness, one delivery path.</a:t>
            </a:r>
          </a:p>
          <a:p>
            <a:pPr>
              <a:spcAft>
                <a:spcPts val="900"/>
              </a:spcAft>
              <a:defRPr sz="1800" b="0">
                <a:solidFill>
                  <a:srgbClr val="132B45"/>
                </a:solidFill>
                <a:latin typeface="Aptos"/>
              </a:defRPr>
            </a:pPr>
            <a:r>
              <a:t>Better accepted PRs and lower human effort.</a:t>
            </a:r>
          </a:p>
          <a:p>
            <a:pPr>
              <a:spcAft>
                <a:spcPts val="900"/>
              </a:spcAft>
              <a:defRPr sz="1800" b="0">
                <a:solidFill>
                  <a:srgbClr val="132B45"/>
                </a:solidFill>
                <a:latin typeface="Aptos"/>
              </a:defRPr>
            </a:pPr>
            <a:r>
              <a:t>Existing controls remain authoritative.</a:t>
            </a:r>
          </a:p>
        </p:txBody>
      </p:sp>
      <p:sp>
        <p:nvSpPr>
          <p:cNvPr id="9" name="TextBox 8"/>
          <p:cNvSpPr txBox="1"/>
          <p:nvPr/>
        </p:nvSpPr>
        <p:spPr>
          <a:xfrm>
            <a:off x="7909560" y="2011680"/>
            <a:ext cx="3413759" cy="530352"/>
          </a:xfrm>
          <a:prstGeom prst="rect">
            <a:avLst/>
          </a:prstGeom>
          <a:noFill/>
        </p:spPr>
        <p:txBody>
          <a:bodyPr wrap="square" lIns="0" rIns="0">
            <a:spAutoFit/>
          </a:bodyPr>
          <a:lstStyle/>
          <a:p>
            <a:pPr>
              <a:spcAft>
                <a:spcPts val="900"/>
              </a:spcAft>
              <a:defRPr sz="2000" b="1">
                <a:solidFill>
                  <a:srgbClr val="087F8C"/>
                </a:solidFill>
                <a:latin typeface="Aptos"/>
              </a:defRPr>
            </a:pPr>
            <a:r>
              <a:t>2 / Recover work</a:t>
            </a:r>
          </a:p>
        </p:txBody>
      </p:sp>
      <p:sp>
        <p:nvSpPr>
          <p:cNvPr id="10" name="TextBox 9"/>
          <p:cNvSpPr txBox="1"/>
          <p:nvPr/>
        </p:nvSpPr>
        <p:spPr>
          <a:xfrm>
            <a:off x="7909560" y="2724912"/>
            <a:ext cx="3413759" cy="3273552"/>
          </a:xfrm>
          <a:prstGeom prst="rect">
            <a:avLst/>
          </a:prstGeom>
          <a:noFill/>
        </p:spPr>
        <p:txBody>
          <a:bodyPr wrap="square" lIns="0" rIns="0">
            <a:spAutoFit/>
          </a:bodyPr>
          <a:lstStyle/>
          <a:p>
            <a:pPr>
              <a:spcAft>
                <a:spcPts val="900"/>
              </a:spcAft>
              <a:defRPr sz="1800" b="0">
                <a:solidFill>
                  <a:srgbClr val="132B45"/>
                </a:solidFill>
                <a:latin typeface="Aptos"/>
              </a:defRPr>
            </a:pPr>
            <a:r>
              <a:t>Add missing shared records and reconciliation.</a:t>
            </a:r>
          </a:p>
          <a:p>
            <a:pPr>
              <a:spcAft>
                <a:spcPts val="900"/>
              </a:spcAft>
              <a:defRPr sz="1800" b="0">
                <a:solidFill>
                  <a:srgbClr val="132B45"/>
                </a:solidFill>
                <a:latin typeface="Aptos"/>
              </a:defRPr>
            </a:pPr>
            <a:r>
              <a:t>Reduce interruption and coordination effort.</a:t>
            </a:r>
          </a:p>
        </p:txBody>
      </p:sp>
      <p:sp>
        <p:nvSpPr>
          <p:cNvPr id="11" name="TextBox 10"/>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12" name="TextBox 11"/>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BUILD THROUGH VALUE GATES</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Stages 3–5 expand only after evidence supports them.</a:t>
            </a:r>
          </a:p>
        </p:txBody>
      </p:sp>
      <p:sp>
        <p:nvSpPr>
          <p:cNvPr id="5" name="TextBox 4"/>
          <p:cNvSpPr txBox="1"/>
          <p:nvPr/>
        </p:nvSpPr>
        <p:spPr>
          <a:xfrm>
            <a:off x="594360" y="2011680"/>
            <a:ext cx="3413759" cy="530352"/>
          </a:xfrm>
          <a:prstGeom prst="rect">
            <a:avLst/>
          </a:prstGeom>
          <a:noFill/>
        </p:spPr>
        <p:txBody>
          <a:bodyPr wrap="square" lIns="0" rIns="0">
            <a:spAutoFit/>
          </a:bodyPr>
          <a:lstStyle/>
          <a:p>
            <a:pPr>
              <a:spcAft>
                <a:spcPts val="900"/>
              </a:spcAft>
              <a:defRPr sz="2000" b="1">
                <a:solidFill>
                  <a:srgbClr val="087F8C"/>
                </a:solidFill>
                <a:latin typeface="Aptos"/>
              </a:defRPr>
            </a:pPr>
            <a:r>
              <a:t>3 / Scale bounded work</a:t>
            </a:r>
          </a:p>
        </p:txBody>
      </p:sp>
      <p:sp>
        <p:nvSpPr>
          <p:cNvPr id="6" name="TextBox 5"/>
          <p:cNvSpPr txBox="1"/>
          <p:nvPr/>
        </p:nvSpPr>
        <p:spPr>
          <a:xfrm>
            <a:off x="594360" y="2724912"/>
            <a:ext cx="3413759" cy="3273552"/>
          </a:xfrm>
          <a:prstGeom prst="rect">
            <a:avLst/>
          </a:prstGeom>
          <a:noFill/>
        </p:spPr>
        <p:txBody>
          <a:bodyPr wrap="square" lIns="0" rIns="0">
            <a:spAutoFit/>
          </a:bodyPr>
          <a:lstStyle/>
          <a:p>
            <a:pPr>
              <a:spcAft>
                <a:spcPts val="900"/>
              </a:spcAft>
              <a:defRPr sz="1800" b="0">
                <a:solidFill>
                  <a:srgbClr val="132B45"/>
                </a:solidFill>
                <a:latin typeface="Aptos"/>
              </a:defRPr>
            </a:pPr>
            <a:r>
              <a:t>Compare single-agent against owned parallel tasks.</a:t>
            </a:r>
          </a:p>
          <a:p>
            <a:pPr>
              <a:spcAft>
                <a:spcPts val="900"/>
              </a:spcAft>
              <a:defRPr sz="1800" b="0">
                <a:solidFill>
                  <a:srgbClr val="132B45"/>
                </a:solidFill>
                <a:latin typeface="Aptos"/>
              </a:defRPr>
            </a:pPr>
            <a:r>
              <a:t>Migrate in repository waves.</a:t>
            </a:r>
          </a:p>
          <a:p>
            <a:pPr>
              <a:spcAft>
                <a:spcPts val="900"/>
              </a:spcAft>
              <a:defRPr sz="1800" b="0">
                <a:solidFill>
                  <a:srgbClr val="132B45"/>
                </a:solidFill>
                <a:latin typeface="Aptos"/>
              </a:defRPr>
            </a:pPr>
            <a:r>
              <a:t>Stop if coupling erases benefits.</a:t>
            </a:r>
          </a:p>
        </p:txBody>
      </p:sp>
      <p:sp>
        <p:nvSpPr>
          <p:cNvPr id="7" name="TextBox 6"/>
          <p:cNvSpPr txBox="1"/>
          <p:nvPr/>
        </p:nvSpPr>
        <p:spPr>
          <a:xfrm>
            <a:off x="4251960" y="2011680"/>
            <a:ext cx="3413759" cy="530352"/>
          </a:xfrm>
          <a:prstGeom prst="rect">
            <a:avLst/>
          </a:prstGeom>
          <a:noFill/>
        </p:spPr>
        <p:txBody>
          <a:bodyPr wrap="square" lIns="0" rIns="0">
            <a:spAutoFit/>
          </a:bodyPr>
          <a:lstStyle/>
          <a:p>
            <a:pPr>
              <a:spcAft>
                <a:spcPts val="900"/>
              </a:spcAft>
              <a:defRPr sz="2000" b="1">
                <a:solidFill>
                  <a:srgbClr val="087F8C"/>
                </a:solidFill>
                <a:latin typeface="Aptos"/>
              </a:defRPr>
            </a:pPr>
            <a:r>
              <a:t>4 / Validate releases</a:t>
            </a:r>
          </a:p>
        </p:txBody>
      </p:sp>
      <p:sp>
        <p:nvSpPr>
          <p:cNvPr id="8" name="TextBox 7"/>
          <p:cNvSpPr txBox="1"/>
          <p:nvPr/>
        </p:nvSpPr>
        <p:spPr>
          <a:xfrm>
            <a:off x="4251960" y="2724912"/>
            <a:ext cx="3413759" cy="3273552"/>
          </a:xfrm>
          <a:prstGeom prst="rect">
            <a:avLst/>
          </a:prstGeom>
          <a:noFill/>
        </p:spPr>
        <p:txBody>
          <a:bodyPr wrap="square" lIns="0" rIns="0">
            <a:spAutoFit/>
          </a:bodyPr>
          <a:lstStyle/>
          <a:p>
            <a:pPr>
              <a:spcAft>
                <a:spcPts val="900"/>
              </a:spcAft>
              <a:defRPr sz="1800" b="0">
                <a:solidFill>
                  <a:srgbClr val="132B45"/>
                </a:solidFill>
                <a:latin typeface="Aptos"/>
              </a:defRPr>
            </a:pPr>
            <a:r>
              <a:t>One trusted executor and health contract.</a:t>
            </a:r>
          </a:p>
          <a:p>
            <a:pPr>
              <a:spcAft>
                <a:spcPts val="900"/>
              </a:spcAft>
              <a:defRPr sz="1800" b="0">
                <a:solidFill>
                  <a:srgbClr val="132B45"/>
                </a:solidFill>
                <a:latin typeface="Aptos"/>
              </a:defRPr>
            </a:pPr>
            <a:r>
              <a:t>Shadow first, bounded cohort next.</a:t>
            </a:r>
          </a:p>
          <a:p>
            <a:pPr>
              <a:spcAft>
                <a:spcPts val="900"/>
              </a:spcAft>
              <a:defRPr sz="1800" b="0">
                <a:solidFill>
                  <a:srgbClr val="132B45"/>
                </a:solidFill>
                <a:latin typeface="Aptos"/>
              </a:defRPr>
            </a:pPr>
            <a:r>
              <a:t>Test pause and recovery.</a:t>
            </a:r>
          </a:p>
        </p:txBody>
      </p:sp>
      <p:sp>
        <p:nvSpPr>
          <p:cNvPr id="9" name="TextBox 8"/>
          <p:cNvSpPr txBox="1"/>
          <p:nvPr/>
        </p:nvSpPr>
        <p:spPr>
          <a:xfrm>
            <a:off x="7909560" y="2011680"/>
            <a:ext cx="3413759" cy="530352"/>
          </a:xfrm>
          <a:prstGeom prst="rect">
            <a:avLst/>
          </a:prstGeom>
          <a:noFill/>
        </p:spPr>
        <p:txBody>
          <a:bodyPr wrap="square" lIns="0" rIns="0">
            <a:spAutoFit/>
          </a:bodyPr>
          <a:lstStyle/>
          <a:p>
            <a:pPr>
              <a:spcAft>
                <a:spcPts val="900"/>
              </a:spcAft>
              <a:defRPr sz="2000" b="1">
                <a:solidFill>
                  <a:srgbClr val="087F8C"/>
                </a:solidFill>
                <a:latin typeface="Aptos"/>
              </a:defRPr>
            </a:pPr>
            <a:r>
              <a:t>5 / Broaden outcomes</a:t>
            </a:r>
          </a:p>
        </p:txBody>
      </p:sp>
      <p:sp>
        <p:nvSpPr>
          <p:cNvPr id="10" name="TextBox 9"/>
          <p:cNvSpPr txBox="1"/>
          <p:nvPr/>
        </p:nvSpPr>
        <p:spPr>
          <a:xfrm>
            <a:off x="7909560" y="2724912"/>
            <a:ext cx="3413759" cy="3273552"/>
          </a:xfrm>
          <a:prstGeom prst="rect">
            <a:avLst/>
          </a:prstGeom>
          <a:noFill/>
        </p:spPr>
        <p:txBody>
          <a:bodyPr wrap="square" lIns="0" rIns="0">
            <a:spAutoFit/>
          </a:bodyPr>
          <a:lstStyle/>
          <a:p>
            <a:pPr>
              <a:spcAft>
                <a:spcPts val="900"/>
              </a:spcAft>
              <a:defRPr sz="1800" b="0">
                <a:solidFill>
                  <a:srgbClr val="132B45"/>
                </a:solidFill>
                <a:latin typeface="Aptos"/>
              </a:defRPr>
            </a:pPr>
            <a:r>
              <a:t>Investigate incidents before writes.</a:t>
            </a:r>
          </a:p>
          <a:p>
            <a:pPr>
              <a:spcAft>
                <a:spcPts val="900"/>
              </a:spcAft>
              <a:defRPr sz="1800" b="0">
                <a:solidFill>
                  <a:srgbClr val="132B45"/>
                </a:solidFill>
                <a:latin typeface="Aptos"/>
              </a:defRPr>
            </a:pPr>
            <a:r>
              <a:t>Add domain packs and governed learning.</a:t>
            </a:r>
          </a:p>
          <a:p>
            <a:pPr>
              <a:spcAft>
                <a:spcPts val="900"/>
              </a:spcAft>
              <a:defRPr sz="1800" b="0">
                <a:solidFill>
                  <a:srgbClr val="132B45"/>
                </a:solidFill>
                <a:latin typeface="Aptos"/>
              </a:defRPr>
            </a:pPr>
            <a:r>
              <a:t>Evaluate every new outcome family.</a:t>
            </a:r>
          </a:p>
        </p:txBody>
      </p:sp>
      <p:sp>
        <p:nvSpPr>
          <p:cNvPr id="11" name="TextBox 10"/>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12" name="TextBox 11"/>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MATURE SCOPE</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The same contracts support many enterprise outcomes.</a:t>
            </a:r>
          </a:p>
        </p:txBody>
      </p:sp>
      <p:sp>
        <p:nvSpPr>
          <p:cNvPr id="5" name="TextBox 4"/>
          <p:cNvSpPr txBox="1"/>
          <p:nvPr/>
        </p:nvSpPr>
        <p:spPr>
          <a:xfrm>
            <a:off x="594360" y="2011680"/>
            <a:ext cx="5120640" cy="530352"/>
          </a:xfrm>
          <a:prstGeom prst="rect">
            <a:avLst/>
          </a:prstGeom>
          <a:noFill/>
        </p:spPr>
        <p:txBody>
          <a:bodyPr wrap="square" lIns="0" rIns="0">
            <a:spAutoFit/>
          </a:bodyPr>
          <a:lstStyle/>
          <a:p>
            <a:pPr>
              <a:spcAft>
                <a:spcPts val="900"/>
              </a:spcAft>
              <a:defRPr sz="2000" b="1">
                <a:solidFill>
                  <a:srgbClr val="087F8C"/>
                </a:solidFill>
                <a:latin typeface="Aptos"/>
              </a:defRPr>
            </a:pPr>
            <a:r>
              <a:t>Engineering</a:t>
            </a:r>
          </a:p>
        </p:txBody>
      </p:sp>
      <p:sp>
        <p:nvSpPr>
          <p:cNvPr id="6" name="TextBox 5"/>
          <p:cNvSpPr txBox="1"/>
          <p:nvPr/>
        </p:nvSpPr>
        <p:spPr>
          <a:xfrm>
            <a:off x="594360" y="2724912"/>
            <a:ext cx="5120640" cy="3273552"/>
          </a:xfrm>
          <a:prstGeom prst="rect">
            <a:avLst/>
          </a:prstGeom>
          <a:noFill/>
        </p:spPr>
        <p:txBody>
          <a:bodyPr wrap="square" lIns="0" rIns="0">
            <a:spAutoFit/>
          </a:bodyPr>
          <a:lstStyle/>
          <a:p>
            <a:pPr>
              <a:spcAft>
                <a:spcPts val="900"/>
              </a:spcAft>
              <a:defRPr sz="1800" b="0">
                <a:solidFill>
                  <a:srgbClr val="132B45"/>
                </a:solidFill>
                <a:latin typeface="Aptos"/>
              </a:defRPr>
            </a:pPr>
            <a:r>
              <a:t>Research and architecture</a:t>
            </a:r>
          </a:p>
          <a:p>
            <a:pPr>
              <a:spcAft>
                <a:spcPts val="900"/>
              </a:spcAft>
              <a:defRPr sz="1800" b="0">
                <a:solidFill>
                  <a:srgbClr val="132B45"/>
                </a:solidFill>
                <a:latin typeface="Aptos"/>
              </a:defRPr>
            </a:pPr>
            <a:r>
              <a:t>Features and defect repair</a:t>
            </a:r>
          </a:p>
          <a:p>
            <a:pPr>
              <a:spcAft>
                <a:spcPts val="900"/>
              </a:spcAft>
              <a:defRPr sz="1800" b="0">
                <a:solidFill>
                  <a:srgbClr val="132B45"/>
                </a:solidFill>
                <a:latin typeface="Aptos"/>
              </a:defRPr>
            </a:pPr>
            <a:r>
              <a:t>Dependencies and migrations</a:t>
            </a:r>
          </a:p>
          <a:p>
            <a:pPr>
              <a:spcAft>
                <a:spcPts val="900"/>
              </a:spcAft>
              <a:defRPr sz="1800" b="0">
                <a:solidFill>
                  <a:srgbClr val="132B45"/>
                </a:solidFill>
                <a:latin typeface="Aptos"/>
              </a:defRPr>
            </a:pPr>
            <a:r>
              <a:t>Policy and pipeline remediation</a:t>
            </a:r>
          </a:p>
        </p:txBody>
      </p:sp>
      <p:sp>
        <p:nvSpPr>
          <p:cNvPr id="7" name="TextBox 6"/>
          <p:cNvSpPr txBox="1"/>
          <p:nvPr/>
        </p:nvSpPr>
        <p:spPr>
          <a:xfrm>
            <a:off x="6080760" y="2011680"/>
            <a:ext cx="5120640" cy="530352"/>
          </a:xfrm>
          <a:prstGeom prst="rect">
            <a:avLst/>
          </a:prstGeom>
          <a:noFill/>
        </p:spPr>
        <p:txBody>
          <a:bodyPr wrap="square" lIns="0" rIns="0">
            <a:spAutoFit/>
          </a:bodyPr>
          <a:lstStyle/>
          <a:p>
            <a:pPr>
              <a:spcAft>
                <a:spcPts val="900"/>
              </a:spcAft>
              <a:defRPr sz="2000" b="1">
                <a:solidFill>
                  <a:srgbClr val="087F8C"/>
                </a:solidFill>
                <a:latin typeface="Aptos"/>
              </a:defRPr>
            </a:pPr>
            <a:r>
              <a:t>Delivery and operations</a:t>
            </a:r>
          </a:p>
        </p:txBody>
      </p:sp>
      <p:sp>
        <p:nvSpPr>
          <p:cNvPr id="8" name="TextBox 7"/>
          <p:cNvSpPr txBox="1"/>
          <p:nvPr/>
        </p:nvSpPr>
        <p:spPr>
          <a:xfrm>
            <a:off x="6080760" y="2724912"/>
            <a:ext cx="5120640" cy="3273552"/>
          </a:xfrm>
          <a:prstGeom prst="rect">
            <a:avLst/>
          </a:prstGeom>
          <a:noFill/>
        </p:spPr>
        <p:txBody>
          <a:bodyPr wrap="square" lIns="0" rIns="0">
            <a:spAutoFit/>
          </a:bodyPr>
          <a:lstStyle/>
          <a:p>
            <a:pPr>
              <a:spcAft>
                <a:spcPts val="900"/>
              </a:spcAft>
              <a:defRPr sz="1800" b="0">
                <a:solidFill>
                  <a:srgbClr val="132B45"/>
                </a:solidFill>
                <a:latin typeface="Aptos"/>
              </a:defRPr>
            </a:pPr>
            <a:r>
              <a:t>Validated release</a:t>
            </a:r>
          </a:p>
          <a:p>
            <a:pPr>
              <a:spcAft>
                <a:spcPts val="900"/>
              </a:spcAft>
              <a:defRPr sz="1800" b="0">
                <a:solidFill>
                  <a:srgbClr val="132B45"/>
                </a:solidFill>
                <a:latin typeface="Aptos"/>
              </a:defRPr>
            </a:pPr>
            <a:r>
              <a:t>Incident investigation</a:t>
            </a:r>
          </a:p>
          <a:p>
            <a:pPr>
              <a:spcAft>
                <a:spcPts val="900"/>
              </a:spcAft>
              <a:defRPr sz="1800" b="0">
                <a:solidFill>
                  <a:srgbClr val="132B45"/>
                </a:solidFill>
                <a:latin typeface="Aptos"/>
              </a:defRPr>
            </a:pPr>
            <a:r>
              <a:t>Bounded recovery</a:t>
            </a:r>
          </a:p>
          <a:p>
            <a:pPr>
              <a:spcAft>
                <a:spcPts val="900"/>
              </a:spcAft>
              <a:defRPr sz="1800" b="0">
                <a:solidFill>
                  <a:srgbClr val="132B45"/>
                </a:solidFill>
                <a:latin typeface="Aptos"/>
              </a:defRPr>
            </a:pPr>
            <a:r>
              <a:t>Infrastructure and data changes</a:t>
            </a:r>
          </a:p>
        </p:txBody>
      </p:sp>
      <p:sp>
        <p:nvSpPr>
          <p:cNvPr id="9" name="TextBox 8"/>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10" name="TextBox 9"/>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MIGRATION</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CI/CD products retire only after their functions are replaced safely.</a:t>
            </a:r>
          </a:p>
        </p:txBody>
      </p:sp>
      <p:sp>
        <p:nvSpPr>
          <p:cNvPr id="5" name="TextBox 4"/>
          <p:cNvSpPr txBox="1"/>
          <p:nvPr/>
        </p:nvSpPr>
        <p:spPr>
          <a:xfrm>
            <a:off x="640080" y="2103120"/>
            <a:ext cx="10881360" cy="3749039"/>
          </a:xfrm>
          <a:prstGeom prst="rect">
            <a:avLst/>
          </a:prstGeom>
          <a:noFill/>
        </p:spPr>
        <p:txBody>
          <a:bodyPr wrap="square" lIns="0" rIns="0">
            <a:spAutoFit/>
          </a:bodyPr>
          <a:lstStyle/>
          <a:p>
            <a:pPr>
              <a:spcAft>
                <a:spcPts val="900"/>
              </a:spcAft>
              <a:defRPr sz="2300" b="0">
                <a:solidFill>
                  <a:srgbClr val="132B45"/>
                </a:solidFill>
                <a:latin typeface="Aptos"/>
              </a:defRPr>
            </a:pPr>
            <a:r>
              <a:t>Start with Jenkins, Spinnaker, GitLab or other existing executors.</a:t>
            </a:r>
          </a:p>
          <a:p>
            <a:pPr>
              <a:spcAft>
                <a:spcPts val="900"/>
              </a:spcAft>
              <a:defRPr sz="2300" b="0">
                <a:solidFill>
                  <a:srgbClr val="132B45"/>
                </a:solidFill>
                <a:latin typeface="Aptos"/>
              </a:defRPr>
            </a:pPr>
            <a:r>
              <a:t>Request contract-shaped outcomes through adapters.</a:t>
            </a:r>
          </a:p>
          <a:p>
            <a:pPr>
              <a:spcAft>
                <a:spcPts val="900"/>
              </a:spcAft>
              <a:defRPr sz="2300" b="0">
                <a:solidFill>
                  <a:srgbClr val="132B45"/>
                </a:solidFill>
                <a:latin typeface="Aptos"/>
              </a:defRPr>
            </a:pPr>
            <a:r>
              <a:t>Replace a tool only after equivalent controls, recovery and economics pass.</a:t>
            </a:r>
          </a:p>
          <a:p>
            <a:pPr>
              <a:spcAft>
                <a:spcPts val="900"/>
              </a:spcAft>
              <a:defRPr sz="2300" b="0">
                <a:solidFill>
                  <a:srgbClr val="132B45"/>
                </a:solidFill>
                <a:latin typeface="Aptos"/>
              </a:defRPr>
            </a:pPr>
            <a:r>
              <a:t>An agent loop does not remove the need for reproducible execution.</a:t>
            </a:r>
          </a:p>
        </p:txBody>
      </p:sp>
      <p:sp>
        <p:nvSpPr>
          <p:cNvPr id="6" name="TextBox 5"/>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7" name="TextBox 6"/>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ECONOMICS</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Measure accepted outcomes, total effort and service effects.</a:t>
            </a:r>
          </a:p>
        </p:txBody>
      </p:sp>
      <p:sp>
        <p:nvSpPr>
          <p:cNvPr id="5" name="TextBox 4"/>
          <p:cNvSpPr txBox="1"/>
          <p:nvPr/>
        </p:nvSpPr>
        <p:spPr>
          <a:xfrm>
            <a:off x="594360" y="2011680"/>
            <a:ext cx="5120640" cy="530352"/>
          </a:xfrm>
          <a:prstGeom prst="rect">
            <a:avLst/>
          </a:prstGeom>
          <a:noFill/>
        </p:spPr>
        <p:txBody>
          <a:bodyPr wrap="square" lIns="0" rIns="0">
            <a:spAutoFit/>
          </a:bodyPr>
          <a:lstStyle/>
          <a:p>
            <a:pPr>
              <a:spcAft>
                <a:spcPts val="900"/>
              </a:spcAft>
              <a:defRPr sz="2000" b="1">
                <a:solidFill>
                  <a:srgbClr val="087F8C"/>
                </a:solidFill>
                <a:latin typeface="Aptos"/>
              </a:defRPr>
            </a:pPr>
            <a:r>
              <a:t>Useful measures</a:t>
            </a:r>
          </a:p>
        </p:txBody>
      </p:sp>
      <p:sp>
        <p:nvSpPr>
          <p:cNvPr id="6" name="TextBox 5"/>
          <p:cNvSpPr txBox="1"/>
          <p:nvPr/>
        </p:nvSpPr>
        <p:spPr>
          <a:xfrm>
            <a:off x="594360" y="2724912"/>
            <a:ext cx="5120640" cy="3273552"/>
          </a:xfrm>
          <a:prstGeom prst="rect">
            <a:avLst/>
          </a:prstGeom>
          <a:noFill/>
        </p:spPr>
        <p:txBody>
          <a:bodyPr wrap="square" lIns="0" rIns="0">
            <a:spAutoFit/>
          </a:bodyPr>
          <a:lstStyle/>
          <a:p>
            <a:pPr>
              <a:spcAft>
                <a:spcPts val="900"/>
              </a:spcAft>
              <a:defRPr sz="1800" b="0">
                <a:solidFill>
                  <a:srgbClr val="132B45"/>
                </a:solidFill>
                <a:latin typeface="Aptos"/>
              </a:defRPr>
            </a:pPr>
            <a:r>
              <a:t>Accepted outcomes / all attempts</a:t>
            </a:r>
          </a:p>
          <a:p>
            <a:pPr>
              <a:spcAft>
                <a:spcPts val="900"/>
              </a:spcAft>
              <a:defRPr sz="1800" b="0">
                <a:solidFill>
                  <a:srgbClr val="132B45"/>
                </a:solidFill>
                <a:latin typeface="Aptos"/>
              </a:defRPr>
            </a:pPr>
            <a:r>
              <a:t>Validated completion time</a:t>
            </a:r>
          </a:p>
          <a:p>
            <a:pPr>
              <a:spcAft>
                <a:spcPts val="900"/>
              </a:spcAft>
              <a:defRPr sz="1800" b="0">
                <a:solidFill>
                  <a:srgbClr val="132B45"/>
                </a:solidFill>
                <a:latin typeface="Aptos"/>
              </a:defRPr>
            </a:pPr>
            <a:r>
              <a:t>Human effort and review rejection</a:t>
            </a:r>
          </a:p>
          <a:p>
            <a:pPr>
              <a:spcAft>
                <a:spcPts val="900"/>
              </a:spcAft>
              <a:defRPr sz="1800" b="0">
                <a:solidFill>
                  <a:srgbClr val="132B45"/>
                </a:solidFill>
                <a:latin typeface="Aptos"/>
              </a:defRPr>
            </a:pPr>
            <a:r>
              <a:t>Escaped defects and service regressions</a:t>
            </a:r>
          </a:p>
        </p:txBody>
      </p:sp>
      <p:sp>
        <p:nvSpPr>
          <p:cNvPr id="7" name="TextBox 6"/>
          <p:cNvSpPr txBox="1"/>
          <p:nvPr/>
        </p:nvSpPr>
        <p:spPr>
          <a:xfrm>
            <a:off x="6080760" y="2011680"/>
            <a:ext cx="5120640" cy="530352"/>
          </a:xfrm>
          <a:prstGeom prst="rect">
            <a:avLst/>
          </a:prstGeom>
          <a:noFill/>
        </p:spPr>
        <p:txBody>
          <a:bodyPr wrap="square" lIns="0" rIns="0">
            <a:spAutoFit/>
          </a:bodyPr>
          <a:lstStyle/>
          <a:p>
            <a:pPr>
              <a:spcAft>
                <a:spcPts val="900"/>
              </a:spcAft>
              <a:defRPr sz="2000" b="1">
                <a:solidFill>
                  <a:srgbClr val="087F8C"/>
                </a:solidFill>
                <a:latin typeface="Aptos"/>
              </a:defRPr>
            </a:pPr>
            <a:r>
              <a:t>Full cost</a:t>
            </a:r>
          </a:p>
        </p:txBody>
      </p:sp>
      <p:sp>
        <p:nvSpPr>
          <p:cNvPr id="8" name="TextBox 7"/>
          <p:cNvSpPr txBox="1"/>
          <p:nvPr/>
        </p:nvSpPr>
        <p:spPr>
          <a:xfrm>
            <a:off x="6080760" y="2724912"/>
            <a:ext cx="5120640" cy="3273552"/>
          </a:xfrm>
          <a:prstGeom prst="rect">
            <a:avLst/>
          </a:prstGeom>
          <a:noFill/>
        </p:spPr>
        <p:txBody>
          <a:bodyPr wrap="square" lIns="0" rIns="0">
            <a:spAutoFit/>
          </a:bodyPr>
          <a:lstStyle/>
          <a:p>
            <a:pPr>
              <a:spcAft>
                <a:spcPts val="900"/>
              </a:spcAft>
              <a:defRPr sz="1800" b="0">
                <a:solidFill>
                  <a:srgbClr val="132B45"/>
                </a:solidFill>
                <a:latin typeface="Aptos"/>
              </a:defRPr>
            </a:pPr>
            <a:r>
              <a:t>Model and compute</a:t>
            </a:r>
          </a:p>
          <a:p>
            <a:pPr>
              <a:spcAft>
                <a:spcPts val="900"/>
              </a:spcAft>
              <a:defRPr sz="1800" b="0">
                <a:solidFill>
                  <a:srgbClr val="132B45"/>
                </a:solidFill>
                <a:latin typeface="Aptos"/>
              </a:defRPr>
            </a:pPr>
            <a:r>
              <a:t>Integration and rework</a:t>
            </a:r>
          </a:p>
          <a:p>
            <a:pPr>
              <a:spcAft>
                <a:spcPts val="900"/>
              </a:spcAft>
              <a:defRPr sz="1800" b="0">
                <a:solidFill>
                  <a:srgbClr val="132B45"/>
                </a:solidFill>
                <a:latin typeface="Aptos"/>
              </a:defRPr>
            </a:pPr>
            <a:r>
              <a:t>Human review</a:t>
            </a:r>
          </a:p>
          <a:p>
            <a:pPr>
              <a:spcAft>
                <a:spcPts val="900"/>
              </a:spcAft>
              <a:defRPr sz="1800" b="0">
                <a:solidFill>
                  <a:srgbClr val="132B45"/>
                </a:solidFill>
                <a:latin typeface="Aptos"/>
              </a:defRPr>
            </a:pPr>
            <a:r>
              <a:t>Allocated platform operation</a:t>
            </a:r>
          </a:p>
          <a:p>
            <a:pPr>
              <a:spcAft>
                <a:spcPts val="900"/>
              </a:spcAft>
              <a:defRPr sz="1800" b="0">
                <a:solidFill>
                  <a:srgbClr val="132B45"/>
                </a:solidFill>
                <a:latin typeface="Aptos"/>
              </a:defRPr>
            </a:pPr>
            <a:r>
              <a:t>Divided by accepted outcomes</a:t>
            </a:r>
          </a:p>
        </p:txBody>
      </p:sp>
      <p:sp>
        <p:nvSpPr>
          <p:cNvPr id="9" name="TextBox 8"/>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10" name="TextBox 9"/>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DECISION</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I would fund one pilot and preserve the right to simplify.</a:t>
            </a:r>
          </a:p>
        </p:txBody>
      </p:sp>
      <p:sp>
        <p:nvSpPr>
          <p:cNvPr id="5" name="TextBox 4"/>
          <p:cNvSpPr txBox="1"/>
          <p:nvPr/>
        </p:nvSpPr>
        <p:spPr>
          <a:xfrm>
            <a:off x="640080" y="2103120"/>
            <a:ext cx="10881360" cy="3749039"/>
          </a:xfrm>
          <a:prstGeom prst="rect">
            <a:avLst/>
          </a:prstGeom>
          <a:noFill/>
        </p:spPr>
        <p:txBody>
          <a:bodyPr wrap="square" lIns="0" rIns="0">
            <a:spAutoFit/>
          </a:bodyPr>
          <a:lstStyle/>
          <a:p>
            <a:pPr>
              <a:spcAft>
                <a:spcPts val="900"/>
              </a:spcAft>
              <a:defRPr sz="2300" b="0">
                <a:solidFill>
                  <a:srgbClr val="132B45"/>
                </a:solidFill>
                <a:latin typeface="Aptos"/>
              </a:defRPr>
            </a:pPr>
            <a:r>
              <a:t>One frequent outcome. One approved harness. One trusted path.</a:t>
            </a:r>
          </a:p>
          <a:p>
            <a:pPr>
              <a:spcAft>
                <a:spcPts val="900"/>
              </a:spcAft>
              <a:defRPr sz="2300" b="0">
                <a:solidFill>
                  <a:srgbClr val="132B45"/>
                </a:solidFill>
                <a:latin typeface="Aptos"/>
              </a:defRPr>
            </a:pPr>
            <a:r>
              <a:t>Define evidence and authority before expanding the fleet.</a:t>
            </a:r>
          </a:p>
          <a:p>
            <a:pPr>
              <a:spcAft>
                <a:spcPts val="900"/>
              </a:spcAft>
              <a:defRPr sz="2300" b="0">
                <a:solidFill>
                  <a:srgbClr val="132B45"/>
                </a:solidFill>
                <a:latin typeface="Aptos"/>
              </a:defRPr>
            </a:pPr>
            <a:r>
              <a:t>Keep the custom layer only where it proves useful.</a:t>
            </a:r>
          </a:p>
          <a:p>
            <a:pPr>
              <a:spcAft>
                <a:spcPts val="900"/>
              </a:spcAft>
              <a:defRPr sz="2300" b="0">
                <a:solidFill>
                  <a:srgbClr val="132B45"/>
                </a:solidFill>
                <a:latin typeface="Aptos"/>
              </a:defRPr>
            </a:pPr>
            <a:r>
              <a:t>Progress by measured value and tested recovery.</a:t>
            </a:r>
          </a:p>
        </p:txBody>
      </p:sp>
      <p:sp>
        <p:nvSpPr>
          <p:cNvPr id="6" name="TextBox 5"/>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7" name="TextBox 6"/>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RESEARCH BOUNDARY</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Evidence limits are part of the recommendation.</a:t>
            </a:r>
          </a:p>
        </p:txBody>
      </p:sp>
      <p:sp>
        <p:nvSpPr>
          <p:cNvPr id="5" name="TextBox 4"/>
          <p:cNvSpPr txBox="1"/>
          <p:nvPr/>
        </p:nvSpPr>
        <p:spPr>
          <a:xfrm>
            <a:off x="640080" y="2103120"/>
            <a:ext cx="10881360" cy="3749039"/>
          </a:xfrm>
          <a:prstGeom prst="rect">
            <a:avLst/>
          </a:prstGeom>
          <a:noFill/>
        </p:spPr>
        <p:txBody>
          <a:bodyPr wrap="square" lIns="0" rIns="0">
            <a:spAutoFit/>
          </a:bodyPr>
          <a:lstStyle/>
          <a:p>
            <a:pPr>
              <a:spcAft>
                <a:spcPts val="900"/>
              </a:spcAft>
              <a:defRPr sz="2300" b="0">
                <a:solidFill>
                  <a:srgbClr val="132B45"/>
                </a:solidFill>
                <a:latin typeface="Aptos"/>
              </a:defRPr>
            </a:pPr>
            <a:r>
              <a:t>Primary documentation reviewed on 6 October 2026.</a:t>
            </a:r>
          </a:p>
          <a:p>
            <a:pPr>
              <a:spcAft>
                <a:spcPts val="900"/>
              </a:spcAft>
              <a:defRPr sz="2300" b="0">
                <a:solidFill>
                  <a:srgbClr val="132B45"/>
                </a:solidFill>
                <a:latin typeface="Aptos"/>
              </a:defRPr>
            </a:pPr>
            <a:r>
              <a:t>No paid-product benchmark or production pilot was performed.</a:t>
            </a:r>
          </a:p>
          <a:p>
            <a:pPr>
              <a:spcAft>
                <a:spcPts val="900"/>
              </a:spcAft>
              <a:defRPr sz="2300" b="0">
                <a:solidFill>
                  <a:srgbClr val="132B45"/>
                </a:solidFill>
                <a:latin typeface="Aptos"/>
              </a:defRPr>
            </a:pPr>
            <a:r>
              <a:t>Product access and versions change; recheck before procurement.</a:t>
            </a:r>
          </a:p>
          <a:p>
            <a:pPr>
              <a:spcAft>
                <a:spcPts val="900"/>
              </a:spcAft>
              <a:defRPr sz="2300" b="0">
                <a:solidFill>
                  <a:srgbClr val="132B45"/>
                </a:solidFill>
                <a:latin typeface="Aptos"/>
              </a:defRPr>
            </a:pPr>
            <a:r>
              <a:t>Enterprise obligations, RTO/RPO and ROI remain deployment-specific.</a:t>
            </a:r>
          </a:p>
        </p:txBody>
      </p:sp>
      <p:sp>
        <p:nvSpPr>
          <p:cNvPr id="6" name="TextBox 5"/>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7" name="TextBox 6"/>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REFERENCES 1–15</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Primary-source ledger</a:t>
            </a:r>
          </a:p>
        </p:txBody>
      </p:sp>
      <p:sp>
        <p:nvSpPr>
          <p:cNvPr id="5" name="TextBox 4"/>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6" name="TextBox 5"/>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22</a:t>
            </a:r>
          </a:p>
        </p:txBody>
      </p:sp>
      <p:sp>
        <p:nvSpPr>
          <p:cNvPr id="7" name="TextBox 6"/>
          <p:cNvSpPr txBox="1"/>
          <p:nvPr/>
        </p:nvSpPr>
        <p:spPr>
          <a:xfrm>
            <a:off x="640080" y="1920240"/>
            <a:ext cx="5303520" cy="4114800"/>
          </a:xfrm>
          <a:prstGeom prst="rect">
            <a:avLst/>
          </a:prstGeom>
          <a:noFill/>
        </p:spPr>
        <p:txBody>
          <a:bodyPr wrap="square" lIns="0" rIns="0">
            <a:spAutoFit/>
          </a:bodyPr>
          <a:lstStyle/>
          <a:p>
            <a:pPr>
              <a:spcAft>
                <a:spcPts val="900"/>
              </a:spcAft>
              <a:defRPr sz="1700" b="0">
                <a:solidFill>
                  <a:srgbClr val="132B45"/>
                </a:solidFill>
                <a:latin typeface="Aptos"/>
              </a:defRPr>
            </a:pPr>
            <a:r>
              <a:t>[1] Cursor, Introducing Projects</a:t>
            </a:r>
          </a:p>
          <a:p>
            <a:pPr>
              <a:spcAft>
                <a:spcPts val="900"/>
              </a:spcAft>
              <a:defRPr sz="1700" b="0">
                <a:solidFill>
                  <a:srgbClr val="132B45"/>
                </a:solidFill>
                <a:latin typeface="Aptos"/>
              </a:defRPr>
            </a:pPr>
            <a:r>
              <a:t>[2] GitHub, Fleet mode</a:t>
            </a:r>
          </a:p>
          <a:p>
            <a:pPr>
              <a:spcAft>
                <a:spcPts val="900"/>
              </a:spcAft>
              <a:defRPr sz="1700" b="0">
                <a:solidFill>
                  <a:srgbClr val="132B45"/>
                </a:solidFill>
                <a:latin typeface="Aptos"/>
              </a:defRPr>
            </a:pPr>
            <a:r>
              <a:t>[3] Anthropic, Agent SDK overview</a:t>
            </a:r>
          </a:p>
          <a:p>
            <a:pPr>
              <a:spcAft>
                <a:spcPts val="900"/>
              </a:spcAft>
              <a:defRPr sz="1700" b="0">
                <a:solidFill>
                  <a:srgbClr val="132B45"/>
                </a:solidFill>
                <a:latin typeface="Aptos"/>
              </a:defRPr>
            </a:pPr>
            <a:r>
              <a:t>[4] Anthropic, Claude Opus 4.6 announcement</a:t>
            </a:r>
          </a:p>
          <a:p>
            <a:pPr>
              <a:spcAft>
                <a:spcPts val="900"/>
              </a:spcAft>
              <a:defRPr sz="1700" b="0">
                <a:solidFill>
                  <a:srgbClr val="132B45"/>
                </a:solidFill>
                <a:latin typeface="Aptos"/>
              </a:defRPr>
            </a:pPr>
            <a:r>
              <a:t>[5] OpenAI, Agents API architecture</a:t>
            </a:r>
          </a:p>
          <a:p>
            <a:pPr>
              <a:spcAft>
                <a:spcPts val="900"/>
              </a:spcAft>
              <a:defRPr sz="1700" b="0">
                <a:solidFill>
                  <a:srgbClr val="132B45"/>
                </a:solidFill>
                <a:latin typeface="Aptos"/>
              </a:defRPr>
            </a:pPr>
            <a:r>
              <a:t>[6] OpenAI, Agents overview</a:t>
            </a:r>
          </a:p>
          <a:p>
            <a:pPr>
              <a:spcAft>
                <a:spcPts val="900"/>
              </a:spcAft>
              <a:defRPr sz="1700" b="0">
                <a:solidFill>
                  <a:srgbClr val="132B45"/>
                </a:solidFill>
                <a:latin typeface="Aptos"/>
              </a:defRPr>
            </a:pPr>
            <a:r>
              <a:t>[7] Factory, Missions overview</a:t>
            </a:r>
          </a:p>
          <a:p>
            <a:pPr>
              <a:spcAft>
                <a:spcPts val="900"/>
              </a:spcAft>
              <a:defRPr sz="1700" b="0">
                <a:solidFill>
                  <a:srgbClr val="132B45"/>
                </a:solidFill>
                <a:latin typeface="Aptos"/>
              </a:defRPr>
            </a:pPr>
            <a:r>
              <a:t>[8] Factory, Planning and Validation</a:t>
            </a:r>
          </a:p>
        </p:txBody>
      </p:sp>
      <p:sp>
        <p:nvSpPr>
          <p:cNvPr id="8" name="TextBox 7"/>
          <p:cNvSpPr txBox="1"/>
          <p:nvPr/>
        </p:nvSpPr>
        <p:spPr>
          <a:xfrm>
            <a:off x="6400800" y="1920240"/>
            <a:ext cx="5303520" cy="4114800"/>
          </a:xfrm>
          <a:prstGeom prst="rect">
            <a:avLst/>
          </a:prstGeom>
          <a:noFill/>
        </p:spPr>
        <p:txBody>
          <a:bodyPr wrap="square" lIns="0" rIns="0">
            <a:spAutoFit/>
          </a:bodyPr>
          <a:lstStyle/>
          <a:p>
            <a:pPr>
              <a:spcAft>
                <a:spcPts val="900"/>
              </a:spcAft>
              <a:defRPr sz="1700" b="0">
                <a:solidFill>
                  <a:srgbClr val="132B45"/>
                </a:solidFill>
                <a:latin typeface="Aptos"/>
              </a:defRPr>
            </a:pPr>
            <a:r>
              <a:t>[9] Factory, Running in the Factory App</a:t>
            </a:r>
          </a:p>
          <a:p>
            <a:pPr>
              <a:spcAft>
                <a:spcPts val="900"/>
              </a:spcAft>
              <a:defRPr sz="1700" b="0">
                <a:solidFill>
                  <a:srgbClr val="132B45"/>
                </a:solidFill>
                <a:latin typeface="Aptos"/>
              </a:defRPr>
            </a:pPr>
            <a:r>
              <a:t>[10] Kiro, Invoking as sub-agents</a:t>
            </a:r>
          </a:p>
          <a:p>
            <a:pPr>
              <a:spcAft>
                <a:spcPts val="900"/>
              </a:spcAft>
              <a:defRPr sz="1700" b="0">
                <a:solidFill>
                  <a:srgbClr val="132B45"/>
                </a:solidFill>
                <a:latin typeface="Aptos"/>
              </a:defRPr>
            </a:pPr>
            <a:r>
              <a:t>[11] AWS, DevOps Agent expansion</a:t>
            </a:r>
          </a:p>
          <a:p>
            <a:pPr>
              <a:spcAft>
                <a:spcPts val="900"/>
              </a:spcAft>
              <a:defRPr sz="1700" b="0">
                <a:solidFill>
                  <a:srgbClr val="132B45"/>
                </a:solidFill>
                <a:latin typeface="Aptos"/>
              </a:defRPr>
            </a:pPr>
            <a:r>
              <a:t>[12] Google ADK, Workflows</a:t>
            </a:r>
          </a:p>
          <a:p>
            <a:pPr>
              <a:spcAft>
                <a:spcPts val="900"/>
              </a:spcAft>
              <a:defRPr sz="1700" b="0">
                <a:solidFill>
                  <a:srgbClr val="132B45"/>
                </a:solidFill>
                <a:latin typeface="Aptos"/>
              </a:defRPr>
            </a:pPr>
            <a:r>
              <a:t>[13] LangChain, LangGraph Persistence</a:t>
            </a:r>
          </a:p>
          <a:p>
            <a:pPr>
              <a:spcAft>
                <a:spcPts val="900"/>
              </a:spcAft>
              <a:defRPr sz="1700" b="0">
                <a:solidFill>
                  <a:srgbClr val="132B45"/>
                </a:solidFill>
                <a:latin typeface="Aptos"/>
              </a:defRPr>
            </a:pPr>
            <a:r>
              <a:t>[14] LangChain, Deep Agents overview</a:t>
            </a:r>
          </a:p>
          <a:p>
            <a:pPr>
              <a:spcAft>
                <a:spcPts val="900"/>
              </a:spcAft>
              <a:defRPr sz="1700" b="0">
                <a:solidFill>
                  <a:srgbClr val="132B45"/>
                </a:solidFill>
                <a:latin typeface="Aptos"/>
              </a:defRPr>
            </a:pPr>
            <a:r>
              <a:t>[15] Microsoft, AutoGen maintained repository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365760"/>
          </a:xfrm>
          <a:prstGeom prst="rect">
            <a:avLst/>
          </a:prstGeom>
          <a:noFill/>
        </p:spPr>
        <p:txBody>
          <a:bodyPr wrap="square" lIns="0" rIns="0">
            <a:spAutoFit/>
          </a:bodyPr>
          <a:lstStyle/>
          <a:p>
            <a:pPr>
              <a:spcAft>
                <a:spcPts val="900"/>
              </a:spcAft>
              <a:defRPr sz="1200" b="1">
                <a:solidFill>
                  <a:srgbClr val="087F8C"/>
                </a:solidFill>
                <a:latin typeface="Aptos"/>
              </a:defRPr>
            </a:pPr>
            <a:r>
              <a:t>REFERENCES 16–29</a:t>
            </a:r>
          </a:p>
        </p:txBody>
      </p:sp>
      <p:sp>
        <p:nvSpPr>
          <p:cNvPr id="4" name="TextBox 3"/>
          <p:cNvSpPr txBox="1"/>
          <p:nvPr/>
        </p:nvSpPr>
        <p:spPr>
          <a:xfrm>
            <a:off x="548640" y="850392"/>
            <a:ext cx="10972800" cy="1033271"/>
          </a:xfrm>
          <a:prstGeom prst="rect">
            <a:avLst/>
          </a:prstGeom>
          <a:noFill/>
        </p:spPr>
        <p:txBody>
          <a:bodyPr wrap="square" lIns="0" rIns="0">
            <a:spAutoFit/>
          </a:bodyPr>
          <a:lstStyle/>
          <a:p>
            <a:pPr>
              <a:spcAft>
                <a:spcPts val="900"/>
              </a:spcAft>
              <a:defRPr sz="3000" b="1">
                <a:solidFill>
                  <a:srgbClr val="132B45"/>
                </a:solidFill>
                <a:latin typeface="Aptos"/>
              </a:defRPr>
            </a:pPr>
            <a:r>
              <a:t>Primary-source ledger</a:t>
            </a:r>
          </a:p>
        </p:txBody>
      </p:sp>
      <p:sp>
        <p:nvSpPr>
          <p:cNvPr id="5" name="TextBox 4"/>
          <p:cNvSpPr txBox="1"/>
          <p:nvPr/>
        </p:nvSpPr>
        <p:spPr>
          <a:xfrm>
            <a:off x="548640" y="6419088"/>
            <a:ext cx="10698480" cy="182880"/>
          </a:xfrm>
          <a:prstGeom prst="rect">
            <a:avLst/>
          </a:prstGeom>
          <a:noFill/>
        </p:spPr>
        <p:txBody>
          <a:bodyPr wrap="square" lIns="0" rIns="0">
            <a:spAutoFit/>
          </a:bodyPr>
          <a:lstStyle/>
          <a:p>
            <a:pPr>
              <a:spcAft>
                <a:spcPts val="900"/>
              </a:spcAft>
              <a:defRPr sz="900" b="0">
                <a:solidFill>
                  <a:srgbClr val="536575"/>
                </a:solidFill>
                <a:latin typeface="Aptos"/>
              </a:defRPr>
            </a:pPr>
            <a:r>
              <a:t>Architecture proposal · 6 October 2026 · See white paper for evidence and limits</a:t>
            </a:r>
          </a:p>
        </p:txBody>
      </p:sp>
      <p:sp>
        <p:nvSpPr>
          <p:cNvPr id="6" name="TextBox 5"/>
          <p:cNvSpPr txBox="1"/>
          <p:nvPr/>
        </p:nvSpPr>
        <p:spPr>
          <a:xfrm>
            <a:off x="11064240" y="6355080"/>
            <a:ext cx="502920" cy="301752"/>
          </a:xfrm>
          <a:prstGeom prst="rect">
            <a:avLst/>
          </a:prstGeom>
          <a:noFill/>
        </p:spPr>
        <p:txBody>
          <a:bodyPr wrap="square" lIns="0" rIns="0">
            <a:spAutoFit/>
          </a:bodyPr>
          <a:lstStyle/>
          <a:p>
            <a:pPr>
              <a:spcAft>
                <a:spcPts val="900"/>
              </a:spcAft>
              <a:defRPr sz="1100" b="0">
                <a:solidFill>
                  <a:srgbClr val="536575"/>
                </a:solidFill>
                <a:latin typeface="Aptos"/>
              </a:defRPr>
            </a:pPr>
            <a:r>
              <a:t>23</a:t>
            </a:r>
          </a:p>
        </p:txBody>
      </p:sp>
      <p:sp>
        <p:nvSpPr>
          <p:cNvPr id="7" name="TextBox 6"/>
          <p:cNvSpPr txBox="1"/>
          <p:nvPr/>
        </p:nvSpPr>
        <p:spPr>
          <a:xfrm>
            <a:off x="640080" y="1920240"/>
            <a:ext cx="5303520" cy="4114800"/>
          </a:xfrm>
          <a:prstGeom prst="rect">
            <a:avLst/>
          </a:prstGeom>
          <a:noFill/>
        </p:spPr>
        <p:txBody>
          <a:bodyPr wrap="square" lIns="0" rIns="0">
            <a:spAutoFit/>
          </a:bodyPr>
          <a:lstStyle/>
          <a:p>
            <a:pPr>
              <a:spcAft>
                <a:spcPts val="900"/>
              </a:spcAft>
              <a:defRPr sz="1700" b="0">
                <a:solidFill>
                  <a:srgbClr val="132B45"/>
                </a:solidFill>
                <a:latin typeface="Aptos"/>
              </a:defRPr>
            </a:pPr>
            <a:r>
              <a:t>[16] Microsoft, Agent Framework checkpoints</a:t>
            </a:r>
          </a:p>
          <a:p>
            <a:pPr>
              <a:spcAft>
                <a:spcPts val="900"/>
              </a:spcAft>
              <a:defRPr sz="1700" b="0">
                <a:solidFill>
                  <a:srgbClr val="132B45"/>
                </a:solidFill>
                <a:latin typeface="Aptos"/>
              </a:defRPr>
            </a:pPr>
            <a:r>
              <a:t>[17] CrewAI, Flows</a:t>
            </a:r>
          </a:p>
          <a:p>
            <a:pPr>
              <a:spcAft>
                <a:spcPts val="900"/>
              </a:spcAft>
              <a:defRPr sz="1700" b="0">
                <a:solidFill>
                  <a:srgbClr val="132B45"/>
                </a:solidFill>
                <a:latin typeface="Aptos"/>
              </a:defRPr>
            </a:pPr>
            <a:r>
              <a:t>[18] OpenHands, software-agent SDK</a:t>
            </a:r>
          </a:p>
          <a:p>
            <a:pPr>
              <a:spcAft>
                <a:spcPts val="900"/>
              </a:spcAft>
              <a:defRPr sz="1700" b="0">
                <a:solidFill>
                  <a:srgbClr val="132B45"/>
                </a:solidFill>
                <a:latin typeface="Aptos"/>
              </a:defRPr>
            </a:pPr>
            <a:r>
              <a:t>[19] OpenHands, delegation example</a:t>
            </a:r>
          </a:p>
          <a:p>
            <a:pPr>
              <a:spcAft>
                <a:spcPts val="900"/>
              </a:spcAft>
              <a:defRPr sz="1700" b="0">
                <a:solidFill>
                  <a:srgbClr val="132B45"/>
                </a:solidFill>
                <a:latin typeface="Aptos"/>
              </a:defRPr>
            </a:pPr>
            <a:r>
              <a:t>[20] FoundationAgents, MetaGPT</a:t>
            </a:r>
          </a:p>
          <a:p>
            <a:pPr>
              <a:spcAft>
                <a:spcPts val="900"/>
              </a:spcAft>
              <a:defRPr sz="1700" b="0">
                <a:solidFill>
                  <a:srgbClr val="132B45"/>
                </a:solidFill>
                <a:latin typeface="Aptos"/>
              </a:defRPr>
            </a:pPr>
            <a:r>
              <a:t>[21] OpenBMB, ChatDev</a:t>
            </a:r>
          </a:p>
          <a:p>
            <a:pPr>
              <a:spcAft>
                <a:spcPts val="900"/>
              </a:spcAft>
              <a:defRPr sz="1700" b="0">
                <a:solidFill>
                  <a:srgbClr val="132B45"/>
                </a:solidFill>
                <a:latin typeface="Aptos"/>
              </a:defRPr>
            </a:pPr>
            <a:r>
              <a:t>[22] C4 model, Diagrams</a:t>
            </a:r>
          </a:p>
          <a:p>
            <a:pPr>
              <a:spcAft>
                <a:spcPts val="900"/>
              </a:spcAft>
              <a:defRPr sz="1700" b="0">
                <a:solidFill>
                  <a:srgbClr val="132B45"/>
                </a:solidFill>
                <a:latin typeface="Aptos"/>
              </a:defRPr>
            </a:pPr>
            <a:r>
              <a:t>[23] MCP, Security Best Practices</a:t>
            </a:r>
          </a:p>
        </p:txBody>
      </p:sp>
      <p:sp>
        <p:nvSpPr>
          <p:cNvPr id="8" name="TextBox 7"/>
          <p:cNvSpPr txBox="1"/>
          <p:nvPr/>
        </p:nvSpPr>
        <p:spPr>
          <a:xfrm>
            <a:off x="6400800" y="1920240"/>
            <a:ext cx="5303520" cy="4114800"/>
          </a:xfrm>
          <a:prstGeom prst="rect">
            <a:avLst/>
          </a:prstGeom>
          <a:noFill/>
        </p:spPr>
        <p:txBody>
          <a:bodyPr wrap="square" lIns="0" rIns="0">
            <a:spAutoFit/>
          </a:bodyPr>
          <a:lstStyle/>
          <a:p>
            <a:pPr>
              <a:spcAft>
                <a:spcPts val="900"/>
              </a:spcAft>
              <a:defRPr sz="1700" b="0">
                <a:solidFill>
                  <a:srgbClr val="132B45"/>
                </a:solidFill>
                <a:latin typeface="Aptos"/>
              </a:defRPr>
            </a:pPr>
            <a:r>
              <a:t>[24] A2A, Specification</a:t>
            </a:r>
          </a:p>
          <a:p>
            <a:pPr>
              <a:spcAft>
                <a:spcPts val="900"/>
              </a:spcAft>
              <a:defRPr sz="1700" b="0">
                <a:solidFill>
                  <a:srgbClr val="132B45"/>
                </a:solidFill>
                <a:latin typeface="Aptos"/>
              </a:defRPr>
            </a:pPr>
            <a:r>
              <a:t>[25] SLSA, Provenance v1.1</a:t>
            </a:r>
          </a:p>
          <a:p>
            <a:pPr>
              <a:spcAft>
                <a:spcPts val="900"/>
              </a:spcAft>
              <a:defRPr sz="1700" b="0">
                <a:solidFill>
                  <a:srgbClr val="132B45"/>
                </a:solidFill>
                <a:latin typeface="Aptos"/>
              </a:defRPr>
            </a:pPr>
            <a:r>
              <a:t>[26] Temporal, Workflow Execution</a:t>
            </a:r>
          </a:p>
          <a:p>
            <a:pPr>
              <a:spcAft>
                <a:spcPts val="900"/>
              </a:spcAft>
              <a:defRPr sz="1700" b="0">
                <a:solidFill>
                  <a:srgbClr val="132B45"/>
                </a:solidFill>
                <a:latin typeface="Aptos"/>
              </a:defRPr>
            </a:pPr>
            <a:r>
              <a:t>[27] Factory, Missions Reference</a:t>
            </a:r>
          </a:p>
          <a:p>
            <a:pPr>
              <a:spcAft>
                <a:spcPts val="900"/>
              </a:spcAft>
              <a:defRPr sz="1700" b="0">
                <a:solidFill>
                  <a:srgbClr val="132B45"/>
                </a:solidFill>
                <a:latin typeface="Aptos"/>
              </a:defRPr>
            </a:pPr>
            <a:r>
              <a:t>[28] OpenAI, Agents API overview</a:t>
            </a:r>
          </a:p>
          <a:p>
            <a:pPr>
              <a:spcAft>
                <a:spcPts val="900"/>
              </a:spcAft>
              <a:defRPr sz="1700" b="0">
                <a:solidFill>
                  <a:srgbClr val="132B45"/>
                </a:solidFill>
                <a:latin typeface="Aptos"/>
              </a:defRPr>
            </a:pPr>
            <a:r>
              <a:t>[29] Cursor, Projects documentation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